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Тема доклада — как налоговое право распределяет базу между странами, когда сделка пересекает границу. Разберу четыре среза: косвенные налоги, прямые налоги, международные механизмы против размывания базы и российский контур 2023–2026 годов.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Внутренняя сделка облагается по правилам одной страны. Трансграничная сталкивает минимум две юрисдикции. Два вопроса: кто вправе облагать и где возникает объект. Если оба государства отвечают «мы» — двойное налогообложение. Если оба отвечают «не мы» — двойное необложение, и на нём выстроена почти вся оптимизация.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Короткая навигация по докладу — четыре части, в каждой одна главная мысль.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Косвенные налоги — принцип страны назначения: НДС это налог на потребление, а потребление у покупателя. Прямые налоги — комбинация резидентства и источника; они применяются одновременно, поэтому неизбежно пересекаются, и это пересечение устраняют соглашения об избежании двойного налогообложения.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Экспорт: ставка 0% с сохранением вычета — это не льгота, а элемент принципа назначения. Практически всё сводится к подтверждению по ст. 165. Импорт: НДС на таможне, база — таможенная стоимость плюс пошлина плюс акциз. Спор о таможенной стоимости автоматически становится спором о налоге. С 2026 года основная ставка 22 процента, это прямо увеличивает нагрузку на импорт.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Внутри Союза таможенных границ нет. Экспортёр применяет ноль, импортёр сам исчисляет и платит НДС в свой налоговый орган до 20-го числа. Заявление о ввозе с отметкой налогового органа — единственное доказательство нулевой ставки для экспортёра. То есть обязательство одной стороны обеспечивается административным действием органа другой страны, и это уязвимость конструкции.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Электронная торговля разрушила обе предпосылки классических правил: услуга границу не пересекает, а товар приходит миллионами мелких посылок. Ответ — три решения, воспроизведённые почти всеми юрисдикциями: место реализации переносится в страну покупателя; обязанность возлагается на платформу; пересматриваются беспошлинные пороги.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 1 июля 2026 года порог беспошлинного ввоза товаров электронной торговли для физических лиц в ЕАЭС — 200 евро, сверх него пошлина 5 процентов от стоимости, но не менее 1 евро за килограмм. Минимальная ставка за килограмм закрывает схему с занижением заявленной стоимости посылки.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Постоянное представительство — центральная категория прямого налогообложения. Государство источника вправе облагать прибыль иностранной компании только при наличии постоянного места деятельности либо зависимого агента. Поставка товаров сама по себе представительства не образует. Но цифровая экономика позволяет зарабатывать в стране без всякого присутствия — физическая привязка перестаёт работать.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Пассивные доходы — дивиденды, проценты, роялти — облагаются в стране выплаты удержанием налоговым агентом по ст. 309 и 310. Соглашения понижают ставки, но применение пониженной ставки обусловлено концепцией фактического права на доход по ст. 7: льгота не предоставляется транзитной компании, встроенной в структуру только ради доступа к соглашению.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Внутри группы цену назначает сама группа, и через цену прибыль перемещается в низконалоговую юрисдикцию. Ответ — принцип вытянутой руки: цена сопоставляется с рыночной, разница доначисляется. С 2024 года режим ужесточён: скрытый в цене доход приравнивается к дивидендам и облагается налогом у источника, штраф повышен до 100 процентов.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План BEPS 2015 года — ответ на разрыв между местом создания стоимости и местом уплаты налога. Инструмент быстрого внедрения — конвенция MLI, Россия применяет её с 2021 года; ключевая новелла — тест основной цели. Pillar Two: глобальный минимальный налог 15 процентов для групп с выручкой свыше 750 миллионов евро. Россия правила не внедряла, но российские группы с иностранными дочерними компаниями попадают под них извне.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CBAM формально не налог, но экономически — платёж при импорте цемента, чёрных металлов, алюминия, удобрений, электроэнергии и водорода. Переходный период с одной отчётностью шёл с октября 2023 года, финансовая фаза началась 1 января 2026 года. Это важный прецедент: не-налоговый по форме инструмент влияет на торговлю сильнее многих налогов.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Три процесса. Первый — приостановление отдельных положений соглашений с 38 государствами: льготные ставки не применяются, действуют национальные. Второй — переориентация договорной сети, самое значимое соглашение — с ОАЭ, ставка 10 процентов по всем трём видам пассивного дохода. Третий — рост косвенной нагрузки: НДС 22 процента и новые правила ЕАЭС по электронной торговле.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Четыре вывода. Последний — практический: экономика трансграничной сделки определяется не тем, сколько нужно заплатить, а тем, что удастся доказать.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Финальный слайд — ключевая мысль доклада и переход к вопросам.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34"/>
        </a:solidFill>
      </p:bgPr>
    </p:bg>
    <p:spTree>
      <p:nvGrpSpPr>
        <p:cNvPr id="1" name=""/>
        <p:cNvGrpSpPr/>
        <p:nvPr/>
      </p:nvGrpSpPr>
      <p:grpSpPr>
        <a:xfrm>
          <a:off x="0" y="0"/>
          <a:ext cx="0" cy="0"/>
          <a:chOff x="0" y="0"/>
          <a:chExt cx="0" cy="0"/>
        </a:xfrm>
      </p:grpSpPr>
      <p:sp>
        <p:nvSpPr>
          <p:cNvPr id="2" name="Shape 0"/>
          <p:cNvSpPr/>
          <p:nvPr/>
        </p:nvSpPr>
        <p:spPr>
          <a:xfrm>
            <a:off x="8549640" y="-1051560"/>
            <a:ext cx="4754880" cy="4754880"/>
          </a:xfrm>
          <a:prstGeom prst="ellipse">
            <a:avLst/>
          </a:prstGeom>
          <a:solidFill>
            <a:srgbClr val="0F3B34">
              <a:alpha val="0"/>
            </a:srgbClr>
          </a:solidFill>
          <a:ln w="19050">
            <a:solidFill>
              <a:srgbClr val="1C5A4F"/>
            </a:solidFill>
            <a:prstDash val="solid"/>
          </a:ln>
        </p:spPr>
      </p:sp>
      <p:sp>
        <p:nvSpPr>
          <p:cNvPr id="3" name="Shape 1"/>
          <p:cNvSpPr/>
          <p:nvPr/>
        </p:nvSpPr>
        <p:spPr>
          <a:xfrm>
            <a:off x="9281160" y="-320040"/>
            <a:ext cx="3291840" cy="3291840"/>
          </a:xfrm>
          <a:prstGeom prst="ellipse">
            <a:avLst/>
          </a:prstGeom>
          <a:solidFill>
            <a:srgbClr val="0F3B34">
              <a:alpha val="0"/>
            </a:srgbClr>
          </a:solidFill>
          <a:ln w="15875">
            <a:solidFill>
              <a:srgbClr val="27766A"/>
            </a:solidFill>
            <a:prstDash val="solid"/>
          </a:ln>
        </p:spPr>
      </p:sp>
      <p:sp>
        <p:nvSpPr>
          <p:cNvPr id="4" name="Shape 2"/>
          <p:cNvSpPr/>
          <p:nvPr/>
        </p:nvSpPr>
        <p:spPr>
          <a:xfrm>
            <a:off x="10012680" y="411480"/>
            <a:ext cx="1828800" cy="1828800"/>
          </a:xfrm>
          <a:prstGeom prst="ellipse">
            <a:avLst/>
          </a:prstGeom>
          <a:solidFill>
            <a:srgbClr val="0F3B34">
              <a:alpha val="0"/>
            </a:srgbClr>
          </a:solidFill>
          <a:ln w="19050">
            <a:solidFill>
              <a:srgbClr val="E08A4E"/>
            </a:solidFill>
            <a:prstDash val="solid"/>
          </a:ln>
        </p:spPr>
      </p:sp>
      <p:sp>
        <p:nvSpPr>
          <p:cNvPr id="5" name="Text 3"/>
          <p:cNvSpPr txBox="1"/>
          <p:nvPr/>
        </p:nvSpPr>
        <p:spPr>
          <a:xfrm>
            <a:off x="731520" y="1051560"/>
            <a:ext cx="7498080" cy="274320"/>
          </a:xfrm>
          <a:prstGeom prst="rect">
            <a:avLst/>
          </a:prstGeom>
          <a:noFill/>
          <a:ln/>
        </p:spPr>
        <p:txBody>
          <a:bodyPr wrap="square" lIns="0" tIns="0" rIns="0" bIns="0" rtlCol="0" anchor="ctr"/>
          <a:lstStyle/>
          <a:p>
            <a:pPr indent="0" marL="0">
              <a:buNone/>
            </a:pPr>
            <a:r>
              <a:rPr lang="en-US" sz="1100" b="1" spc="240" kern="0" dirty="0">
                <a:solidFill>
                  <a:srgbClr val="9FBDB3"/>
                </a:solidFill>
                <a:latin typeface="Calibri" pitchFamily="34" charset="0"/>
                <a:ea typeface="Calibri" pitchFamily="34" charset="-122"/>
                <a:cs typeface="Calibri" pitchFamily="34" charset="-120"/>
              </a:rPr>
              <a:t>ТАМОЖНЯ · НДС · НАЛОГ У ИСТОЧНИКА</a:t>
            </a:r>
            <a:endParaRPr lang="en-US" sz="1100" dirty="0"/>
          </a:p>
        </p:txBody>
      </p:sp>
      <p:sp>
        <p:nvSpPr>
          <p:cNvPr id="6" name="Text 4"/>
          <p:cNvSpPr txBox="1"/>
          <p:nvPr/>
        </p:nvSpPr>
        <p:spPr>
          <a:xfrm>
            <a:off x="731520" y="1572768"/>
            <a:ext cx="8595360" cy="155448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Налоговое законодательство</a:t>
            </a:r>
            <a:endParaRPr lang="en-US" sz="3600" dirty="0"/>
          </a:p>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при трансграничной торговле</a:t>
            </a:r>
            <a:endParaRPr lang="en-US" sz="3600" dirty="0"/>
          </a:p>
        </p:txBody>
      </p:sp>
      <p:sp>
        <p:nvSpPr>
          <p:cNvPr id="7" name="Text 5"/>
          <p:cNvSpPr txBox="1"/>
          <p:nvPr/>
        </p:nvSpPr>
        <p:spPr>
          <a:xfrm>
            <a:off x="731520" y="3218688"/>
            <a:ext cx="7863840" cy="731520"/>
          </a:xfrm>
          <a:prstGeom prst="rect">
            <a:avLst/>
          </a:prstGeom>
          <a:noFill/>
          <a:ln/>
        </p:spPr>
        <p:txBody>
          <a:bodyPr wrap="square" lIns="0" tIns="0" rIns="0" bIns="0" rtlCol="0" anchor="ctr"/>
          <a:lstStyle/>
          <a:p>
            <a:pPr indent="0" marL="0">
              <a:lnSpc>
                <a:spcPts val="2200"/>
              </a:lnSpc>
              <a:buNone/>
            </a:pPr>
            <a:r>
              <a:rPr lang="en-US" sz="1550" dirty="0">
                <a:solidFill>
                  <a:srgbClr val="9FBDB3"/>
                </a:solidFill>
                <a:latin typeface="Calibri" pitchFamily="34" charset="0"/>
                <a:ea typeface="Calibri" pitchFamily="34" charset="-122"/>
                <a:cs typeface="Calibri" pitchFamily="34" charset="-120"/>
              </a:rPr>
              <a:t>Кто вправе облагать, где возникает объект налогообложения и что изменилось в 2023–2026 годах</a:t>
            </a:r>
            <a:endParaRPr lang="en-US" sz="1550" dirty="0"/>
          </a:p>
        </p:txBody>
      </p:sp>
      <p:sp>
        <p:nvSpPr>
          <p:cNvPr id="8" name="Shape 6"/>
          <p:cNvSpPr/>
          <p:nvPr/>
        </p:nvSpPr>
        <p:spPr>
          <a:xfrm>
            <a:off x="731520" y="4370832"/>
            <a:ext cx="3840480" cy="0"/>
          </a:xfrm>
          <a:prstGeom prst="line">
            <a:avLst/>
          </a:prstGeom>
          <a:noFill/>
          <a:ln w="12700">
            <a:solidFill>
              <a:srgbClr val="2A6A5E"/>
            </a:solidFill>
            <a:prstDash val="solid"/>
          </a:ln>
        </p:spPr>
      </p:sp>
      <p:sp>
        <p:nvSpPr>
          <p:cNvPr id="9" name="Text 7"/>
          <p:cNvSpPr txBox="1"/>
          <p:nvPr/>
        </p:nvSpPr>
        <p:spPr>
          <a:xfrm>
            <a:off x="731520" y="4553712"/>
            <a:ext cx="6400800" cy="292608"/>
          </a:xfrm>
          <a:prstGeom prst="rect">
            <a:avLst/>
          </a:prstGeom>
          <a:noFill/>
          <a:ln/>
        </p:spPr>
        <p:txBody>
          <a:bodyPr wrap="square" lIns="0" tIns="0" rIns="0" bIns="0" rtlCol="0" anchor="ctr"/>
          <a:lstStyle/>
          <a:p>
            <a:pPr indent="0" marL="0">
              <a:buNone/>
            </a:pPr>
            <a:r>
              <a:rPr lang="en-US" sz="1250" dirty="0">
                <a:solidFill>
                  <a:srgbClr val="9FBDB3"/>
                </a:solidFill>
                <a:latin typeface="Calibri" pitchFamily="34" charset="0"/>
                <a:ea typeface="Calibri" pitchFamily="34" charset="-122"/>
                <a:cs typeface="Calibri" pitchFamily="34" charset="-120"/>
              </a:rPr>
              <a:t>Доклад · магистратура, 2 курс · 10–12 минут</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ПОСТАНОВКА ПРОБЛЕМЫ</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Две суверенные юрисдикции в одной сделке</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Каждая из них решает сама, что облагать. Обязанности считаться с соседом у неё нет — отсюда всего три возможных исхода.</a:t>
            </a:r>
            <a:endParaRPr lang="en-US" sz="1450" dirty="0"/>
          </a:p>
        </p:txBody>
      </p:sp>
      <p:sp>
        <p:nvSpPr>
          <p:cNvPr id="5" name="Shape 3"/>
          <p:cNvSpPr/>
          <p:nvPr/>
        </p:nvSpPr>
        <p:spPr>
          <a:xfrm>
            <a:off x="731520" y="2212848"/>
            <a:ext cx="3401568" cy="2999232"/>
          </a:xfrm>
          <a:prstGeom prst="roundRect">
            <a:avLst>
              <a:gd name="adj" fmla="val 2439"/>
            </a:avLst>
          </a:prstGeom>
          <a:solidFill>
            <a:srgbClr val="F1F5F3"/>
          </a:solidFill>
          <a:ln w="12700">
            <a:solidFill>
              <a:srgbClr val="F1F5F3"/>
            </a:solidFill>
            <a:prstDash val="solid"/>
          </a:ln>
        </p:spPr>
      </p:sp>
      <p:sp>
        <p:nvSpPr>
          <p:cNvPr id="6" name="Shape 4"/>
          <p:cNvSpPr/>
          <p:nvPr/>
        </p:nvSpPr>
        <p:spPr>
          <a:xfrm>
            <a:off x="1042416" y="2542032"/>
            <a:ext cx="420624" cy="420624"/>
          </a:xfrm>
          <a:prstGeom prst="ellipse">
            <a:avLst/>
          </a:prstGeom>
          <a:solidFill>
            <a:srgbClr val="0F3B34"/>
          </a:solidFill>
          <a:ln w="12700">
            <a:solidFill>
              <a:srgbClr val="0F3B34"/>
            </a:solidFill>
            <a:prstDash val="solid"/>
          </a:ln>
        </p:spPr>
      </p:sp>
      <p:sp>
        <p:nvSpPr>
          <p:cNvPr id="7" name="Text 5"/>
          <p:cNvSpPr txBox="1"/>
          <p:nvPr/>
        </p:nvSpPr>
        <p:spPr>
          <a:xfrm>
            <a:off x="1042416" y="25420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1042416" y="3154680"/>
            <a:ext cx="2779776" cy="310896"/>
          </a:xfrm>
          <a:prstGeom prst="rect">
            <a:avLst/>
          </a:prstGeom>
          <a:noFill/>
          <a:ln/>
        </p:spPr>
        <p:txBody>
          <a:bodyPr wrap="square" lIns="0" tIns="0" rIns="0" bIns="0" rtlCol="0" anchor="ctr"/>
          <a:lstStyle/>
          <a:p>
            <a:pPr indent="0" marL="0">
              <a:buNone/>
            </a:pPr>
            <a:r>
              <a:rPr lang="en-US" sz="1200" b="1" dirty="0">
                <a:solidFill>
                  <a:srgbClr val="5E6D68"/>
                </a:solidFill>
                <a:latin typeface="Calibri" pitchFamily="34" charset="0"/>
                <a:ea typeface="Calibri" pitchFamily="34" charset="-122"/>
                <a:cs typeface="Calibri" pitchFamily="34" charset="-120"/>
              </a:rPr>
              <a:t>«Облагаем мы» — обе</a:t>
            </a:r>
            <a:endParaRPr lang="en-US" sz="1200" dirty="0"/>
          </a:p>
        </p:txBody>
      </p:sp>
      <p:sp>
        <p:nvSpPr>
          <p:cNvPr id="9" name="Text 7"/>
          <p:cNvSpPr txBox="1"/>
          <p:nvPr/>
        </p:nvSpPr>
        <p:spPr>
          <a:xfrm>
            <a:off x="1042416" y="3474720"/>
            <a:ext cx="2779776" cy="658368"/>
          </a:xfrm>
          <a:prstGeom prst="rect">
            <a:avLst/>
          </a:prstGeom>
          <a:noFill/>
          <a:ln/>
        </p:spPr>
        <p:txBody>
          <a:bodyPr wrap="square" lIns="0" tIns="0" rIns="0" bIns="0" rtlCol="0" anchor="t"/>
          <a:lstStyle/>
          <a:p>
            <a:pPr indent="0" marL="0">
              <a:lnSpc>
                <a:spcPts val="2300"/>
              </a:lnSpc>
              <a:buNone/>
            </a:pPr>
            <a:r>
              <a:rPr lang="en-US" sz="1900" b="1" dirty="0">
                <a:solidFill>
                  <a:srgbClr val="0F3B34"/>
                </a:solidFill>
                <a:latin typeface="Cambria" pitchFamily="34" charset="0"/>
                <a:ea typeface="Cambria" pitchFamily="34" charset="-122"/>
                <a:cs typeface="Cambria" pitchFamily="34" charset="-120"/>
              </a:rPr>
              <a:t>Двойное налогообложение</a:t>
            </a:r>
            <a:endParaRPr lang="en-US" sz="1900" dirty="0"/>
          </a:p>
        </p:txBody>
      </p:sp>
      <p:sp>
        <p:nvSpPr>
          <p:cNvPr id="10" name="Text 8"/>
          <p:cNvSpPr txBox="1"/>
          <p:nvPr/>
        </p:nvSpPr>
        <p:spPr>
          <a:xfrm>
            <a:off x="1042416" y="4206240"/>
            <a:ext cx="2779776" cy="914400"/>
          </a:xfrm>
          <a:prstGeom prst="rect">
            <a:avLst/>
          </a:prstGeom>
          <a:noFill/>
          <a:ln/>
        </p:spPr>
        <p:txBody>
          <a:bodyPr wrap="square" lIns="0" tIns="0" rIns="0" bIns="0" rtlCol="0" anchor="ctr"/>
          <a:lstStyle/>
          <a:p>
            <a:pPr indent="0" marL="0">
              <a:lnSpc>
                <a:spcPts val="1900"/>
              </a:lnSpc>
              <a:buNone/>
            </a:pPr>
            <a:r>
              <a:rPr lang="en-US" sz="1250" dirty="0">
                <a:solidFill>
                  <a:srgbClr val="17211F"/>
                </a:solidFill>
                <a:latin typeface="Calibri" pitchFamily="34" charset="0"/>
                <a:ea typeface="Calibri" pitchFamily="34" charset="-122"/>
                <a:cs typeface="Calibri" pitchFamily="34" charset="-120"/>
              </a:rPr>
              <a:t>Сделка теряет экономический смысл: одна и та же база облагается дважды.</a:t>
            </a:r>
            <a:endParaRPr lang="en-US" sz="1250" dirty="0"/>
          </a:p>
        </p:txBody>
      </p:sp>
      <p:sp>
        <p:nvSpPr>
          <p:cNvPr id="11" name="Shape 9"/>
          <p:cNvSpPr/>
          <p:nvPr/>
        </p:nvSpPr>
        <p:spPr>
          <a:xfrm>
            <a:off x="4453128" y="2212848"/>
            <a:ext cx="3401568" cy="2999232"/>
          </a:xfrm>
          <a:prstGeom prst="roundRect">
            <a:avLst>
              <a:gd name="adj" fmla="val 2439"/>
            </a:avLst>
          </a:prstGeom>
          <a:solidFill>
            <a:srgbClr val="F1F5F3"/>
          </a:solidFill>
          <a:ln w="12700">
            <a:solidFill>
              <a:srgbClr val="F1F5F3"/>
            </a:solidFill>
            <a:prstDash val="solid"/>
          </a:ln>
        </p:spPr>
      </p:sp>
      <p:sp>
        <p:nvSpPr>
          <p:cNvPr id="12" name="Shape 10"/>
          <p:cNvSpPr/>
          <p:nvPr/>
        </p:nvSpPr>
        <p:spPr>
          <a:xfrm>
            <a:off x="4764024" y="2542032"/>
            <a:ext cx="420624" cy="420624"/>
          </a:xfrm>
          <a:prstGeom prst="ellipse">
            <a:avLst/>
          </a:prstGeom>
          <a:solidFill>
            <a:srgbClr val="0F3B34"/>
          </a:solidFill>
          <a:ln w="12700">
            <a:solidFill>
              <a:srgbClr val="0F3B34"/>
            </a:solidFill>
            <a:prstDash val="solid"/>
          </a:ln>
        </p:spPr>
      </p:sp>
      <p:sp>
        <p:nvSpPr>
          <p:cNvPr id="13" name="Text 11"/>
          <p:cNvSpPr txBox="1"/>
          <p:nvPr/>
        </p:nvSpPr>
        <p:spPr>
          <a:xfrm>
            <a:off x="4764024" y="25420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txBox="1"/>
          <p:nvPr/>
        </p:nvSpPr>
        <p:spPr>
          <a:xfrm>
            <a:off x="4764024" y="3154680"/>
            <a:ext cx="2779776" cy="310896"/>
          </a:xfrm>
          <a:prstGeom prst="rect">
            <a:avLst/>
          </a:prstGeom>
          <a:noFill/>
          <a:ln/>
        </p:spPr>
        <p:txBody>
          <a:bodyPr wrap="square" lIns="0" tIns="0" rIns="0" bIns="0" rtlCol="0" anchor="ctr"/>
          <a:lstStyle/>
          <a:p>
            <a:pPr indent="0" marL="0">
              <a:buNone/>
            </a:pPr>
            <a:r>
              <a:rPr lang="en-US" sz="1200" b="1" dirty="0">
                <a:solidFill>
                  <a:srgbClr val="5E6D68"/>
                </a:solidFill>
                <a:latin typeface="Calibri" pitchFamily="34" charset="0"/>
                <a:ea typeface="Calibri" pitchFamily="34" charset="-122"/>
                <a:cs typeface="Calibri" pitchFamily="34" charset="-120"/>
              </a:rPr>
              <a:t>«Облагаем не мы» — обе</a:t>
            </a:r>
            <a:endParaRPr lang="en-US" sz="1200" dirty="0"/>
          </a:p>
        </p:txBody>
      </p:sp>
      <p:sp>
        <p:nvSpPr>
          <p:cNvPr id="15" name="Text 13"/>
          <p:cNvSpPr txBox="1"/>
          <p:nvPr/>
        </p:nvSpPr>
        <p:spPr>
          <a:xfrm>
            <a:off x="4764024" y="3474720"/>
            <a:ext cx="2779776" cy="658368"/>
          </a:xfrm>
          <a:prstGeom prst="rect">
            <a:avLst/>
          </a:prstGeom>
          <a:noFill/>
          <a:ln/>
        </p:spPr>
        <p:txBody>
          <a:bodyPr wrap="square" lIns="0" tIns="0" rIns="0" bIns="0" rtlCol="0" anchor="t"/>
          <a:lstStyle/>
          <a:p>
            <a:pPr indent="0" marL="0">
              <a:lnSpc>
                <a:spcPts val="2300"/>
              </a:lnSpc>
              <a:buNone/>
            </a:pPr>
            <a:r>
              <a:rPr lang="en-US" sz="1900" b="1" dirty="0">
                <a:solidFill>
                  <a:srgbClr val="0F3B34"/>
                </a:solidFill>
                <a:latin typeface="Cambria" pitchFamily="34" charset="0"/>
                <a:ea typeface="Cambria" pitchFamily="34" charset="-122"/>
                <a:cs typeface="Cambria" pitchFamily="34" charset="-120"/>
              </a:rPr>
              <a:t>Двойное необложение</a:t>
            </a:r>
            <a:endParaRPr lang="en-US" sz="1900" dirty="0"/>
          </a:p>
        </p:txBody>
      </p:sp>
      <p:sp>
        <p:nvSpPr>
          <p:cNvPr id="16" name="Text 14"/>
          <p:cNvSpPr txBox="1"/>
          <p:nvPr/>
        </p:nvSpPr>
        <p:spPr>
          <a:xfrm>
            <a:off x="4764024" y="4206240"/>
            <a:ext cx="2779776" cy="914400"/>
          </a:xfrm>
          <a:prstGeom prst="rect">
            <a:avLst/>
          </a:prstGeom>
          <a:noFill/>
          <a:ln/>
        </p:spPr>
        <p:txBody>
          <a:bodyPr wrap="square" lIns="0" tIns="0" rIns="0" bIns="0" rtlCol="0" anchor="ctr"/>
          <a:lstStyle/>
          <a:p>
            <a:pPr indent="0" marL="0">
              <a:lnSpc>
                <a:spcPts val="1900"/>
              </a:lnSpc>
              <a:buNone/>
            </a:pPr>
            <a:r>
              <a:rPr lang="en-US" sz="1250" dirty="0">
                <a:solidFill>
                  <a:srgbClr val="17211F"/>
                </a:solidFill>
                <a:latin typeface="Calibri" pitchFamily="34" charset="0"/>
                <a:ea typeface="Calibri" pitchFamily="34" charset="-122"/>
                <a:cs typeface="Calibri" pitchFamily="34" charset="-120"/>
              </a:rPr>
              <a:t>База не облагается нигде. На этом построена почти вся международная оптимизация.</a:t>
            </a:r>
            <a:endParaRPr lang="en-US" sz="1250" dirty="0"/>
          </a:p>
        </p:txBody>
      </p:sp>
      <p:sp>
        <p:nvSpPr>
          <p:cNvPr id="17" name="Shape 15"/>
          <p:cNvSpPr/>
          <p:nvPr/>
        </p:nvSpPr>
        <p:spPr>
          <a:xfrm>
            <a:off x="8174736" y="2212848"/>
            <a:ext cx="3401568" cy="2999232"/>
          </a:xfrm>
          <a:prstGeom prst="roundRect">
            <a:avLst>
              <a:gd name="adj" fmla="val 2439"/>
            </a:avLst>
          </a:prstGeom>
          <a:solidFill>
            <a:srgbClr val="FBF4EF"/>
          </a:solidFill>
          <a:ln w="12700">
            <a:solidFill>
              <a:srgbClr val="FBF4EF"/>
            </a:solidFill>
            <a:prstDash val="solid"/>
          </a:ln>
        </p:spPr>
      </p:sp>
      <p:sp>
        <p:nvSpPr>
          <p:cNvPr id="18" name="Shape 16"/>
          <p:cNvSpPr/>
          <p:nvPr/>
        </p:nvSpPr>
        <p:spPr>
          <a:xfrm>
            <a:off x="8485632" y="2542032"/>
            <a:ext cx="420624" cy="420624"/>
          </a:xfrm>
          <a:prstGeom prst="ellipse">
            <a:avLst/>
          </a:prstGeom>
          <a:solidFill>
            <a:srgbClr val="C8642B"/>
          </a:solidFill>
          <a:ln w="12700">
            <a:solidFill>
              <a:srgbClr val="C8642B"/>
            </a:solidFill>
            <a:prstDash val="solid"/>
          </a:ln>
        </p:spPr>
      </p:sp>
      <p:sp>
        <p:nvSpPr>
          <p:cNvPr id="19" name="Text 17"/>
          <p:cNvSpPr txBox="1"/>
          <p:nvPr/>
        </p:nvSpPr>
        <p:spPr>
          <a:xfrm>
            <a:off x="8485632" y="254203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0" name="Text 18"/>
          <p:cNvSpPr txBox="1"/>
          <p:nvPr/>
        </p:nvSpPr>
        <p:spPr>
          <a:xfrm>
            <a:off x="8485632" y="3154680"/>
            <a:ext cx="2779776" cy="310896"/>
          </a:xfrm>
          <a:prstGeom prst="rect">
            <a:avLst/>
          </a:prstGeom>
          <a:noFill/>
          <a:ln/>
        </p:spPr>
        <p:txBody>
          <a:bodyPr wrap="square" lIns="0" tIns="0" rIns="0" bIns="0" rtlCol="0" anchor="ctr"/>
          <a:lstStyle/>
          <a:p>
            <a:pPr indent="0" marL="0">
              <a:buNone/>
            </a:pPr>
            <a:r>
              <a:rPr lang="en-US" sz="1200" b="1" dirty="0">
                <a:solidFill>
                  <a:srgbClr val="5E6D68"/>
                </a:solidFill>
                <a:latin typeface="Calibri" pitchFamily="34" charset="0"/>
                <a:ea typeface="Calibri" pitchFamily="34" charset="-122"/>
                <a:cs typeface="Calibri" pitchFamily="34" charset="-120"/>
              </a:rPr>
              <a:t>Правила согласованы</a:t>
            </a:r>
            <a:endParaRPr lang="en-US" sz="1200" dirty="0"/>
          </a:p>
        </p:txBody>
      </p:sp>
      <p:sp>
        <p:nvSpPr>
          <p:cNvPr id="21" name="Text 19"/>
          <p:cNvSpPr txBox="1"/>
          <p:nvPr/>
        </p:nvSpPr>
        <p:spPr>
          <a:xfrm>
            <a:off x="8485632" y="3474720"/>
            <a:ext cx="2779776" cy="658368"/>
          </a:xfrm>
          <a:prstGeom prst="rect">
            <a:avLst/>
          </a:prstGeom>
          <a:noFill/>
          <a:ln/>
        </p:spPr>
        <p:txBody>
          <a:bodyPr wrap="square" lIns="0" tIns="0" rIns="0" bIns="0" rtlCol="0" anchor="t"/>
          <a:lstStyle/>
          <a:p>
            <a:pPr indent="0" marL="0">
              <a:lnSpc>
                <a:spcPts val="2300"/>
              </a:lnSpc>
              <a:buNone/>
            </a:pPr>
            <a:r>
              <a:rPr lang="en-US" sz="1900" b="1" dirty="0">
                <a:solidFill>
                  <a:srgbClr val="A34E1E"/>
                </a:solidFill>
                <a:latin typeface="Cambria" pitchFamily="34" charset="0"/>
                <a:ea typeface="Cambria" pitchFamily="34" charset="-122"/>
                <a:cs typeface="Cambria" pitchFamily="34" charset="-120"/>
              </a:rPr>
              <a:t>Распределение базы</a:t>
            </a:r>
            <a:endParaRPr lang="en-US" sz="1900" dirty="0"/>
          </a:p>
        </p:txBody>
      </p:sp>
      <p:sp>
        <p:nvSpPr>
          <p:cNvPr id="22" name="Text 20"/>
          <p:cNvSpPr txBox="1"/>
          <p:nvPr/>
        </p:nvSpPr>
        <p:spPr>
          <a:xfrm>
            <a:off x="8485632" y="4206240"/>
            <a:ext cx="2779776" cy="914400"/>
          </a:xfrm>
          <a:prstGeom prst="rect">
            <a:avLst/>
          </a:prstGeom>
          <a:noFill/>
          <a:ln/>
        </p:spPr>
        <p:txBody>
          <a:bodyPr wrap="square" lIns="0" tIns="0" rIns="0" bIns="0" rtlCol="0" anchor="ctr"/>
          <a:lstStyle/>
          <a:p>
            <a:pPr indent="0" marL="0">
              <a:lnSpc>
                <a:spcPts val="1900"/>
              </a:lnSpc>
              <a:buNone/>
            </a:pPr>
            <a:r>
              <a:rPr lang="en-US" sz="1250" dirty="0">
                <a:solidFill>
                  <a:srgbClr val="17211F"/>
                </a:solidFill>
                <a:latin typeface="Calibri" pitchFamily="34" charset="0"/>
                <a:ea typeface="Calibri" pitchFamily="34" charset="-122"/>
                <a:cs typeface="Calibri" pitchFamily="34" charset="-120"/>
              </a:rPr>
              <a:t>Коллизионные нормы: СИДН, принцип назначения, правила о месте реализации.</a:t>
            </a:r>
            <a:endParaRPr lang="en-US" sz="1250" dirty="0"/>
          </a:p>
        </p:txBody>
      </p:sp>
      <p:sp>
        <p:nvSpPr>
          <p:cNvPr id="23" name="Text 21"/>
          <p:cNvSpPr txBox="1"/>
          <p:nvPr/>
        </p:nvSpPr>
        <p:spPr>
          <a:xfrm>
            <a:off x="731520" y="5504688"/>
            <a:ext cx="10728655" cy="457200"/>
          </a:xfrm>
          <a:prstGeom prst="rect">
            <a:avLst/>
          </a:prstGeom>
          <a:noFill/>
          <a:ln/>
        </p:spPr>
        <p:txBody>
          <a:bodyPr wrap="square" lIns="0" tIns="0" rIns="0" bIns="0" rtlCol="0" anchor="ctr"/>
          <a:lstStyle/>
          <a:p>
            <a:pPr indent="0" marL="0">
              <a:buNone/>
            </a:pPr>
            <a:r>
              <a:rPr lang="en-US" sz="1300" i="1" dirty="0">
                <a:solidFill>
                  <a:srgbClr val="0F3B34"/>
                </a:solidFill>
                <a:latin typeface="Calibri" pitchFamily="34" charset="0"/>
                <a:ea typeface="Calibri" pitchFamily="34" charset="-122"/>
                <a:cs typeface="Calibri" pitchFamily="34" charset="-120"/>
              </a:rPr>
              <a:t>Право трансграничной торговли — это набор коллизионных правил, распределяющих налоговую базу между странами, плюс механизмы контроля за тем, чтобы их не обходили.</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СТРУКТУРА ДОКЛАДА</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Четыре среза темы</a:t>
            </a:r>
            <a:endParaRPr lang="en-US" sz="3200" dirty="0"/>
          </a:p>
        </p:txBody>
      </p:sp>
      <p:sp>
        <p:nvSpPr>
          <p:cNvPr id="4" name="Shape 2"/>
          <p:cNvSpPr/>
          <p:nvPr/>
        </p:nvSpPr>
        <p:spPr>
          <a:xfrm>
            <a:off x="731520" y="2011680"/>
            <a:ext cx="457200" cy="457200"/>
          </a:xfrm>
          <a:prstGeom prst="ellipse">
            <a:avLst/>
          </a:prstGeom>
          <a:solidFill>
            <a:srgbClr val="0F3B34"/>
          </a:solidFill>
          <a:ln w="12700">
            <a:solidFill>
              <a:srgbClr val="0F3B34"/>
            </a:solidFill>
            <a:prstDash val="solid"/>
          </a:ln>
        </p:spPr>
      </p:sp>
      <p:sp>
        <p:nvSpPr>
          <p:cNvPr id="5" name="Text 3"/>
          <p:cNvSpPr txBox="1"/>
          <p:nvPr/>
        </p:nvSpPr>
        <p:spPr>
          <a:xfrm>
            <a:off x="731520" y="2011680"/>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01</a:t>
            </a:r>
            <a:endParaRPr lang="en-US" sz="1350" dirty="0"/>
          </a:p>
        </p:txBody>
      </p:sp>
      <p:sp>
        <p:nvSpPr>
          <p:cNvPr id="6" name="Text 4"/>
          <p:cNvSpPr txBox="1"/>
          <p:nvPr/>
        </p:nvSpPr>
        <p:spPr>
          <a:xfrm>
            <a:off x="1444752" y="1984248"/>
            <a:ext cx="3749040" cy="365760"/>
          </a:xfrm>
          <a:prstGeom prst="rect">
            <a:avLst/>
          </a:prstGeom>
          <a:noFill/>
          <a:ln/>
        </p:spPr>
        <p:txBody>
          <a:bodyPr wrap="square" lIns="0" tIns="0" rIns="0" bIns="0" rtlCol="0" anchor="ctr"/>
          <a:lstStyle/>
          <a:p>
            <a:pPr indent="0" marL="0">
              <a:buNone/>
            </a:pPr>
            <a:r>
              <a:rPr lang="en-US" sz="2000" b="1" dirty="0">
                <a:solidFill>
                  <a:srgbClr val="0F3B34"/>
                </a:solidFill>
                <a:latin typeface="Cambria" pitchFamily="34" charset="0"/>
                <a:ea typeface="Cambria" pitchFamily="34" charset="-122"/>
                <a:cs typeface="Cambria" pitchFamily="34" charset="-120"/>
              </a:rPr>
              <a:t>Косвенные налоги</a:t>
            </a:r>
            <a:endParaRPr lang="en-US" sz="2000" dirty="0"/>
          </a:p>
        </p:txBody>
      </p:sp>
      <p:sp>
        <p:nvSpPr>
          <p:cNvPr id="7" name="Text 5"/>
          <p:cNvSpPr txBox="1"/>
          <p:nvPr/>
        </p:nvSpPr>
        <p:spPr>
          <a:xfrm>
            <a:off x="5257800" y="1993392"/>
            <a:ext cx="6202375" cy="566928"/>
          </a:xfrm>
          <a:prstGeom prst="rect">
            <a:avLst/>
          </a:prstGeom>
          <a:noFill/>
          <a:ln/>
        </p:spPr>
        <p:txBody>
          <a:bodyPr wrap="square" lIns="0" tIns="0" rIns="0" bIns="0" rtlCol="0" anchor="ctr"/>
          <a:lstStyle/>
          <a:p>
            <a:pPr indent="0" marL="0">
              <a:lnSpc>
                <a:spcPts val="1900"/>
              </a:lnSpc>
              <a:buNone/>
            </a:pPr>
            <a:r>
              <a:rPr lang="en-US" sz="1300" dirty="0">
                <a:solidFill>
                  <a:srgbClr val="5E6D68"/>
                </a:solidFill>
                <a:latin typeface="Calibri" pitchFamily="34" charset="0"/>
                <a:ea typeface="Calibri" pitchFamily="34" charset="-122"/>
                <a:cs typeface="Calibri" pitchFamily="34" charset="-120"/>
              </a:rPr>
              <a:t>Принцип страны назначения. Экспорт, импорт, ЕАЭС, цифровая торговля.</a:t>
            </a:r>
            <a:endParaRPr lang="en-US" sz="1300" dirty="0"/>
          </a:p>
        </p:txBody>
      </p:sp>
      <p:sp>
        <p:nvSpPr>
          <p:cNvPr id="8" name="Shape 6"/>
          <p:cNvSpPr/>
          <p:nvPr/>
        </p:nvSpPr>
        <p:spPr>
          <a:xfrm>
            <a:off x="731520" y="2798064"/>
            <a:ext cx="10728655" cy="0"/>
          </a:xfrm>
          <a:prstGeom prst="line">
            <a:avLst/>
          </a:prstGeom>
          <a:noFill/>
          <a:ln w="12700">
            <a:solidFill>
              <a:srgbClr val="D8E2DE"/>
            </a:solidFill>
            <a:prstDash val="solid"/>
          </a:ln>
        </p:spPr>
      </p:sp>
      <p:sp>
        <p:nvSpPr>
          <p:cNvPr id="9" name="Shape 7"/>
          <p:cNvSpPr/>
          <p:nvPr/>
        </p:nvSpPr>
        <p:spPr>
          <a:xfrm>
            <a:off x="731520" y="3072384"/>
            <a:ext cx="457200" cy="457200"/>
          </a:xfrm>
          <a:prstGeom prst="ellipse">
            <a:avLst/>
          </a:prstGeom>
          <a:solidFill>
            <a:srgbClr val="C8642B"/>
          </a:solidFill>
          <a:ln w="12700">
            <a:solidFill>
              <a:srgbClr val="C8642B"/>
            </a:solidFill>
            <a:prstDash val="solid"/>
          </a:ln>
        </p:spPr>
      </p:sp>
      <p:sp>
        <p:nvSpPr>
          <p:cNvPr id="10" name="Text 8"/>
          <p:cNvSpPr txBox="1"/>
          <p:nvPr/>
        </p:nvSpPr>
        <p:spPr>
          <a:xfrm>
            <a:off x="731520" y="3072384"/>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02</a:t>
            </a:r>
            <a:endParaRPr lang="en-US" sz="1350" dirty="0"/>
          </a:p>
        </p:txBody>
      </p:sp>
      <p:sp>
        <p:nvSpPr>
          <p:cNvPr id="11" name="Text 9"/>
          <p:cNvSpPr txBox="1"/>
          <p:nvPr/>
        </p:nvSpPr>
        <p:spPr>
          <a:xfrm>
            <a:off x="1444752" y="3044952"/>
            <a:ext cx="3749040" cy="365760"/>
          </a:xfrm>
          <a:prstGeom prst="rect">
            <a:avLst/>
          </a:prstGeom>
          <a:noFill/>
          <a:ln/>
        </p:spPr>
        <p:txBody>
          <a:bodyPr wrap="square" lIns="0" tIns="0" rIns="0" bIns="0" rtlCol="0" anchor="ctr"/>
          <a:lstStyle/>
          <a:p>
            <a:pPr indent="0" marL="0">
              <a:buNone/>
            </a:pPr>
            <a:r>
              <a:rPr lang="en-US" sz="2000" b="1" dirty="0">
                <a:solidFill>
                  <a:srgbClr val="0F3B34"/>
                </a:solidFill>
                <a:latin typeface="Cambria" pitchFamily="34" charset="0"/>
                <a:ea typeface="Cambria" pitchFamily="34" charset="-122"/>
                <a:cs typeface="Cambria" pitchFamily="34" charset="-120"/>
              </a:rPr>
              <a:t>Прямые налоги</a:t>
            </a:r>
            <a:endParaRPr lang="en-US" sz="2000" dirty="0"/>
          </a:p>
        </p:txBody>
      </p:sp>
      <p:sp>
        <p:nvSpPr>
          <p:cNvPr id="12" name="Text 10"/>
          <p:cNvSpPr txBox="1"/>
          <p:nvPr/>
        </p:nvSpPr>
        <p:spPr>
          <a:xfrm>
            <a:off x="5257800" y="3054096"/>
            <a:ext cx="6202375" cy="566928"/>
          </a:xfrm>
          <a:prstGeom prst="rect">
            <a:avLst/>
          </a:prstGeom>
          <a:noFill/>
          <a:ln/>
        </p:spPr>
        <p:txBody>
          <a:bodyPr wrap="square" lIns="0" tIns="0" rIns="0" bIns="0" rtlCol="0" anchor="ctr"/>
          <a:lstStyle/>
          <a:p>
            <a:pPr indent="0" marL="0">
              <a:lnSpc>
                <a:spcPts val="1900"/>
              </a:lnSpc>
              <a:buNone/>
            </a:pPr>
            <a:r>
              <a:rPr lang="en-US" sz="1300" dirty="0">
                <a:solidFill>
                  <a:srgbClr val="5E6D68"/>
                </a:solidFill>
                <a:latin typeface="Calibri" pitchFamily="34" charset="0"/>
                <a:ea typeface="Calibri" pitchFamily="34" charset="-122"/>
                <a:cs typeface="Calibri" pitchFamily="34" charset="-120"/>
              </a:rPr>
              <a:t>Постоянное представительство, налог у источника, трансфертное ценообразование.</a:t>
            </a:r>
            <a:endParaRPr lang="en-US" sz="1300" dirty="0"/>
          </a:p>
        </p:txBody>
      </p:sp>
      <p:sp>
        <p:nvSpPr>
          <p:cNvPr id="13" name="Shape 11"/>
          <p:cNvSpPr/>
          <p:nvPr/>
        </p:nvSpPr>
        <p:spPr>
          <a:xfrm>
            <a:off x="731520" y="3858768"/>
            <a:ext cx="10728655" cy="0"/>
          </a:xfrm>
          <a:prstGeom prst="line">
            <a:avLst/>
          </a:prstGeom>
          <a:noFill/>
          <a:ln w="12700">
            <a:solidFill>
              <a:srgbClr val="D8E2DE"/>
            </a:solidFill>
            <a:prstDash val="solid"/>
          </a:ln>
        </p:spPr>
      </p:sp>
      <p:sp>
        <p:nvSpPr>
          <p:cNvPr id="14" name="Shape 12"/>
          <p:cNvSpPr/>
          <p:nvPr/>
        </p:nvSpPr>
        <p:spPr>
          <a:xfrm>
            <a:off x="731520" y="4133088"/>
            <a:ext cx="457200" cy="457200"/>
          </a:xfrm>
          <a:prstGeom prst="ellipse">
            <a:avLst/>
          </a:prstGeom>
          <a:solidFill>
            <a:srgbClr val="0F3B34"/>
          </a:solidFill>
          <a:ln w="12700">
            <a:solidFill>
              <a:srgbClr val="0F3B34"/>
            </a:solidFill>
            <a:prstDash val="solid"/>
          </a:ln>
        </p:spPr>
      </p:sp>
      <p:sp>
        <p:nvSpPr>
          <p:cNvPr id="15" name="Text 13"/>
          <p:cNvSpPr txBox="1"/>
          <p:nvPr/>
        </p:nvSpPr>
        <p:spPr>
          <a:xfrm>
            <a:off x="731520" y="4133088"/>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03</a:t>
            </a:r>
            <a:endParaRPr lang="en-US" sz="1350" dirty="0"/>
          </a:p>
        </p:txBody>
      </p:sp>
      <p:sp>
        <p:nvSpPr>
          <p:cNvPr id="16" name="Text 14"/>
          <p:cNvSpPr txBox="1"/>
          <p:nvPr/>
        </p:nvSpPr>
        <p:spPr>
          <a:xfrm>
            <a:off x="1444752" y="4105656"/>
            <a:ext cx="3749040" cy="365760"/>
          </a:xfrm>
          <a:prstGeom prst="rect">
            <a:avLst/>
          </a:prstGeom>
          <a:noFill/>
          <a:ln/>
        </p:spPr>
        <p:txBody>
          <a:bodyPr wrap="square" lIns="0" tIns="0" rIns="0" bIns="0" rtlCol="0" anchor="ctr"/>
          <a:lstStyle/>
          <a:p>
            <a:pPr indent="0" marL="0">
              <a:buNone/>
            </a:pPr>
            <a:r>
              <a:rPr lang="en-US" sz="2000" b="1" dirty="0">
                <a:solidFill>
                  <a:srgbClr val="0F3B34"/>
                </a:solidFill>
                <a:latin typeface="Cambria" pitchFamily="34" charset="0"/>
                <a:ea typeface="Cambria" pitchFamily="34" charset="-122"/>
                <a:cs typeface="Cambria" pitchFamily="34" charset="-120"/>
              </a:rPr>
              <a:t>Международная повестка</a:t>
            </a:r>
            <a:endParaRPr lang="en-US" sz="2000" dirty="0"/>
          </a:p>
        </p:txBody>
      </p:sp>
      <p:sp>
        <p:nvSpPr>
          <p:cNvPr id="17" name="Text 15"/>
          <p:cNvSpPr txBox="1"/>
          <p:nvPr/>
        </p:nvSpPr>
        <p:spPr>
          <a:xfrm>
            <a:off x="5257800" y="4114800"/>
            <a:ext cx="6202375" cy="566928"/>
          </a:xfrm>
          <a:prstGeom prst="rect">
            <a:avLst/>
          </a:prstGeom>
          <a:noFill/>
          <a:ln/>
        </p:spPr>
        <p:txBody>
          <a:bodyPr wrap="square" lIns="0" tIns="0" rIns="0" bIns="0" rtlCol="0" anchor="ctr"/>
          <a:lstStyle/>
          <a:p>
            <a:pPr indent="0" marL="0">
              <a:lnSpc>
                <a:spcPts val="1900"/>
              </a:lnSpc>
              <a:buNone/>
            </a:pPr>
            <a:r>
              <a:rPr lang="en-US" sz="1300" dirty="0">
                <a:solidFill>
                  <a:srgbClr val="5E6D68"/>
                </a:solidFill>
                <a:latin typeface="Calibri" pitchFamily="34" charset="0"/>
                <a:ea typeface="Calibri" pitchFamily="34" charset="-122"/>
                <a:cs typeface="Calibri" pitchFamily="34" charset="-120"/>
              </a:rPr>
              <a:t>BEPS и MLI, глобальный минимальный налог Pillar Two, углеродный механизм CBAM.</a:t>
            </a:r>
            <a:endParaRPr lang="en-US" sz="1300" dirty="0"/>
          </a:p>
        </p:txBody>
      </p:sp>
      <p:sp>
        <p:nvSpPr>
          <p:cNvPr id="18" name="Shape 16"/>
          <p:cNvSpPr/>
          <p:nvPr/>
        </p:nvSpPr>
        <p:spPr>
          <a:xfrm>
            <a:off x="731520" y="4919472"/>
            <a:ext cx="10728655" cy="0"/>
          </a:xfrm>
          <a:prstGeom prst="line">
            <a:avLst/>
          </a:prstGeom>
          <a:noFill/>
          <a:ln w="12700">
            <a:solidFill>
              <a:srgbClr val="D8E2DE"/>
            </a:solidFill>
            <a:prstDash val="solid"/>
          </a:ln>
        </p:spPr>
      </p:sp>
      <p:sp>
        <p:nvSpPr>
          <p:cNvPr id="19" name="Shape 17"/>
          <p:cNvSpPr/>
          <p:nvPr/>
        </p:nvSpPr>
        <p:spPr>
          <a:xfrm>
            <a:off x="731520" y="5193792"/>
            <a:ext cx="457200" cy="457200"/>
          </a:xfrm>
          <a:prstGeom prst="ellipse">
            <a:avLst/>
          </a:prstGeom>
          <a:solidFill>
            <a:srgbClr val="C8642B"/>
          </a:solidFill>
          <a:ln w="12700">
            <a:solidFill>
              <a:srgbClr val="C8642B"/>
            </a:solidFill>
            <a:prstDash val="solid"/>
          </a:ln>
        </p:spPr>
      </p:sp>
      <p:sp>
        <p:nvSpPr>
          <p:cNvPr id="20" name="Text 18"/>
          <p:cNvSpPr txBox="1"/>
          <p:nvPr/>
        </p:nvSpPr>
        <p:spPr>
          <a:xfrm>
            <a:off x="731520" y="5193792"/>
            <a:ext cx="4572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04</a:t>
            </a:r>
            <a:endParaRPr lang="en-US" sz="1350" dirty="0"/>
          </a:p>
        </p:txBody>
      </p:sp>
      <p:sp>
        <p:nvSpPr>
          <p:cNvPr id="21" name="Text 19"/>
          <p:cNvSpPr txBox="1"/>
          <p:nvPr/>
        </p:nvSpPr>
        <p:spPr>
          <a:xfrm>
            <a:off x="1444752" y="5166360"/>
            <a:ext cx="3749040" cy="365760"/>
          </a:xfrm>
          <a:prstGeom prst="rect">
            <a:avLst/>
          </a:prstGeom>
          <a:noFill/>
          <a:ln/>
        </p:spPr>
        <p:txBody>
          <a:bodyPr wrap="square" lIns="0" tIns="0" rIns="0" bIns="0" rtlCol="0" anchor="ctr"/>
          <a:lstStyle/>
          <a:p>
            <a:pPr indent="0" marL="0">
              <a:buNone/>
            </a:pPr>
            <a:r>
              <a:rPr lang="en-US" sz="2000" b="1" dirty="0">
                <a:solidFill>
                  <a:srgbClr val="0F3B34"/>
                </a:solidFill>
                <a:latin typeface="Cambria" pitchFamily="34" charset="0"/>
                <a:ea typeface="Cambria" pitchFamily="34" charset="-122"/>
                <a:cs typeface="Cambria" pitchFamily="34" charset="-120"/>
              </a:rPr>
              <a:t>Российский контур</a:t>
            </a:r>
            <a:endParaRPr lang="en-US" sz="2000" dirty="0"/>
          </a:p>
        </p:txBody>
      </p:sp>
      <p:sp>
        <p:nvSpPr>
          <p:cNvPr id="22" name="Text 20"/>
          <p:cNvSpPr txBox="1"/>
          <p:nvPr/>
        </p:nvSpPr>
        <p:spPr>
          <a:xfrm>
            <a:off x="5257800" y="5175504"/>
            <a:ext cx="6202375" cy="566928"/>
          </a:xfrm>
          <a:prstGeom prst="rect">
            <a:avLst/>
          </a:prstGeom>
          <a:noFill/>
          <a:ln/>
        </p:spPr>
        <p:txBody>
          <a:bodyPr wrap="square" lIns="0" tIns="0" rIns="0" bIns="0" rtlCol="0" anchor="ctr"/>
          <a:lstStyle/>
          <a:p>
            <a:pPr indent="0" marL="0">
              <a:lnSpc>
                <a:spcPts val="1900"/>
              </a:lnSpc>
              <a:buNone/>
            </a:pPr>
            <a:r>
              <a:rPr lang="en-US" sz="1300" dirty="0">
                <a:solidFill>
                  <a:srgbClr val="5E6D68"/>
                </a:solidFill>
                <a:latin typeface="Calibri" pitchFamily="34" charset="0"/>
                <a:ea typeface="Calibri" pitchFamily="34" charset="-122"/>
                <a:cs typeface="Calibri" pitchFamily="34" charset="-120"/>
              </a:rPr>
              <a:t>Приостановление СИДН, новая договорная сеть, рост косвенной нагрузки.</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ФУНДАМЕНТ</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Две системы привязки к юрисдикции</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Косвенные и прямые налоги отвечают на вопрос «где облагать» принципиально по-разному. Это ключ ко всей теме.</a:t>
            </a:r>
            <a:endParaRPr lang="en-US" sz="1450" dirty="0"/>
          </a:p>
        </p:txBody>
      </p:sp>
      <p:sp>
        <p:nvSpPr>
          <p:cNvPr id="5" name="Shape 3"/>
          <p:cNvSpPr/>
          <p:nvPr/>
        </p:nvSpPr>
        <p:spPr>
          <a:xfrm>
            <a:off x="731520" y="2212848"/>
            <a:ext cx="5294376" cy="3063240"/>
          </a:xfrm>
          <a:prstGeom prst="roundRect">
            <a:avLst>
              <a:gd name="adj" fmla="val 2388"/>
            </a:avLst>
          </a:prstGeom>
          <a:solidFill>
            <a:srgbClr val="F1F5F3"/>
          </a:solidFill>
          <a:ln w="12700">
            <a:solidFill>
              <a:srgbClr val="F1F5F3"/>
            </a:solidFill>
            <a:prstDash val="solid"/>
          </a:ln>
        </p:spPr>
      </p:sp>
      <p:sp>
        <p:nvSpPr>
          <p:cNvPr id="6" name="Shape 4"/>
          <p:cNvSpPr/>
          <p:nvPr/>
        </p:nvSpPr>
        <p:spPr>
          <a:xfrm>
            <a:off x="1042416" y="2487168"/>
            <a:ext cx="2468880" cy="347472"/>
          </a:xfrm>
          <a:prstGeom prst="roundRect">
            <a:avLst>
              <a:gd name="adj" fmla="val 50000"/>
            </a:avLst>
          </a:prstGeom>
          <a:solidFill>
            <a:srgbClr val="0F3B34"/>
          </a:solidFill>
          <a:ln w="12700">
            <a:solidFill>
              <a:srgbClr val="0F3B34"/>
            </a:solidFill>
            <a:prstDash val="solid"/>
          </a:ln>
        </p:spPr>
      </p:sp>
      <p:sp>
        <p:nvSpPr>
          <p:cNvPr id="7" name="Text 5"/>
          <p:cNvSpPr txBox="1"/>
          <p:nvPr/>
        </p:nvSpPr>
        <p:spPr>
          <a:xfrm>
            <a:off x="1042416" y="2487168"/>
            <a:ext cx="246888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КОСВЕННЫЕ НАЛОГИ</a:t>
            </a:r>
            <a:endParaRPr lang="en-US" sz="1150" dirty="0"/>
          </a:p>
        </p:txBody>
      </p:sp>
      <p:sp>
        <p:nvSpPr>
          <p:cNvPr id="8" name="Text 6"/>
          <p:cNvSpPr txBox="1"/>
          <p:nvPr/>
        </p:nvSpPr>
        <p:spPr>
          <a:xfrm>
            <a:off x="1042416" y="2962656"/>
            <a:ext cx="4672584" cy="411480"/>
          </a:xfrm>
          <a:prstGeom prst="rect">
            <a:avLst/>
          </a:prstGeom>
          <a:noFill/>
          <a:ln/>
        </p:spPr>
        <p:txBody>
          <a:bodyPr wrap="square" lIns="0" tIns="0" rIns="0" bIns="0" rtlCol="0" anchor="ctr"/>
          <a:lstStyle/>
          <a:p>
            <a:pPr indent="0" marL="0">
              <a:buNone/>
            </a:pPr>
            <a:r>
              <a:rPr lang="en-US" sz="2100" b="1" dirty="0">
                <a:solidFill>
                  <a:srgbClr val="0F3B34"/>
                </a:solidFill>
                <a:latin typeface="Cambria" pitchFamily="34" charset="0"/>
                <a:ea typeface="Cambria" pitchFamily="34" charset="-122"/>
                <a:cs typeface="Cambria" pitchFamily="34" charset="-120"/>
              </a:rPr>
              <a:t>Принцип страны назначения</a:t>
            </a:r>
            <a:endParaRPr lang="en-US" sz="2100" dirty="0"/>
          </a:p>
        </p:txBody>
      </p:sp>
      <p:sp>
        <p:nvSpPr>
          <p:cNvPr id="9" name="Text 7"/>
          <p:cNvSpPr txBox="1"/>
          <p:nvPr/>
        </p:nvSpPr>
        <p:spPr>
          <a:xfrm>
            <a:off x="1042416" y="3493008"/>
            <a:ext cx="4672584" cy="164592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Товар облагается там, где потребляется</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Экспорт — ставка 0% с сохранением вычета</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Импорт — по ставкам страны ввоза</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Принцип происхождения не применяется: он давал бы товарам из стран с низким НДС преимущество на чужом рынке</a:t>
            </a:r>
            <a:endParaRPr lang="en-US" sz="1300" dirty="0"/>
          </a:p>
        </p:txBody>
      </p:sp>
      <p:sp>
        <p:nvSpPr>
          <p:cNvPr id="10" name="Shape 8"/>
          <p:cNvSpPr/>
          <p:nvPr/>
        </p:nvSpPr>
        <p:spPr>
          <a:xfrm>
            <a:off x="6345936" y="2212848"/>
            <a:ext cx="5294376" cy="3063240"/>
          </a:xfrm>
          <a:prstGeom prst="roundRect">
            <a:avLst>
              <a:gd name="adj" fmla="val 2388"/>
            </a:avLst>
          </a:prstGeom>
          <a:solidFill>
            <a:srgbClr val="FBF4EF"/>
          </a:solidFill>
          <a:ln w="12700">
            <a:solidFill>
              <a:srgbClr val="FBF4EF"/>
            </a:solidFill>
            <a:prstDash val="solid"/>
          </a:ln>
        </p:spPr>
      </p:sp>
      <p:sp>
        <p:nvSpPr>
          <p:cNvPr id="11" name="Shape 9"/>
          <p:cNvSpPr/>
          <p:nvPr/>
        </p:nvSpPr>
        <p:spPr>
          <a:xfrm>
            <a:off x="6656832" y="2487168"/>
            <a:ext cx="2194560" cy="347472"/>
          </a:xfrm>
          <a:prstGeom prst="roundRect">
            <a:avLst>
              <a:gd name="adj" fmla="val 50000"/>
            </a:avLst>
          </a:prstGeom>
          <a:solidFill>
            <a:srgbClr val="C8642B"/>
          </a:solidFill>
          <a:ln w="12700">
            <a:solidFill>
              <a:srgbClr val="C8642B"/>
            </a:solidFill>
            <a:prstDash val="solid"/>
          </a:ln>
        </p:spPr>
      </p:sp>
      <p:sp>
        <p:nvSpPr>
          <p:cNvPr id="12" name="Text 10"/>
          <p:cNvSpPr txBox="1"/>
          <p:nvPr/>
        </p:nvSpPr>
        <p:spPr>
          <a:xfrm>
            <a:off x="6656832" y="2487168"/>
            <a:ext cx="219456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ПРЯМЫЕ НАЛОГИ</a:t>
            </a:r>
            <a:endParaRPr lang="en-US" sz="1150" dirty="0"/>
          </a:p>
        </p:txBody>
      </p:sp>
      <p:sp>
        <p:nvSpPr>
          <p:cNvPr id="13" name="Text 11"/>
          <p:cNvSpPr txBox="1"/>
          <p:nvPr/>
        </p:nvSpPr>
        <p:spPr>
          <a:xfrm>
            <a:off x="6656832" y="2962656"/>
            <a:ext cx="4672584" cy="411480"/>
          </a:xfrm>
          <a:prstGeom prst="rect">
            <a:avLst/>
          </a:prstGeom>
          <a:noFill/>
          <a:ln/>
        </p:spPr>
        <p:txBody>
          <a:bodyPr wrap="square" lIns="0" tIns="0" rIns="0" bIns="0" rtlCol="0" anchor="ctr"/>
          <a:lstStyle/>
          <a:p>
            <a:pPr indent="0" marL="0">
              <a:buNone/>
            </a:pPr>
            <a:r>
              <a:rPr lang="en-US" sz="2100" b="1" dirty="0">
                <a:solidFill>
                  <a:srgbClr val="A34E1E"/>
                </a:solidFill>
                <a:latin typeface="Cambria" pitchFamily="34" charset="0"/>
                <a:ea typeface="Cambria" pitchFamily="34" charset="-122"/>
                <a:cs typeface="Cambria" pitchFamily="34" charset="-120"/>
              </a:rPr>
              <a:t>Резидентство + источник</a:t>
            </a:r>
            <a:endParaRPr lang="en-US" sz="2100" dirty="0"/>
          </a:p>
        </p:txBody>
      </p:sp>
      <p:sp>
        <p:nvSpPr>
          <p:cNvPr id="14" name="Text 12"/>
          <p:cNvSpPr txBox="1"/>
          <p:nvPr/>
        </p:nvSpPr>
        <p:spPr>
          <a:xfrm>
            <a:off x="6656832" y="3493008"/>
            <a:ext cx="4672584" cy="164592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Резидентство: облагается мировой доход резидента</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Источник: облагается доход, возникший на территории</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Принципы применяются одновременно и пересекаются</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Пересечение снимают СИДН — метод освобождения или метод зачёта</a:t>
            </a:r>
            <a:endParaRPr lang="en-US" sz="1300" dirty="0"/>
          </a:p>
        </p:txBody>
      </p:sp>
      <p:sp>
        <p:nvSpPr>
          <p:cNvPr id="15" name="Text 13"/>
          <p:cNvSpPr txBox="1"/>
          <p:nvPr/>
        </p:nvSpPr>
        <p:spPr>
          <a:xfrm>
            <a:off x="731520" y="5532120"/>
            <a:ext cx="10728655" cy="365760"/>
          </a:xfrm>
          <a:prstGeom prst="rect">
            <a:avLst/>
          </a:prstGeom>
          <a:noFill/>
          <a:ln/>
        </p:spPr>
        <p:txBody>
          <a:bodyPr wrap="square" lIns="0" tIns="0" rIns="0" bIns="0" rtlCol="0" anchor="ctr"/>
          <a:lstStyle/>
          <a:p>
            <a:pPr indent="0" marL="0">
              <a:buNone/>
            </a:pPr>
            <a:r>
              <a:rPr lang="en-US" sz="1300" i="1" dirty="0">
                <a:solidFill>
                  <a:srgbClr val="0F3B34"/>
                </a:solidFill>
                <a:latin typeface="Calibri" pitchFamily="34" charset="0"/>
                <a:ea typeface="Calibri" pitchFamily="34" charset="-122"/>
                <a:cs typeface="Calibri" pitchFamily="34" charset="-120"/>
              </a:rPr>
              <a:t>Косвенные налоги следуют за потреблением, прямые — за лицом и за источником дохода.</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КОСВЕННЫЕ НАЛОГИ · 1</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Экспорт и импорт: граница как точка перелома</a:t>
            </a:r>
            <a:endParaRPr lang="en-US" sz="3200" dirty="0"/>
          </a:p>
        </p:txBody>
      </p:sp>
      <p:sp>
        <p:nvSpPr>
          <p:cNvPr id="4" name="Shape 2"/>
          <p:cNvSpPr/>
          <p:nvPr/>
        </p:nvSpPr>
        <p:spPr>
          <a:xfrm>
            <a:off x="731520" y="2103120"/>
            <a:ext cx="4206240" cy="1371600"/>
          </a:xfrm>
          <a:prstGeom prst="roundRect">
            <a:avLst>
              <a:gd name="adj" fmla="val 5333"/>
            </a:avLst>
          </a:prstGeom>
          <a:solidFill>
            <a:srgbClr val="F1F5F3"/>
          </a:solidFill>
          <a:ln w="12700">
            <a:solidFill>
              <a:srgbClr val="F1F5F3"/>
            </a:solidFill>
            <a:prstDash val="solid"/>
          </a:ln>
        </p:spPr>
      </p:sp>
      <p:sp>
        <p:nvSpPr>
          <p:cNvPr id="5" name="Text 3"/>
          <p:cNvSpPr txBox="1"/>
          <p:nvPr/>
        </p:nvSpPr>
        <p:spPr>
          <a:xfrm>
            <a:off x="1005840" y="2322576"/>
            <a:ext cx="3657600" cy="256032"/>
          </a:xfrm>
          <a:prstGeom prst="rect">
            <a:avLst/>
          </a:prstGeom>
          <a:noFill/>
          <a:ln/>
        </p:spPr>
        <p:txBody>
          <a:bodyPr wrap="square" lIns="0" tIns="0" rIns="0" bIns="0" rtlCol="0" anchor="ctr"/>
          <a:lstStyle/>
          <a:p>
            <a:pPr indent="0" marL="0">
              <a:buNone/>
            </a:pPr>
            <a:r>
              <a:rPr lang="en-US" sz="1050" b="1" spc="160" kern="0" dirty="0">
                <a:solidFill>
                  <a:srgbClr val="5E6D68"/>
                </a:solidFill>
                <a:latin typeface="Calibri" pitchFamily="34" charset="0"/>
                <a:ea typeface="Calibri" pitchFamily="34" charset="-122"/>
                <a:cs typeface="Calibri" pitchFamily="34" charset="-120"/>
              </a:rPr>
              <a:t>СТРАНА ВЫВОЗА</a:t>
            </a:r>
            <a:endParaRPr lang="en-US" sz="1050" dirty="0"/>
          </a:p>
        </p:txBody>
      </p:sp>
      <p:sp>
        <p:nvSpPr>
          <p:cNvPr id="6" name="Text 4"/>
          <p:cNvSpPr txBox="1"/>
          <p:nvPr/>
        </p:nvSpPr>
        <p:spPr>
          <a:xfrm>
            <a:off x="1005840" y="2633472"/>
            <a:ext cx="3657600" cy="640080"/>
          </a:xfrm>
          <a:prstGeom prst="rect">
            <a:avLst/>
          </a:prstGeom>
          <a:noFill/>
          <a:ln/>
        </p:spPr>
        <p:txBody>
          <a:bodyPr wrap="square" lIns="0" tIns="0" rIns="0" bIns="0" rtlCol="0" anchor="ctr"/>
          <a:lstStyle/>
          <a:p>
            <a:pPr indent="0" marL="0">
              <a:lnSpc>
                <a:spcPts val="2100"/>
              </a:lnSpc>
              <a:buNone/>
            </a:pPr>
            <a:r>
              <a:rPr lang="en-US" sz="1700" b="1" dirty="0">
                <a:solidFill>
                  <a:srgbClr val="0F3B34"/>
                </a:solidFill>
                <a:latin typeface="Cambria" pitchFamily="34" charset="0"/>
                <a:ea typeface="Cambria" pitchFamily="34" charset="-122"/>
                <a:cs typeface="Cambria" pitchFamily="34" charset="-120"/>
              </a:rPr>
              <a:t>Ставка 0% + вычет входного налога</a:t>
            </a:r>
            <a:endParaRPr lang="en-US" sz="1700" dirty="0"/>
          </a:p>
        </p:txBody>
      </p:sp>
      <p:sp>
        <p:nvSpPr>
          <p:cNvPr id="7" name="Shape 5"/>
          <p:cNvSpPr/>
          <p:nvPr/>
        </p:nvSpPr>
        <p:spPr>
          <a:xfrm>
            <a:off x="5532120" y="1938528"/>
            <a:ext cx="0" cy="1700784"/>
          </a:xfrm>
          <a:prstGeom prst="line">
            <a:avLst/>
          </a:prstGeom>
          <a:noFill/>
          <a:ln w="19050">
            <a:solidFill>
              <a:srgbClr val="C8642B"/>
            </a:solidFill>
            <a:prstDash val="dash"/>
          </a:ln>
        </p:spPr>
      </p:sp>
      <p:sp>
        <p:nvSpPr>
          <p:cNvPr id="8" name="Text 6"/>
          <p:cNvSpPr txBox="1"/>
          <p:nvPr/>
        </p:nvSpPr>
        <p:spPr>
          <a:xfrm>
            <a:off x="4983480" y="3675888"/>
            <a:ext cx="1097280" cy="237744"/>
          </a:xfrm>
          <a:prstGeom prst="rect">
            <a:avLst/>
          </a:prstGeom>
          <a:noFill/>
          <a:ln/>
        </p:spPr>
        <p:txBody>
          <a:bodyPr wrap="square" lIns="0" tIns="0" rIns="0" bIns="0" rtlCol="0" anchor="ctr"/>
          <a:lstStyle/>
          <a:p>
            <a:pPr algn="ctr" indent="0" marL="0">
              <a:buNone/>
            </a:pPr>
            <a:r>
              <a:rPr lang="en-US" sz="1000" b="1" spc="140" kern="0" dirty="0">
                <a:solidFill>
                  <a:srgbClr val="A34E1E"/>
                </a:solidFill>
                <a:latin typeface="Calibri" pitchFamily="34" charset="0"/>
                <a:ea typeface="Calibri" pitchFamily="34" charset="-122"/>
                <a:cs typeface="Calibri" pitchFamily="34" charset="-120"/>
              </a:rPr>
              <a:t>ГРАНИЦА</a:t>
            </a:r>
            <a:endParaRPr lang="en-US" sz="1000" dirty="0"/>
          </a:p>
        </p:txBody>
      </p:sp>
      <p:sp>
        <p:nvSpPr>
          <p:cNvPr id="9" name="Shape 7"/>
          <p:cNvSpPr/>
          <p:nvPr/>
        </p:nvSpPr>
        <p:spPr>
          <a:xfrm>
            <a:off x="5084064" y="2670048"/>
            <a:ext cx="384048" cy="237744"/>
          </a:xfrm>
          <a:prstGeom prst="rightArrow">
            <a:avLst/>
          </a:prstGeom>
          <a:solidFill>
            <a:srgbClr val="0F3B34"/>
          </a:solidFill>
          <a:ln w="12700">
            <a:solidFill>
              <a:srgbClr val="0F3B34"/>
            </a:solidFill>
            <a:prstDash val="solid"/>
          </a:ln>
        </p:spPr>
      </p:sp>
      <p:sp>
        <p:nvSpPr>
          <p:cNvPr id="10" name="Shape 8"/>
          <p:cNvSpPr/>
          <p:nvPr/>
        </p:nvSpPr>
        <p:spPr>
          <a:xfrm>
            <a:off x="5989320" y="2670048"/>
            <a:ext cx="502920" cy="237744"/>
          </a:xfrm>
          <a:prstGeom prst="rightArrow">
            <a:avLst/>
          </a:prstGeom>
          <a:solidFill>
            <a:srgbClr val="C8642B"/>
          </a:solidFill>
          <a:ln w="12700">
            <a:solidFill>
              <a:srgbClr val="C8642B"/>
            </a:solidFill>
            <a:prstDash val="solid"/>
          </a:ln>
        </p:spPr>
      </p:sp>
      <p:sp>
        <p:nvSpPr>
          <p:cNvPr id="11" name="Shape 9"/>
          <p:cNvSpPr/>
          <p:nvPr/>
        </p:nvSpPr>
        <p:spPr>
          <a:xfrm>
            <a:off x="6720840" y="2103120"/>
            <a:ext cx="4736592" cy="1371600"/>
          </a:xfrm>
          <a:prstGeom prst="roundRect">
            <a:avLst>
              <a:gd name="adj" fmla="val 5333"/>
            </a:avLst>
          </a:prstGeom>
          <a:solidFill>
            <a:srgbClr val="FBF4EF"/>
          </a:solidFill>
          <a:ln w="12700">
            <a:solidFill>
              <a:srgbClr val="FBF4EF"/>
            </a:solidFill>
            <a:prstDash val="solid"/>
          </a:ln>
        </p:spPr>
      </p:sp>
      <p:sp>
        <p:nvSpPr>
          <p:cNvPr id="12" name="Text 10"/>
          <p:cNvSpPr txBox="1"/>
          <p:nvPr/>
        </p:nvSpPr>
        <p:spPr>
          <a:xfrm>
            <a:off x="6995160" y="2322576"/>
            <a:ext cx="4206240" cy="256032"/>
          </a:xfrm>
          <a:prstGeom prst="rect">
            <a:avLst/>
          </a:prstGeom>
          <a:noFill/>
          <a:ln/>
        </p:spPr>
        <p:txBody>
          <a:bodyPr wrap="square" lIns="0" tIns="0" rIns="0" bIns="0" rtlCol="0" anchor="ctr"/>
          <a:lstStyle/>
          <a:p>
            <a:pPr indent="0" marL="0">
              <a:buNone/>
            </a:pPr>
            <a:r>
              <a:rPr lang="en-US" sz="1050" b="1" spc="160" kern="0" dirty="0">
                <a:solidFill>
                  <a:srgbClr val="5E6D68"/>
                </a:solidFill>
                <a:latin typeface="Calibri" pitchFamily="34" charset="0"/>
                <a:ea typeface="Calibri" pitchFamily="34" charset="-122"/>
                <a:cs typeface="Calibri" pitchFamily="34" charset="-120"/>
              </a:rPr>
              <a:t>СТРАНА ВВОЗА</a:t>
            </a:r>
            <a:endParaRPr lang="en-US" sz="1050" dirty="0"/>
          </a:p>
        </p:txBody>
      </p:sp>
      <p:sp>
        <p:nvSpPr>
          <p:cNvPr id="13" name="Text 11"/>
          <p:cNvSpPr txBox="1"/>
          <p:nvPr/>
        </p:nvSpPr>
        <p:spPr>
          <a:xfrm>
            <a:off x="6995160" y="2633472"/>
            <a:ext cx="4206240" cy="685800"/>
          </a:xfrm>
          <a:prstGeom prst="rect">
            <a:avLst/>
          </a:prstGeom>
          <a:noFill/>
          <a:ln/>
        </p:spPr>
        <p:txBody>
          <a:bodyPr wrap="square" lIns="0" tIns="0" rIns="0" bIns="0" rtlCol="0" anchor="ctr"/>
          <a:lstStyle/>
          <a:p>
            <a:pPr indent="0" marL="0">
              <a:lnSpc>
                <a:spcPts val="2100"/>
              </a:lnSpc>
              <a:buNone/>
            </a:pPr>
            <a:r>
              <a:rPr lang="en-US" sz="1700" b="1" dirty="0">
                <a:solidFill>
                  <a:srgbClr val="A34E1E"/>
                </a:solidFill>
                <a:latin typeface="Cambria" pitchFamily="34" charset="0"/>
                <a:ea typeface="Cambria" pitchFamily="34" charset="-122"/>
                <a:cs typeface="Cambria" pitchFamily="34" charset="-120"/>
              </a:rPr>
              <a:t>НДС на таможне: таможенная стоимость + пошлина + акциз</a:t>
            </a:r>
            <a:endParaRPr lang="en-US" sz="1700" dirty="0"/>
          </a:p>
        </p:txBody>
      </p:sp>
      <p:sp>
        <p:nvSpPr>
          <p:cNvPr id="14" name="Text 12"/>
          <p:cNvSpPr txBox="1"/>
          <p:nvPr/>
        </p:nvSpPr>
        <p:spPr>
          <a:xfrm>
            <a:off x="731520" y="3950208"/>
            <a:ext cx="3401568" cy="292608"/>
          </a:xfrm>
          <a:prstGeom prst="rect">
            <a:avLst/>
          </a:prstGeom>
          <a:noFill/>
          <a:ln/>
        </p:spPr>
        <p:txBody>
          <a:bodyPr wrap="square" lIns="0" tIns="0" rIns="0" bIns="0" rtlCol="0" anchor="ctr"/>
          <a:lstStyle/>
          <a:p>
            <a:pPr indent="0" marL="0">
              <a:buNone/>
            </a:pPr>
            <a:r>
              <a:rPr lang="en-US" sz="1350" b="1" dirty="0">
                <a:solidFill>
                  <a:srgbClr val="0F3B34"/>
                </a:solidFill>
                <a:latin typeface="Calibri" pitchFamily="34" charset="0"/>
                <a:ea typeface="Calibri" pitchFamily="34" charset="-122"/>
                <a:cs typeface="Calibri" pitchFamily="34" charset="-120"/>
              </a:rPr>
              <a:t>Не льгота, а принцип</a:t>
            </a:r>
            <a:endParaRPr lang="en-US" sz="1350" dirty="0"/>
          </a:p>
        </p:txBody>
      </p:sp>
      <p:sp>
        <p:nvSpPr>
          <p:cNvPr id="15" name="Text 13"/>
          <p:cNvSpPr txBox="1"/>
          <p:nvPr/>
        </p:nvSpPr>
        <p:spPr>
          <a:xfrm>
            <a:off x="731520" y="4279392"/>
            <a:ext cx="3401568" cy="105156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Страна вывоза полностью очищает товар от собственного налога — иначе он был бы обложен дважды.</a:t>
            </a:r>
            <a:endParaRPr lang="en-US" sz="1250" dirty="0"/>
          </a:p>
        </p:txBody>
      </p:sp>
      <p:sp>
        <p:nvSpPr>
          <p:cNvPr id="16" name="Text 14"/>
          <p:cNvSpPr txBox="1"/>
          <p:nvPr/>
        </p:nvSpPr>
        <p:spPr>
          <a:xfrm>
            <a:off x="731520" y="5285232"/>
            <a:ext cx="3401568" cy="256032"/>
          </a:xfrm>
          <a:prstGeom prst="rect">
            <a:avLst/>
          </a:prstGeom>
          <a:noFill/>
          <a:ln/>
        </p:spPr>
        <p:txBody>
          <a:bodyPr wrap="square" lIns="0" tIns="0" rIns="0" bIns="0" rtlCol="0" anchor="ctr"/>
          <a:lstStyle/>
          <a:p>
            <a:pPr indent="0" marL="0">
              <a:buNone/>
            </a:pPr>
            <a:r>
              <a:rPr lang="en-US" sz="1050" b="1" dirty="0">
                <a:solidFill>
                  <a:srgbClr val="A34E1E"/>
                </a:solidFill>
                <a:latin typeface="Calibri" pitchFamily="34" charset="0"/>
                <a:ea typeface="Calibri" pitchFamily="34" charset="-122"/>
                <a:cs typeface="Calibri" pitchFamily="34" charset="-120"/>
              </a:rPr>
              <a:t>пп. 1 п. 1 ст. 164 НК РФ</a:t>
            </a:r>
            <a:endParaRPr lang="en-US" sz="1050" dirty="0"/>
          </a:p>
        </p:txBody>
      </p:sp>
      <p:sp>
        <p:nvSpPr>
          <p:cNvPr id="17" name="Text 15"/>
          <p:cNvSpPr txBox="1"/>
          <p:nvPr/>
        </p:nvSpPr>
        <p:spPr>
          <a:xfrm>
            <a:off x="4453128" y="3950208"/>
            <a:ext cx="3401568" cy="292608"/>
          </a:xfrm>
          <a:prstGeom prst="rect">
            <a:avLst/>
          </a:prstGeom>
          <a:noFill/>
          <a:ln/>
        </p:spPr>
        <p:txBody>
          <a:bodyPr wrap="square" lIns="0" tIns="0" rIns="0" bIns="0" rtlCol="0" anchor="ctr"/>
          <a:lstStyle/>
          <a:p>
            <a:pPr indent="0" marL="0">
              <a:buNone/>
            </a:pPr>
            <a:r>
              <a:rPr lang="en-US" sz="1350" b="1" dirty="0">
                <a:solidFill>
                  <a:srgbClr val="0F3B34"/>
                </a:solidFill>
                <a:latin typeface="Calibri" pitchFamily="34" charset="0"/>
                <a:ea typeface="Calibri" pitchFamily="34" charset="-122"/>
                <a:cs typeface="Calibri" pitchFamily="34" charset="-120"/>
              </a:rPr>
              <a:t>Всё решает подтверждение</a:t>
            </a:r>
            <a:endParaRPr lang="en-US" sz="1350" dirty="0"/>
          </a:p>
        </p:txBody>
      </p:sp>
      <p:sp>
        <p:nvSpPr>
          <p:cNvPr id="18" name="Text 16"/>
          <p:cNvSpPr txBox="1"/>
          <p:nvPr/>
        </p:nvSpPr>
        <p:spPr>
          <a:xfrm>
            <a:off x="4453128" y="4279392"/>
            <a:ext cx="3401568" cy="105156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С 1 января 2024 года бумажный пакет заменён электронными реестрами; база определяется на конец квартала сбора документов.</a:t>
            </a:r>
            <a:endParaRPr lang="en-US" sz="1250" dirty="0"/>
          </a:p>
        </p:txBody>
      </p:sp>
      <p:sp>
        <p:nvSpPr>
          <p:cNvPr id="19" name="Text 17"/>
          <p:cNvSpPr txBox="1"/>
          <p:nvPr/>
        </p:nvSpPr>
        <p:spPr>
          <a:xfrm>
            <a:off x="4453128" y="5285232"/>
            <a:ext cx="3401568" cy="256032"/>
          </a:xfrm>
          <a:prstGeom prst="rect">
            <a:avLst/>
          </a:prstGeom>
          <a:noFill/>
          <a:ln/>
        </p:spPr>
        <p:txBody>
          <a:bodyPr wrap="square" lIns="0" tIns="0" rIns="0" bIns="0" rtlCol="0" anchor="ctr"/>
          <a:lstStyle/>
          <a:p>
            <a:pPr indent="0" marL="0">
              <a:buNone/>
            </a:pPr>
            <a:r>
              <a:rPr lang="en-US" sz="1050" b="1" dirty="0">
                <a:solidFill>
                  <a:srgbClr val="A34E1E"/>
                </a:solidFill>
                <a:latin typeface="Calibri" pitchFamily="34" charset="0"/>
                <a:ea typeface="Calibri" pitchFamily="34" charset="-122"/>
                <a:cs typeface="Calibri" pitchFamily="34" charset="-120"/>
              </a:rPr>
              <a:t>ст. 165 НК РФ</a:t>
            </a:r>
            <a:endParaRPr lang="en-US" sz="1050" dirty="0"/>
          </a:p>
        </p:txBody>
      </p:sp>
      <p:sp>
        <p:nvSpPr>
          <p:cNvPr id="20" name="Text 18"/>
          <p:cNvSpPr txBox="1"/>
          <p:nvPr/>
        </p:nvSpPr>
        <p:spPr>
          <a:xfrm>
            <a:off x="8174736" y="3950208"/>
            <a:ext cx="3401568" cy="292608"/>
          </a:xfrm>
          <a:prstGeom prst="rect">
            <a:avLst/>
          </a:prstGeom>
          <a:noFill/>
          <a:ln/>
        </p:spPr>
        <p:txBody>
          <a:bodyPr wrap="square" lIns="0" tIns="0" rIns="0" bIns="0" rtlCol="0" anchor="ctr"/>
          <a:lstStyle/>
          <a:p>
            <a:pPr indent="0" marL="0">
              <a:buNone/>
            </a:pPr>
            <a:r>
              <a:rPr lang="en-US" sz="1350" b="1" dirty="0">
                <a:solidFill>
                  <a:srgbClr val="0F3B34"/>
                </a:solidFill>
                <a:latin typeface="Calibri" pitchFamily="34" charset="0"/>
                <a:ea typeface="Calibri" pitchFamily="34" charset="-122"/>
                <a:cs typeface="Calibri" pitchFamily="34" charset="-120"/>
              </a:rPr>
              <a:t>Налог смыкается с таможней</a:t>
            </a:r>
            <a:endParaRPr lang="en-US" sz="1350" dirty="0"/>
          </a:p>
        </p:txBody>
      </p:sp>
      <p:sp>
        <p:nvSpPr>
          <p:cNvPr id="21" name="Text 19"/>
          <p:cNvSpPr txBox="1"/>
          <p:nvPr/>
        </p:nvSpPr>
        <p:spPr>
          <a:xfrm>
            <a:off x="8174736" y="4279392"/>
            <a:ext cx="3401568" cy="105156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Таможенная стоимость считается по ТК ЕАЭС и Соглашению ВТО, поэтому спор о стоимости — это спор о налоге.</a:t>
            </a:r>
            <a:endParaRPr lang="en-US" sz="1250" dirty="0"/>
          </a:p>
        </p:txBody>
      </p:sp>
      <p:sp>
        <p:nvSpPr>
          <p:cNvPr id="22" name="Text 20"/>
          <p:cNvSpPr txBox="1"/>
          <p:nvPr/>
        </p:nvSpPr>
        <p:spPr>
          <a:xfrm>
            <a:off x="8174736" y="5285232"/>
            <a:ext cx="3401568" cy="256032"/>
          </a:xfrm>
          <a:prstGeom prst="rect">
            <a:avLst/>
          </a:prstGeom>
          <a:noFill/>
          <a:ln/>
        </p:spPr>
        <p:txBody>
          <a:bodyPr wrap="square" lIns="0" tIns="0" rIns="0" bIns="0" rtlCol="0" anchor="ctr"/>
          <a:lstStyle/>
          <a:p>
            <a:pPr indent="0" marL="0">
              <a:buNone/>
            </a:pPr>
            <a:r>
              <a:rPr lang="en-US" sz="1050" b="1" dirty="0">
                <a:solidFill>
                  <a:srgbClr val="A34E1E"/>
                </a:solidFill>
                <a:latin typeface="Calibri" pitchFamily="34" charset="0"/>
                <a:ea typeface="Calibri" pitchFamily="34" charset="-122"/>
                <a:cs typeface="Calibri" pitchFamily="34" charset="-120"/>
              </a:rPr>
              <a:t>ст. 151, 160 НК РФ</a:t>
            </a:r>
            <a:endParaRPr lang="en-US" sz="1050" dirty="0"/>
          </a:p>
        </p:txBody>
      </p:sp>
      <p:sp>
        <p:nvSpPr>
          <p:cNvPr id="23" name="Shape 21"/>
          <p:cNvSpPr/>
          <p:nvPr/>
        </p:nvSpPr>
        <p:spPr>
          <a:xfrm>
            <a:off x="731520" y="5742432"/>
            <a:ext cx="10728655" cy="603504"/>
          </a:xfrm>
          <a:prstGeom prst="roundRect">
            <a:avLst>
              <a:gd name="adj" fmla="val 12121"/>
            </a:avLst>
          </a:prstGeom>
          <a:solidFill>
            <a:srgbClr val="0F3B34"/>
          </a:solidFill>
          <a:ln w="12700">
            <a:solidFill>
              <a:srgbClr val="0F3B34"/>
            </a:solidFill>
            <a:prstDash val="solid"/>
          </a:ln>
        </p:spPr>
      </p:sp>
      <p:sp>
        <p:nvSpPr>
          <p:cNvPr id="24" name="Text 22"/>
          <p:cNvSpPr txBox="1"/>
          <p:nvPr/>
        </p:nvSpPr>
        <p:spPr>
          <a:xfrm>
            <a:off x="1042416" y="5742432"/>
            <a:ext cx="10106863" cy="603504"/>
          </a:xfrm>
          <a:prstGeom prst="rect">
            <a:avLst/>
          </a:prstGeom>
          <a:noFill/>
          <a:ln/>
        </p:spPr>
        <p:txBody>
          <a:bodyPr wrap="square" lIns="0" tIns="0" rIns="0" bIns="0" rtlCol="0" anchor="ctr"/>
          <a:lstStyle/>
          <a:p>
            <a:pPr indent="0" marL="0">
              <a:buNone/>
            </a:pPr>
            <a:r>
              <a:rPr lang="en-US" sz="2000" b="1" dirty="0">
                <a:solidFill>
                  <a:srgbClr val="E08A4E"/>
                </a:solidFill>
                <a:latin typeface="Cambria" pitchFamily="34" charset="0"/>
                <a:ea typeface="Cambria" pitchFamily="34" charset="-122"/>
                <a:cs typeface="Cambria" pitchFamily="34" charset="-120"/>
              </a:rPr>
              <a:t>22%  </a:t>
            </a:r>
            <a:pPr indent="0" marL="0">
              <a:buNone/>
            </a:pPr>
            <a:r>
              <a:rPr lang="en-US" sz="1300" dirty="0">
                <a:solidFill>
                  <a:srgbClr val="FFFFFF"/>
                </a:solidFill>
                <a:latin typeface="Calibri" pitchFamily="34" charset="0"/>
                <a:ea typeface="Calibri" pitchFamily="34" charset="-122"/>
                <a:cs typeface="Calibri" pitchFamily="34" charset="-120"/>
              </a:rPr>
              <a:t>— основная ставка НДС с 1 января 2026 года (ФЗ от 28.11.2025 № 425-ФЗ). Нагрузка на импорт выросла напрямую.</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КОСВЕННЫЕ НАЛОГИ · 2</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ЕАЭС: границы нет — механизм другой</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Приложение № 18 к Договору о ЕАЭС. Таможня в цепочке не участвует, поэтому налог администрируют сами налоговые органы двух стран.</a:t>
            </a:r>
            <a:endParaRPr lang="en-US" sz="1450" dirty="0"/>
          </a:p>
        </p:txBody>
      </p:sp>
      <p:sp>
        <p:nvSpPr>
          <p:cNvPr id="5" name="Shape 3"/>
          <p:cNvSpPr/>
          <p:nvPr/>
        </p:nvSpPr>
        <p:spPr>
          <a:xfrm>
            <a:off x="731520" y="2267712"/>
            <a:ext cx="3401568" cy="2670048"/>
          </a:xfrm>
          <a:prstGeom prst="roundRect">
            <a:avLst>
              <a:gd name="adj" fmla="val 2740"/>
            </a:avLst>
          </a:prstGeom>
          <a:solidFill>
            <a:srgbClr val="F1F5F3"/>
          </a:solidFill>
          <a:ln w="12700">
            <a:solidFill>
              <a:srgbClr val="F1F5F3"/>
            </a:solidFill>
            <a:prstDash val="solid"/>
          </a:ln>
        </p:spPr>
      </p:sp>
      <p:sp>
        <p:nvSpPr>
          <p:cNvPr id="6" name="Shape 4"/>
          <p:cNvSpPr/>
          <p:nvPr/>
        </p:nvSpPr>
        <p:spPr>
          <a:xfrm>
            <a:off x="1042416" y="2578608"/>
            <a:ext cx="420624" cy="420624"/>
          </a:xfrm>
          <a:prstGeom prst="ellipse">
            <a:avLst/>
          </a:prstGeom>
          <a:solidFill>
            <a:srgbClr val="0F3B34"/>
          </a:solidFill>
          <a:ln w="12700">
            <a:solidFill>
              <a:srgbClr val="0F3B34"/>
            </a:solidFill>
            <a:prstDash val="solid"/>
          </a:ln>
        </p:spPr>
      </p:sp>
      <p:sp>
        <p:nvSpPr>
          <p:cNvPr id="7" name="Text 5"/>
          <p:cNvSpPr txBox="1"/>
          <p:nvPr/>
        </p:nvSpPr>
        <p:spPr>
          <a:xfrm>
            <a:off x="1042416" y="25786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8" name="Text 6"/>
          <p:cNvSpPr txBox="1"/>
          <p:nvPr/>
        </p:nvSpPr>
        <p:spPr>
          <a:xfrm>
            <a:off x="1042416" y="3127248"/>
            <a:ext cx="2779776" cy="694944"/>
          </a:xfrm>
          <a:prstGeom prst="rect">
            <a:avLst/>
          </a:prstGeom>
          <a:noFill/>
          <a:ln/>
        </p:spPr>
        <p:txBody>
          <a:bodyPr wrap="square" lIns="0" tIns="0" rIns="0" bIns="0" rtlCol="0" anchor="t"/>
          <a:lstStyle/>
          <a:p>
            <a:pPr indent="0" marL="0">
              <a:lnSpc>
                <a:spcPts val="2100"/>
              </a:lnSpc>
              <a:buNone/>
            </a:pPr>
            <a:r>
              <a:rPr lang="en-US" sz="1700" b="1" dirty="0">
                <a:solidFill>
                  <a:srgbClr val="0F3B34"/>
                </a:solidFill>
                <a:latin typeface="Cambria" pitchFamily="34" charset="0"/>
                <a:ea typeface="Cambria" pitchFamily="34" charset="-122"/>
                <a:cs typeface="Cambria" pitchFamily="34" charset="-120"/>
              </a:rPr>
              <a:t>Экспортёр применяет 0%</a:t>
            </a:r>
            <a:endParaRPr lang="en-US" sz="1700" dirty="0"/>
          </a:p>
        </p:txBody>
      </p:sp>
      <p:sp>
        <p:nvSpPr>
          <p:cNvPr id="9" name="Text 7"/>
          <p:cNvSpPr txBox="1"/>
          <p:nvPr/>
        </p:nvSpPr>
        <p:spPr>
          <a:xfrm>
            <a:off x="1042416" y="3858768"/>
            <a:ext cx="2779776" cy="96012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Страна А освобождает товар от своего НДС, как при обычном экспорте.</a:t>
            </a:r>
            <a:endParaRPr lang="en-US" sz="1250" dirty="0"/>
          </a:p>
        </p:txBody>
      </p:sp>
      <p:sp>
        <p:nvSpPr>
          <p:cNvPr id="10" name="Shape 8"/>
          <p:cNvSpPr/>
          <p:nvPr/>
        </p:nvSpPr>
        <p:spPr>
          <a:xfrm>
            <a:off x="4187952" y="3364992"/>
            <a:ext cx="210312" cy="201168"/>
          </a:xfrm>
          <a:prstGeom prst="rightArrow">
            <a:avLst/>
          </a:prstGeom>
          <a:solidFill>
            <a:srgbClr val="C8642B"/>
          </a:solidFill>
          <a:ln w="12700">
            <a:solidFill>
              <a:srgbClr val="C8642B"/>
            </a:solidFill>
            <a:prstDash val="solid"/>
          </a:ln>
        </p:spPr>
      </p:sp>
      <p:sp>
        <p:nvSpPr>
          <p:cNvPr id="11" name="Shape 9"/>
          <p:cNvSpPr/>
          <p:nvPr/>
        </p:nvSpPr>
        <p:spPr>
          <a:xfrm>
            <a:off x="4453128" y="2267712"/>
            <a:ext cx="3401568" cy="2670048"/>
          </a:xfrm>
          <a:prstGeom prst="roundRect">
            <a:avLst>
              <a:gd name="adj" fmla="val 2740"/>
            </a:avLst>
          </a:prstGeom>
          <a:solidFill>
            <a:srgbClr val="F1F5F3"/>
          </a:solidFill>
          <a:ln w="12700">
            <a:solidFill>
              <a:srgbClr val="F1F5F3"/>
            </a:solidFill>
            <a:prstDash val="solid"/>
          </a:ln>
        </p:spPr>
      </p:sp>
      <p:sp>
        <p:nvSpPr>
          <p:cNvPr id="12" name="Shape 10"/>
          <p:cNvSpPr/>
          <p:nvPr/>
        </p:nvSpPr>
        <p:spPr>
          <a:xfrm>
            <a:off x="4764024" y="2578608"/>
            <a:ext cx="420624" cy="420624"/>
          </a:xfrm>
          <a:prstGeom prst="ellipse">
            <a:avLst/>
          </a:prstGeom>
          <a:solidFill>
            <a:srgbClr val="0F3B34"/>
          </a:solidFill>
          <a:ln w="12700">
            <a:solidFill>
              <a:srgbClr val="0F3B34"/>
            </a:solidFill>
            <a:prstDash val="solid"/>
          </a:ln>
        </p:spPr>
      </p:sp>
      <p:sp>
        <p:nvSpPr>
          <p:cNvPr id="13" name="Text 11"/>
          <p:cNvSpPr txBox="1"/>
          <p:nvPr/>
        </p:nvSpPr>
        <p:spPr>
          <a:xfrm>
            <a:off x="4764024" y="25786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txBox="1"/>
          <p:nvPr/>
        </p:nvSpPr>
        <p:spPr>
          <a:xfrm>
            <a:off x="4764024" y="3127248"/>
            <a:ext cx="2779776" cy="694944"/>
          </a:xfrm>
          <a:prstGeom prst="rect">
            <a:avLst/>
          </a:prstGeom>
          <a:noFill/>
          <a:ln/>
        </p:spPr>
        <p:txBody>
          <a:bodyPr wrap="square" lIns="0" tIns="0" rIns="0" bIns="0" rtlCol="0" anchor="t"/>
          <a:lstStyle/>
          <a:p>
            <a:pPr indent="0" marL="0">
              <a:lnSpc>
                <a:spcPts val="2100"/>
              </a:lnSpc>
              <a:buNone/>
            </a:pPr>
            <a:r>
              <a:rPr lang="en-US" sz="1700" b="1" dirty="0">
                <a:solidFill>
                  <a:srgbClr val="0F3B34"/>
                </a:solidFill>
                <a:latin typeface="Cambria" pitchFamily="34" charset="0"/>
                <a:ea typeface="Cambria" pitchFamily="34" charset="-122"/>
                <a:cs typeface="Cambria" pitchFamily="34" charset="-120"/>
              </a:rPr>
              <a:t>Импортёр платит сам</a:t>
            </a:r>
            <a:endParaRPr lang="en-US" sz="1700" dirty="0"/>
          </a:p>
        </p:txBody>
      </p:sp>
      <p:sp>
        <p:nvSpPr>
          <p:cNvPr id="15" name="Text 13"/>
          <p:cNvSpPr txBox="1"/>
          <p:nvPr/>
        </p:nvSpPr>
        <p:spPr>
          <a:xfrm>
            <a:off x="4764024" y="3858768"/>
            <a:ext cx="2779776" cy="96012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Страна Б: покупатель исчисляет НДС и платит его в свой налоговый орган до 20-го числа следующего месяца.</a:t>
            </a:r>
            <a:endParaRPr lang="en-US" sz="1250" dirty="0"/>
          </a:p>
        </p:txBody>
      </p:sp>
      <p:sp>
        <p:nvSpPr>
          <p:cNvPr id="16" name="Shape 14"/>
          <p:cNvSpPr/>
          <p:nvPr/>
        </p:nvSpPr>
        <p:spPr>
          <a:xfrm>
            <a:off x="7909560" y="3364992"/>
            <a:ext cx="210312" cy="201168"/>
          </a:xfrm>
          <a:prstGeom prst="rightArrow">
            <a:avLst/>
          </a:prstGeom>
          <a:solidFill>
            <a:srgbClr val="C8642B"/>
          </a:solidFill>
          <a:ln w="12700">
            <a:solidFill>
              <a:srgbClr val="C8642B"/>
            </a:solidFill>
            <a:prstDash val="solid"/>
          </a:ln>
        </p:spPr>
      </p:sp>
      <p:sp>
        <p:nvSpPr>
          <p:cNvPr id="17" name="Shape 15"/>
          <p:cNvSpPr/>
          <p:nvPr/>
        </p:nvSpPr>
        <p:spPr>
          <a:xfrm>
            <a:off x="8174736" y="2267712"/>
            <a:ext cx="3401568" cy="2670048"/>
          </a:xfrm>
          <a:prstGeom prst="roundRect">
            <a:avLst>
              <a:gd name="adj" fmla="val 2740"/>
            </a:avLst>
          </a:prstGeom>
          <a:solidFill>
            <a:srgbClr val="F1F5F3"/>
          </a:solidFill>
          <a:ln w="12700">
            <a:solidFill>
              <a:srgbClr val="F1F5F3"/>
            </a:solidFill>
            <a:prstDash val="solid"/>
          </a:ln>
        </p:spPr>
      </p:sp>
      <p:sp>
        <p:nvSpPr>
          <p:cNvPr id="18" name="Shape 16"/>
          <p:cNvSpPr/>
          <p:nvPr/>
        </p:nvSpPr>
        <p:spPr>
          <a:xfrm>
            <a:off x="8485632" y="2578608"/>
            <a:ext cx="420624" cy="420624"/>
          </a:xfrm>
          <a:prstGeom prst="ellipse">
            <a:avLst/>
          </a:prstGeom>
          <a:solidFill>
            <a:srgbClr val="0F3B34"/>
          </a:solidFill>
          <a:ln w="12700">
            <a:solidFill>
              <a:srgbClr val="0F3B34"/>
            </a:solidFill>
            <a:prstDash val="solid"/>
          </a:ln>
        </p:spPr>
      </p:sp>
      <p:sp>
        <p:nvSpPr>
          <p:cNvPr id="19" name="Text 17"/>
          <p:cNvSpPr txBox="1"/>
          <p:nvPr/>
        </p:nvSpPr>
        <p:spPr>
          <a:xfrm>
            <a:off x="8485632" y="25786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20" name="Text 18"/>
          <p:cNvSpPr txBox="1"/>
          <p:nvPr/>
        </p:nvSpPr>
        <p:spPr>
          <a:xfrm>
            <a:off x="8485632" y="3127248"/>
            <a:ext cx="2779776" cy="694944"/>
          </a:xfrm>
          <a:prstGeom prst="rect">
            <a:avLst/>
          </a:prstGeom>
          <a:noFill/>
          <a:ln/>
        </p:spPr>
        <p:txBody>
          <a:bodyPr wrap="square" lIns="0" tIns="0" rIns="0" bIns="0" rtlCol="0" anchor="t"/>
          <a:lstStyle/>
          <a:p>
            <a:pPr indent="0" marL="0">
              <a:lnSpc>
                <a:spcPts val="2100"/>
              </a:lnSpc>
              <a:buNone/>
            </a:pPr>
            <a:r>
              <a:rPr lang="en-US" sz="1700" b="1" dirty="0">
                <a:solidFill>
                  <a:srgbClr val="0F3B34"/>
                </a:solidFill>
                <a:latin typeface="Cambria" pitchFamily="34" charset="0"/>
                <a:ea typeface="Cambria" pitchFamily="34" charset="-122"/>
                <a:cs typeface="Cambria" pitchFamily="34" charset="-120"/>
              </a:rPr>
              <a:t>Заявление возвращается</a:t>
            </a:r>
            <a:endParaRPr lang="en-US" sz="1700" dirty="0"/>
          </a:p>
        </p:txBody>
      </p:sp>
      <p:sp>
        <p:nvSpPr>
          <p:cNvPr id="21" name="Text 19"/>
          <p:cNvSpPr txBox="1"/>
          <p:nvPr/>
        </p:nvSpPr>
        <p:spPr>
          <a:xfrm>
            <a:off x="8485632" y="3858768"/>
            <a:ext cx="2779776" cy="96012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Заявление о ввозе с отметкой налогового органа уходит экспортёру — это его единственное доказательство нулевой ставки.</a:t>
            </a:r>
            <a:endParaRPr lang="en-US" sz="1250" dirty="0"/>
          </a:p>
        </p:txBody>
      </p:sp>
      <p:sp>
        <p:nvSpPr>
          <p:cNvPr id="22" name="Shape 20"/>
          <p:cNvSpPr/>
          <p:nvPr/>
        </p:nvSpPr>
        <p:spPr>
          <a:xfrm>
            <a:off x="731520" y="5193792"/>
            <a:ext cx="10728655" cy="1170432"/>
          </a:xfrm>
          <a:prstGeom prst="roundRect">
            <a:avLst>
              <a:gd name="adj" fmla="val 6250"/>
            </a:avLst>
          </a:prstGeom>
          <a:solidFill>
            <a:srgbClr val="FBF4EF"/>
          </a:solidFill>
          <a:ln w="12700">
            <a:solidFill>
              <a:srgbClr val="FBF4EF"/>
            </a:solidFill>
            <a:prstDash val="solid"/>
          </a:ln>
        </p:spPr>
      </p:sp>
      <p:sp>
        <p:nvSpPr>
          <p:cNvPr id="23" name="Shape 21"/>
          <p:cNvSpPr/>
          <p:nvPr/>
        </p:nvSpPr>
        <p:spPr>
          <a:xfrm>
            <a:off x="1060704" y="5449824"/>
            <a:ext cx="402336" cy="402336"/>
          </a:xfrm>
          <a:prstGeom prst="ellipse">
            <a:avLst/>
          </a:prstGeom>
          <a:solidFill>
            <a:srgbClr val="C8642B"/>
          </a:solidFill>
          <a:ln w="12700">
            <a:solidFill>
              <a:srgbClr val="C8642B"/>
            </a:solidFill>
            <a:prstDash val="solid"/>
          </a:ln>
        </p:spPr>
      </p:sp>
      <p:sp>
        <p:nvSpPr>
          <p:cNvPr id="24" name="Text 22"/>
          <p:cNvSpPr txBox="1"/>
          <p:nvPr/>
        </p:nvSpPr>
        <p:spPr>
          <a:xfrm>
            <a:off x="1060704"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5" name="Text 23"/>
          <p:cNvSpPr txBox="1"/>
          <p:nvPr/>
        </p:nvSpPr>
        <p:spPr>
          <a:xfrm>
            <a:off x="1664208" y="5413248"/>
            <a:ext cx="9692640" cy="292608"/>
          </a:xfrm>
          <a:prstGeom prst="rect">
            <a:avLst/>
          </a:prstGeom>
          <a:noFill/>
          <a:ln/>
        </p:spPr>
        <p:txBody>
          <a:bodyPr wrap="square" lIns="0" tIns="0" rIns="0" bIns="0" rtlCol="0" anchor="ctr"/>
          <a:lstStyle/>
          <a:p>
            <a:pPr indent="0" marL="0">
              <a:buNone/>
            </a:pPr>
            <a:r>
              <a:rPr lang="en-US" sz="1350" b="1" dirty="0">
                <a:solidFill>
                  <a:srgbClr val="A34E1E"/>
                </a:solidFill>
                <a:latin typeface="Calibri" pitchFamily="34" charset="0"/>
                <a:ea typeface="Calibri" pitchFamily="34" charset="-122"/>
                <a:cs typeface="Calibri" pitchFamily="34" charset="-120"/>
              </a:rPr>
              <a:t>Уязвимость конструкции</a:t>
            </a:r>
            <a:endParaRPr lang="en-US" sz="1350" dirty="0"/>
          </a:p>
        </p:txBody>
      </p:sp>
      <p:sp>
        <p:nvSpPr>
          <p:cNvPr id="26" name="Text 24"/>
          <p:cNvSpPr txBox="1"/>
          <p:nvPr/>
        </p:nvSpPr>
        <p:spPr>
          <a:xfrm>
            <a:off x="1664208" y="5724144"/>
            <a:ext cx="9692640" cy="548640"/>
          </a:xfrm>
          <a:prstGeom prst="rect">
            <a:avLst/>
          </a:prstGeom>
          <a:noFill/>
          <a:ln/>
        </p:spPr>
        <p:txBody>
          <a:bodyPr wrap="square" lIns="0" tIns="0" rIns="0" bIns="0" rtlCol="0" anchor="ctr"/>
          <a:lstStyle/>
          <a:p>
            <a:pPr indent="0" marL="0">
              <a:lnSpc>
                <a:spcPts val="1900"/>
              </a:lnSpc>
              <a:buNone/>
            </a:pPr>
            <a:r>
              <a:rPr lang="en-US" sz="1300" dirty="0">
                <a:solidFill>
                  <a:srgbClr val="17211F"/>
                </a:solidFill>
                <a:latin typeface="Calibri" pitchFamily="34" charset="0"/>
                <a:ea typeface="Calibri" pitchFamily="34" charset="-122"/>
                <a:cs typeface="Calibri" pitchFamily="34" charset="-120"/>
              </a:rPr>
              <a:t>Право экспортёра на нулевую ставку обеспечивается административным действием органа другой страны: нет отметки на заявлении — нет и подтверждения, хотя товар вывезен и налог покупателем уплачен.</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3B34"/>
        </a:solidFill>
      </p:bgPr>
    </p:bg>
    <p:spTree>
      <p:nvGrpSpPr>
        <p:cNvPr id="1" name=""/>
        <p:cNvGrpSpPr/>
        <p:nvPr/>
      </p:nvGrpSpPr>
      <p:grpSpPr>
        <a:xfrm>
          <a:off x="0" y="0"/>
          <a:ext cx="0" cy="0"/>
          <a:chOff x="0" y="0"/>
          <a:chExt cx="0" cy="0"/>
        </a:xfrm>
      </p:grpSpPr>
      <p:sp>
        <p:nvSpPr>
          <p:cNvPr id="2" name="Shape 0"/>
          <p:cNvSpPr/>
          <p:nvPr/>
        </p:nvSpPr>
        <p:spPr>
          <a:xfrm>
            <a:off x="10424160" y="-914400"/>
            <a:ext cx="4023360" cy="4023360"/>
          </a:xfrm>
          <a:prstGeom prst="ellipse">
            <a:avLst/>
          </a:prstGeom>
          <a:solidFill>
            <a:srgbClr val="0F3B34">
              <a:alpha val="0"/>
            </a:srgbClr>
          </a:solidFill>
          <a:ln w="15875">
            <a:solidFill>
              <a:srgbClr val="1C5A4F"/>
            </a:solidFill>
            <a:prstDash val="solid"/>
          </a:ln>
        </p:spPr>
      </p:sp>
      <p:sp>
        <p:nvSpPr>
          <p:cNvPr id="3" name="Text 1"/>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9FBDB3"/>
                </a:solidFill>
                <a:latin typeface="Calibri" pitchFamily="34" charset="0"/>
                <a:ea typeface="Calibri" pitchFamily="34" charset="-122"/>
                <a:cs typeface="Calibri" pitchFamily="34" charset="-120"/>
              </a:rPr>
              <a:t>КОСВЕННЫЕ НАЛОГИ · 3</a:t>
            </a:r>
            <a:endParaRPr lang="en-US" sz="1100" dirty="0"/>
          </a:p>
        </p:txBody>
      </p:sp>
      <p:sp>
        <p:nvSpPr>
          <p:cNvPr id="4" name="Text 2"/>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Цифровая торговля сломала обе предпосылки</a:t>
            </a:r>
            <a:endParaRPr lang="en-US" sz="3200" dirty="0"/>
          </a:p>
        </p:txBody>
      </p:sp>
      <p:sp>
        <p:nvSpPr>
          <p:cNvPr id="5" name="Shape 3"/>
          <p:cNvSpPr/>
          <p:nvPr/>
        </p:nvSpPr>
        <p:spPr>
          <a:xfrm>
            <a:off x="731520" y="1965960"/>
            <a:ext cx="4114800" cy="2788920"/>
          </a:xfrm>
          <a:prstGeom prst="roundRect">
            <a:avLst>
              <a:gd name="adj" fmla="val 2623"/>
            </a:avLst>
          </a:prstGeom>
          <a:solidFill>
            <a:srgbClr val="0A2A25"/>
          </a:solidFill>
          <a:ln w="12700">
            <a:solidFill>
              <a:srgbClr val="0A2A25"/>
            </a:solidFill>
            <a:prstDash val="solid"/>
          </a:ln>
        </p:spPr>
      </p:sp>
      <p:sp>
        <p:nvSpPr>
          <p:cNvPr id="6" name="Text 4"/>
          <p:cNvSpPr txBox="1"/>
          <p:nvPr/>
        </p:nvSpPr>
        <p:spPr>
          <a:xfrm>
            <a:off x="1042416" y="2240280"/>
            <a:ext cx="3493008" cy="868680"/>
          </a:xfrm>
          <a:prstGeom prst="rect">
            <a:avLst/>
          </a:prstGeom>
          <a:noFill/>
          <a:ln/>
        </p:spPr>
        <p:txBody>
          <a:bodyPr wrap="square" lIns="0" tIns="0" rIns="0" bIns="0" rtlCol="0" anchor="ctr"/>
          <a:lstStyle/>
          <a:p>
            <a:pPr indent="0" marL="0">
              <a:lnSpc>
                <a:spcPts val="1800"/>
              </a:lnSpc>
              <a:buNone/>
            </a:pPr>
            <a:r>
              <a:rPr lang="en-US" sz="1300" dirty="0">
                <a:solidFill>
                  <a:srgbClr val="9FBDB3"/>
                </a:solidFill>
                <a:latin typeface="Calibri" pitchFamily="34" charset="0"/>
                <a:ea typeface="Calibri" pitchFamily="34" charset="-122"/>
                <a:cs typeface="Calibri" pitchFamily="34" charset="-120"/>
              </a:rPr>
              <a:t>Классические правила рассчитаны на товар, который пересекает границу и предъявляется таможне</a:t>
            </a:r>
            <a:endParaRPr lang="en-US" sz="1300" dirty="0"/>
          </a:p>
        </p:txBody>
      </p:sp>
      <p:sp>
        <p:nvSpPr>
          <p:cNvPr id="7" name="Text 5"/>
          <p:cNvSpPr txBox="1"/>
          <p:nvPr/>
        </p:nvSpPr>
        <p:spPr>
          <a:xfrm>
            <a:off x="1042416" y="3200400"/>
            <a:ext cx="3493008" cy="1371600"/>
          </a:xfrm>
          <a:prstGeom prst="rect">
            <a:avLst/>
          </a:prstGeom>
          <a:noFill/>
          <a:ln/>
        </p:spPr>
        <p:txBody>
          <a:bodyPr wrap="square" lIns="0" tIns="0" rIns="0" bIns="0" rtlCol="0" anchor="ctr"/>
          <a:lstStyle/>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Услуга</a:t>
            </a:r>
            <a:pPr indent="0" marL="0">
              <a:lnSpc>
                <a:spcPts val="1900"/>
              </a:lnSpc>
              <a:buNone/>
            </a:pPr>
            <a:r>
              <a:rPr lang="en-US" sz="1300" dirty="0">
                <a:solidFill>
                  <a:srgbClr val="FFFFFF"/>
                </a:solidFill>
                <a:latin typeface="Calibri" pitchFamily="34" charset="0"/>
                <a:ea typeface="Calibri" pitchFamily="34" charset="-122"/>
                <a:cs typeface="Calibri" pitchFamily="34" charset="-120"/>
              </a:rPr>
              <a:t> границу не пересекает вовсе</a:t>
            </a:r>
            <a:endParaRPr lang="en-US" sz="1600" dirty="0"/>
          </a:p>
          <a:p>
            <a:pPr indent="0" marL="0">
              <a:lnSpc>
                <a:spcPts val="1900"/>
              </a:lnSpc>
              <a:buNone/>
            </a:pPr>
            <a:r>
              <a:rPr lang="en-US" sz="1600" b="1" dirty="0">
                <a:solidFill>
                  <a:srgbClr val="FFFFFF"/>
                </a:solidFill>
                <a:latin typeface="Cambria" pitchFamily="34" charset="0"/>
                <a:ea typeface="Cambria" pitchFamily="34" charset="-122"/>
                <a:cs typeface="Cambria" pitchFamily="34" charset="-120"/>
              </a:rPr>
              <a:t>Товар</a:t>
            </a:r>
            <a:pPr indent="0" marL="0">
              <a:lnSpc>
                <a:spcPts val="1900"/>
              </a:lnSpc>
              <a:buNone/>
            </a:pPr>
            <a:r>
              <a:rPr lang="en-US" sz="1300" dirty="0">
                <a:solidFill>
                  <a:srgbClr val="FFFFFF"/>
                </a:solidFill>
                <a:latin typeface="Calibri" pitchFamily="34" charset="0"/>
                <a:ea typeface="Calibri" pitchFamily="34" charset="-122"/>
                <a:cs typeface="Calibri" pitchFamily="34" charset="-120"/>
              </a:rPr>
              <a:t> идёт миллионами мелких посылок, которые нельзя администрировать поштучно</a:t>
            </a:r>
            <a:endParaRPr lang="en-US" sz="1600" dirty="0"/>
          </a:p>
        </p:txBody>
      </p:sp>
      <p:sp>
        <p:nvSpPr>
          <p:cNvPr id="8" name="Shape 6"/>
          <p:cNvSpPr/>
          <p:nvPr/>
        </p:nvSpPr>
        <p:spPr>
          <a:xfrm>
            <a:off x="5166360" y="2002536"/>
            <a:ext cx="402336" cy="402336"/>
          </a:xfrm>
          <a:prstGeom prst="ellipse">
            <a:avLst/>
          </a:prstGeom>
          <a:solidFill>
            <a:srgbClr val="E08A4E"/>
          </a:solidFill>
          <a:ln w="12700">
            <a:solidFill>
              <a:srgbClr val="E08A4E"/>
            </a:solidFill>
            <a:prstDash val="solid"/>
          </a:ln>
        </p:spPr>
      </p:sp>
      <p:sp>
        <p:nvSpPr>
          <p:cNvPr id="9" name="Text 7"/>
          <p:cNvSpPr txBox="1"/>
          <p:nvPr/>
        </p:nvSpPr>
        <p:spPr>
          <a:xfrm>
            <a:off x="5166360" y="2002536"/>
            <a:ext cx="402336" cy="402336"/>
          </a:xfrm>
          <a:prstGeom prst="rect">
            <a:avLst/>
          </a:prstGeom>
          <a:noFill/>
          <a:ln/>
        </p:spPr>
        <p:txBody>
          <a:bodyPr wrap="square" lIns="0" tIns="0" rIns="0" bIns="0" rtlCol="0" anchor="ctr"/>
          <a:lstStyle/>
          <a:p>
            <a:pPr algn="ctr" indent="0" marL="0">
              <a:buNone/>
            </a:pPr>
            <a:r>
              <a:rPr lang="en-US" sz="1250" b="1" dirty="0">
                <a:solidFill>
                  <a:srgbClr val="0F3B34"/>
                </a:solidFill>
                <a:latin typeface="Calibri" pitchFamily="34" charset="0"/>
                <a:ea typeface="Calibri" pitchFamily="34" charset="-122"/>
                <a:cs typeface="Calibri" pitchFamily="34" charset="-120"/>
              </a:rPr>
              <a:t>01</a:t>
            </a:r>
            <a:endParaRPr lang="en-US" sz="1250" dirty="0"/>
          </a:p>
        </p:txBody>
      </p:sp>
      <p:sp>
        <p:nvSpPr>
          <p:cNvPr id="10" name="Text 8"/>
          <p:cNvSpPr txBox="1"/>
          <p:nvPr/>
        </p:nvSpPr>
        <p:spPr>
          <a:xfrm>
            <a:off x="5769864" y="1965960"/>
            <a:ext cx="5690311"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Место реализации — страна покупателя</a:t>
            </a:r>
            <a:endParaRPr lang="en-US" sz="1700" dirty="0"/>
          </a:p>
        </p:txBody>
      </p:sp>
      <p:sp>
        <p:nvSpPr>
          <p:cNvPr id="11" name="Text 9"/>
          <p:cNvSpPr txBox="1"/>
          <p:nvPr/>
        </p:nvSpPr>
        <p:spPr>
          <a:xfrm>
            <a:off x="5769864" y="2258568"/>
            <a:ext cx="5690311" cy="256032"/>
          </a:xfrm>
          <a:prstGeom prst="rect">
            <a:avLst/>
          </a:prstGeom>
          <a:noFill/>
          <a:ln/>
        </p:spPr>
        <p:txBody>
          <a:bodyPr wrap="square" lIns="0" tIns="0" rIns="0" bIns="0" rtlCol="0" anchor="ctr"/>
          <a:lstStyle/>
          <a:p>
            <a:pPr indent="0" marL="0">
              <a:buNone/>
            </a:pPr>
            <a:r>
              <a:rPr lang="en-US" sz="1250" dirty="0">
                <a:solidFill>
                  <a:srgbClr val="9FBDB3"/>
                </a:solidFill>
                <a:latin typeface="Calibri" pitchFamily="34" charset="0"/>
                <a:ea typeface="Calibri" pitchFamily="34" charset="-122"/>
                <a:cs typeface="Calibri" pitchFamily="34" charset="-120"/>
              </a:rPr>
              <a:t>Иностранный поставщик встаёт на учёт в налоговом органе страны потребления.</a:t>
            </a:r>
            <a:endParaRPr lang="en-US" sz="1250" dirty="0"/>
          </a:p>
        </p:txBody>
      </p:sp>
      <p:sp>
        <p:nvSpPr>
          <p:cNvPr id="12" name="Text 10"/>
          <p:cNvSpPr txBox="1"/>
          <p:nvPr/>
        </p:nvSpPr>
        <p:spPr>
          <a:xfrm>
            <a:off x="5769864" y="2514600"/>
            <a:ext cx="5690311" cy="256032"/>
          </a:xfrm>
          <a:prstGeom prst="rect">
            <a:avLst/>
          </a:prstGeom>
          <a:noFill/>
          <a:ln/>
        </p:spPr>
        <p:txBody>
          <a:bodyPr wrap="square" lIns="0" tIns="0" rIns="0" bIns="0" rtlCol="0" anchor="ctr"/>
          <a:lstStyle/>
          <a:p>
            <a:pPr indent="0" marL="0">
              <a:buNone/>
            </a:pPr>
            <a:r>
              <a:rPr lang="en-US" sz="1100" b="1" dirty="0">
                <a:solidFill>
                  <a:srgbClr val="E08A4E"/>
                </a:solidFill>
                <a:latin typeface="Calibri" pitchFamily="34" charset="0"/>
                <a:ea typeface="Calibri" pitchFamily="34" charset="-122"/>
                <a:cs typeface="Calibri" pitchFamily="34" charset="-120"/>
              </a:rPr>
              <a:t>ст. 174.2 НК РФ, с 2017 · B2B через налогового агента с октября 2022</a:t>
            </a:r>
            <a:endParaRPr lang="en-US" sz="1100" dirty="0"/>
          </a:p>
        </p:txBody>
      </p:sp>
      <p:sp>
        <p:nvSpPr>
          <p:cNvPr id="13" name="Shape 11"/>
          <p:cNvSpPr/>
          <p:nvPr/>
        </p:nvSpPr>
        <p:spPr>
          <a:xfrm>
            <a:off x="5166360" y="2990088"/>
            <a:ext cx="402336" cy="402336"/>
          </a:xfrm>
          <a:prstGeom prst="ellipse">
            <a:avLst/>
          </a:prstGeom>
          <a:solidFill>
            <a:srgbClr val="E08A4E"/>
          </a:solidFill>
          <a:ln w="12700">
            <a:solidFill>
              <a:srgbClr val="E08A4E"/>
            </a:solidFill>
            <a:prstDash val="solid"/>
          </a:ln>
        </p:spPr>
      </p:sp>
      <p:sp>
        <p:nvSpPr>
          <p:cNvPr id="14" name="Text 12"/>
          <p:cNvSpPr txBox="1"/>
          <p:nvPr/>
        </p:nvSpPr>
        <p:spPr>
          <a:xfrm>
            <a:off x="5166360" y="2990088"/>
            <a:ext cx="402336" cy="402336"/>
          </a:xfrm>
          <a:prstGeom prst="rect">
            <a:avLst/>
          </a:prstGeom>
          <a:noFill/>
          <a:ln/>
        </p:spPr>
        <p:txBody>
          <a:bodyPr wrap="square" lIns="0" tIns="0" rIns="0" bIns="0" rtlCol="0" anchor="ctr"/>
          <a:lstStyle/>
          <a:p>
            <a:pPr algn="ctr" indent="0" marL="0">
              <a:buNone/>
            </a:pPr>
            <a:r>
              <a:rPr lang="en-US" sz="1250" b="1" dirty="0">
                <a:solidFill>
                  <a:srgbClr val="0F3B34"/>
                </a:solidFill>
                <a:latin typeface="Calibri" pitchFamily="34" charset="0"/>
                <a:ea typeface="Calibri" pitchFamily="34" charset="-122"/>
                <a:cs typeface="Calibri" pitchFamily="34" charset="-120"/>
              </a:rPr>
              <a:t>02</a:t>
            </a:r>
            <a:endParaRPr lang="en-US" sz="1250" dirty="0"/>
          </a:p>
        </p:txBody>
      </p:sp>
      <p:sp>
        <p:nvSpPr>
          <p:cNvPr id="15" name="Text 13"/>
          <p:cNvSpPr txBox="1"/>
          <p:nvPr/>
        </p:nvSpPr>
        <p:spPr>
          <a:xfrm>
            <a:off x="5769864" y="2953512"/>
            <a:ext cx="5690311"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Обязанность переносится на платформу</a:t>
            </a:r>
            <a:endParaRPr lang="en-US" sz="1700" dirty="0"/>
          </a:p>
        </p:txBody>
      </p:sp>
      <p:sp>
        <p:nvSpPr>
          <p:cNvPr id="16" name="Text 14"/>
          <p:cNvSpPr txBox="1"/>
          <p:nvPr/>
        </p:nvSpPr>
        <p:spPr>
          <a:xfrm>
            <a:off x="5769864" y="3246120"/>
            <a:ext cx="5690311" cy="256032"/>
          </a:xfrm>
          <a:prstGeom prst="rect">
            <a:avLst/>
          </a:prstGeom>
          <a:noFill/>
          <a:ln/>
        </p:spPr>
        <p:txBody>
          <a:bodyPr wrap="square" lIns="0" tIns="0" rIns="0" bIns="0" rtlCol="0" anchor="ctr"/>
          <a:lstStyle/>
          <a:p>
            <a:pPr indent="0" marL="0">
              <a:buNone/>
            </a:pPr>
            <a:r>
              <a:rPr lang="en-US" sz="1250" dirty="0">
                <a:solidFill>
                  <a:srgbClr val="9FBDB3"/>
                </a:solidFill>
                <a:latin typeface="Calibri" pitchFamily="34" charset="0"/>
                <a:ea typeface="Calibri" pitchFamily="34" charset="-122"/>
                <a:cs typeface="Calibri" pitchFamily="34" charset="-120"/>
              </a:rPr>
              <a:t>Не тысячи продавцов, а один маркетплейс: он и считает, и платит налог.</a:t>
            </a:r>
            <a:endParaRPr lang="en-US" sz="1250" dirty="0"/>
          </a:p>
        </p:txBody>
      </p:sp>
      <p:sp>
        <p:nvSpPr>
          <p:cNvPr id="17" name="Text 15"/>
          <p:cNvSpPr txBox="1"/>
          <p:nvPr/>
        </p:nvSpPr>
        <p:spPr>
          <a:xfrm>
            <a:off x="5769864" y="3502152"/>
            <a:ext cx="5690311" cy="256032"/>
          </a:xfrm>
          <a:prstGeom prst="rect">
            <a:avLst/>
          </a:prstGeom>
          <a:noFill/>
          <a:ln/>
        </p:spPr>
        <p:txBody>
          <a:bodyPr wrap="square" lIns="0" tIns="0" rIns="0" bIns="0" rtlCol="0" anchor="ctr"/>
          <a:lstStyle/>
          <a:p>
            <a:pPr indent="0" marL="0">
              <a:buNone/>
            </a:pPr>
            <a:r>
              <a:rPr lang="en-US" sz="1100" b="1" dirty="0">
                <a:solidFill>
                  <a:srgbClr val="E08A4E"/>
                </a:solidFill>
                <a:latin typeface="Calibri" pitchFamily="34" charset="0"/>
                <a:ea typeface="Calibri" pitchFamily="34" charset="-122"/>
                <a:cs typeface="Calibri" pitchFamily="34" charset="-120"/>
              </a:rPr>
              <a:t>ст. 174.3 НК РФ с 01.07.2024 (ФЗ № 100-ФЗ) · режим OSS/IOSS в ЕС с 01.07.2021</a:t>
            </a:r>
            <a:endParaRPr lang="en-US" sz="1100" dirty="0"/>
          </a:p>
        </p:txBody>
      </p:sp>
      <p:sp>
        <p:nvSpPr>
          <p:cNvPr id="18" name="Shape 16"/>
          <p:cNvSpPr/>
          <p:nvPr/>
        </p:nvSpPr>
        <p:spPr>
          <a:xfrm>
            <a:off x="5166360" y="3977640"/>
            <a:ext cx="402336" cy="402336"/>
          </a:xfrm>
          <a:prstGeom prst="ellipse">
            <a:avLst/>
          </a:prstGeom>
          <a:solidFill>
            <a:srgbClr val="E08A4E"/>
          </a:solidFill>
          <a:ln w="12700">
            <a:solidFill>
              <a:srgbClr val="E08A4E"/>
            </a:solidFill>
            <a:prstDash val="solid"/>
          </a:ln>
        </p:spPr>
      </p:sp>
      <p:sp>
        <p:nvSpPr>
          <p:cNvPr id="19" name="Text 17"/>
          <p:cNvSpPr txBox="1"/>
          <p:nvPr/>
        </p:nvSpPr>
        <p:spPr>
          <a:xfrm>
            <a:off x="5166360" y="3977640"/>
            <a:ext cx="402336" cy="402336"/>
          </a:xfrm>
          <a:prstGeom prst="rect">
            <a:avLst/>
          </a:prstGeom>
          <a:noFill/>
          <a:ln/>
        </p:spPr>
        <p:txBody>
          <a:bodyPr wrap="square" lIns="0" tIns="0" rIns="0" bIns="0" rtlCol="0" anchor="ctr"/>
          <a:lstStyle/>
          <a:p>
            <a:pPr algn="ctr" indent="0" marL="0">
              <a:buNone/>
            </a:pPr>
            <a:r>
              <a:rPr lang="en-US" sz="1250" b="1" dirty="0">
                <a:solidFill>
                  <a:srgbClr val="0F3B34"/>
                </a:solidFill>
                <a:latin typeface="Calibri" pitchFamily="34" charset="0"/>
                <a:ea typeface="Calibri" pitchFamily="34" charset="-122"/>
                <a:cs typeface="Calibri" pitchFamily="34" charset="-120"/>
              </a:rPr>
              <a:t>03</a:t>
            </a:r>
            <a:endParaRPr lang="en-US" sz="1250" dirty="0"/>
          </a:p>
        </p:txBody>
      </p:sp>
      <p:sp>
        <p:nvSpPr>
          <p:cNvPr id="20" name="Text 18"/>
          <p:cNvSpPr txBox="1"/>
          <p:nvPr/>
        </p:nvSpPr>
        <p:spPr>
          <a:xfrm>
            <a:off x="5769864" y="3941064"/>
            <a:ext cx="5690311"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Пересмотр беспошлинных порогов</a:t>
            </a:r>
            <a:endParaRPr lang="en-US" sz="1700" dirty="0"/>
          </a:p>
        </p:txBody>
      </p:sp>
      <p:sp>
        <p:nvSpPr>
          <p:cNvPr id="21" name="Text 19"/>
          <p:cNvSpPr txBox="1"/>
          <p:nvPr/>
        </p:nvSpPr>
        <p:spPr>
          <a:xfrm>
            <a:off x="5769864" y="4233672"/>
            <a:ext cx="5690311" cy="256032"/>
          </a:xfrm>
          <a:prstGeom prst="rect">
            <a:avLst/>
          </a:prstGeom>
          <a:noFill/>
          <a:ln/>
        </p:spPr>
        <p:txBody>
          <a:bodyPr wrap="square" lIns="0" tIns="0" rIns="0" bIns="0" rtlCol="0" anchor="ctr"/>
          <a:lstStyle/>
          <a:p>
            <a:pPr indent="0" marL="0">
              <a:buNone/>
            </a:pPr>
            <a:r>
              <a:rPr lang="en-US" sz="1250" dirty="0">
                <a:solidFill>
                  <a:srgbClr val="9FBDB3"/>
                </a:solidFill>
                <a:latin typeface="Calibri" pitchFamily="34" charset="0"/>
                <a:ea typeface="Calibri" pitchFamily="34" charset="-122"/>
                <a:cs typeface="Calibri" pitchFamily="34" charset="-120"/>
              </a:rPr>
              <a:t>Мелкая посылка перестаёт быть беспошлинной по умолчанию.</a:t>
            </a:r>
            <a:endParaRPr lang="en-US" sz="1250" dirty="0"/>
          </a:p>
        </p:txBody>
      </p:sp>
      <p:sp>
        <p:nvSpPr>
          <p:cNvPr id="22" name="Text 20"/>
          <p:cNvSpPr txBox="1"/>
          <p:nvPr/>
        </p:nvSpPr>
        <p:spPr>
          <a:xfrm>
            <a:off x="5769864" y="4489704"/>
            <a:ext cx="5690311" cy="256032"/>
          </a:xfrm>
          <a:prstGeom prst="rect">
            <a:avLst/>
          </a:prstGeom>
          <a:noFill/>
          <a:ln/>
        </p:spPr>
        <p:txBody>
          <a:bodyPr wrap="square" lIns="0" tIns="0" rIns="0" bIns="0" rtlCol="0" anchor="ctr"/>
          <a:lstStyle/>
          <a:p>
            <a:pPr indent="0" marL="0">
              <a:buNone/>
            </a:pPr>
            <a:r>
              <a:rPr lang="en-US" sz="1100" b="1" dirty="0">
                <a:solidFill>
                  <a:srgbClr val="E08A4E"/>
                </a:solidFill>
                <a:latin typeface="Calibri" pitchFamily="34" charset="0"/>
                <a:ea typeface="Calibri" pitchFamily="34" charset="-122"/>
                <a:cs typeface="Calibri" pitchFamily="34" charset="-120"/>
              </a:rPr>
              <a:t>Решение Совета ЕЭК от 05.12.2025 № 112 · в ЕС отменено освобождение до 22 евро</a:t>
            </a:r>
            <a:endParaRPr lang="en-US" sz="1100" dirty="0"/>
          </a:p>
        </p:txBody>
      </p:sp>
      <p:sp>
        <p:nvSpPr>
          <p:cNvPr id="23" name="Shape 21"/>
          <p:cNvSpPr/>
          <p:nvPr/>
        </p:nvSpPr>
        <p:spPr>
          <a:xfrm>
            <a:off x="731520" y="5138928"/>
            <a:ext cx="10728655" cy="0"/>
          </a:xfrm>
          <a:prstGeom prst="line">
            <a:avLst/>
          </a:prstGeom>
          <a:noFill/>
          <a:ln w="12700">
            <a:solidFill>
              <a:srgbClr val="2A6A5E"/>
            </a:solidFill>
            <a:prstDash val="solid"/>
          </a:ln>
        </p:spPr>
      </p:sp>
      <p:sp>
        <p:nvSpPr>
          <p:cNvPr id="24" name="Text 22"/>
          <p:cNvSpPr txBox="1"/>
          <p:nvPr/>
        </p:nvSpPr>
        <p:spPr>
          <a:xfrm>
            <a:off x="731520" y="5321808"/>
            <a:ext cx="10728655" cy="365760"/>
          </a:xfrm>
          <a:prstGeom prst="rect">
            <a:avLst/>
          </a:prstGeom>
          <a:noFill/>
          <a:ln/>
        </p:spPr>
        <p:txBody>
          <a:bodyPr wrap="square" lIns="0" tIns="0" rIns="0" bIns="0"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Администрирование уходит с границы и с покупателя — на посредника. Фискальная привязка уходит к стране потребления.</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КОСВЕННЫЕ НАЛОГИ · 4</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Новый режим посылок в ЕАЭС с 2026 года</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Решение Совета ЕЭК от 05.12.2025 № 112. Товары электронной торговли выделены в отдельную категорию со своим порядком обложения.</a:t>
            </a:r>
            <a:endParaRPr lang="en-US" sz="1450" dirty="0"/>
          </a:p>
        </p:txBody>
      </p:sp>
      <p:sp>
        <p:nvSpPr>
          <p:cNvPr id="5" name="Shape 3"/>
          <p:cNvSpPr/>
          <p:nvPr/>
        </p:nvSpPr>
        <p:spPr>
          <a:xfrm>
            <a:off x="731520" y="2286000"/>
            <a:ext cx="2468880" cy="1700784"/>
          </a:xfrm>
          <a:prstGeom prst="roundRect">
            <a:avLst>
              <a:gd name="adj" fmla="val 4301"/>
            </a:avLst>
          </a:prstGeom>
          <a:solidFill>
            <a:srgbClr val="F1F5F3"/>
          </a:solidFill>
          <a:ln w="12700">
            <a:solidFill>
              <a:srgbClr val="F1F5F3"/>
            </a:solidFill>
            <a:prstDash val="solid"/>
          </a:ln>
        </p:spPr>
      </p:sp>
      <p:sp>
        <p:nvSpPr>
          <p:cNvPr id="6" name="Text 4"/>
          <p:cNvSpPr txBox="1"/>
          <p:nvPr/>
        </p:nvSpPr>
        <p:spPr>
          <a:xfrm>
            <a:off x="1005840" y="2505456"/>
            <a:ext cx="1920240" cy="603504"/>
          </a:xfrm>
          <a:prstGeom prst="rect">
            <a:avLst/>
          </a:prstGeom>
          <a:noFill/>
          <a:ln/>
        </p:spPr>
        <p:txBody>
          <a:bodyPr wrap="square" lIns="0" tIns="0" rIns="0" bIns="0" rtlCol="0" anchor="ctr"/>
          <a:lstStyle/>
          <a:p>
            <a:pPr indent="0" marL="0">
              <a:buNone/>
            </a:pPr>
            <a:r>
              <a:rPr lang="en-US" sz="3200" b="1" dirty="0">
                <a:solidFill>
                  <a:srgbClr val="0F3B34"/>
                </a:solidFill>
                <a:latin typeface="Cambria" pitchFamily="34" charset="0"/>
                <a:ea typeface="Cambria" pitchFamily="34" charset="-122"/>
                <a:cs typeface="Cambria" pitchFamily="34" charset="-120"/>
              </a:rPr>
              <a:t>200 €</a:t>
            </a:r>
            <a:endParaRPr lang="en-US" sz="3200" dirty="0"/>
          </a:p>
        </p:txBody>
      </p:sp>
      <p:sp>
        <p:nvSpPr>
          <p:cNvPr id="7" name="Text 5"/>
          <p:cNvSpPr txBox="1"/>
          <p:nvPr/>
        </p:nvSpPr>
        <p:spPr>
          <a:xfrm>
            <a:off x="1005840" y="3145536"/>
            <a:ext cx="1920240" cy="685800"/>
          </a:xfrm>
          <a:prstGeom prst="rect">
            <a:avLst/>
          </a:prstGeom>
          <a:noFill/>
          <a:ln/>
        </p:spPr>
        <p:txBody>
          <a:bodyPr wrap="square" lIns="0" tIns="0" rIns="0" bIns="0" rtlCol="0" anchor="ctr"/>
          <a:lstStyle/>
          <a:p>
            <a:pPr indent="0" marL="0">
              <a:lnSpc>
                <a:spcPts val="1900"/>
              </a:lnSpc>
              <a:buNone/>
            </a:pPr>
            <a:r>
              <a:rPr lang="en-US" sz="1200" dirty="0">
                <a:solidFill>
                  <a:srgbClr val="5E6D68"/>
                </a:solidFill>
                <a:latin typeface="Calibri" pitchFamily="34" charset="0"/>
                <a:ea typeface="Calibri" pitchFamily="34" charset="-122"/>
                <a:cs typeface="Calibri" pitchFamily="34" charset="-120"/>
              </a:rPr>
              <a:t>Порог беспошлинного ввоза для физического лица</a:t>
            </a:r>
            <a:endParaRPr lang="en-US" sz="1200" dirty="0"/>
          </a:p>
        </p:txBody>
      </p:sp>
      <p:sp>
        <p:nvSpPr>
          <p:cNvPr id="8" name="Shape 6"/>
          <p:cNvSpPr/>
          <p:nvPr/>
        </p:nvSpPr>
        <p:spPr>
          <a:xfrm>
            <a:off x="3483864" y="2286000"/>
            <a:ext cx="2468880" cy="1700784"/>
          </a:xfrm>
          <a:prstGeom prst="roundRect">
            <a:avLst>
              <a:gd name="adj" fmla="val 4301"/>
            </a:avLst>
          </a:prstGeom>
          <a:solidFill>
            <a:srgbClr val="FBF4EF"/>
          </a:solidFill>
          <a:ln w="12700">
            <a:solidFill>
              <a:srgbClr val="FBF4EF"/>
            </a:solidFill>
            <a:prstDash val="solid"/>
          </a:ln>
        </p:spPr>
      </p:sp>
      <p:sp>
        <p:nvSpPr>
          <p:cNvPr id="9" name="Text 7"/>
          <p:cNvSpPr txBox="1"/>
          <p:nvPr/>
        </p:nvSpPr>
        <p:spPr>
          <a:xfrm>
            <a:off x="3758184" y="2505456"/>
            <a:ext cx="1920240" cy="603504"/>
          </a:xfrm>
          <a:prstGeom prst="rect">
            <a:avLst/>
          </a:prstGeom>
          <a:noFill/>
          <a:ln/>
        </p:spPr>
        <p:txBody>
          <a:bodyPr wrap="square" lIns="0" tIns="0" rIns="0" bIns="0" rtlCol="0" anchor="ctr"/>
          <a:lstStyle/>
          <a:p>
            <a:pPr indent="0" marL="0">
              <a:buNone/>
            </a:pPr>
            <a:r>
              <a:rPr lang="en-US" sz="3200" b="1" dirty="0">
                <a:solidFill>
                  <a:srgbClr val="C8642B"/>
                </a:solidFill>
                <a:latin typeface="Cambria" pitchFamily="34" charset="0"/>
                <a:ea typeface="Cambria" pitchFamily="34" charset="-122"/>
                <a:cs typeface="Cambria" pitchFamily="34" charset="-120"/>
              </a:rPr>
              <a:t>5%</a:t>
            </a:r>
            <a:endParaRPr lang="en-US" sz="3200" dirty="0"/>
          </a:p>
        </p:txBody>
      </p:sp>
      <p:sp>
        <p:nvSpPr>
          <p:cNvPr id="10" name="Text 8"/>
          <p:cNvSpPr txBox="1"/>
          <p:nvPr/>
        </p:nvSpPr>
        <p:spPr>
          <a:xfrm>
            <a:off x="3758184" y="3145536"/>
            <a:ext cx="1920240" cy="685800"/>
          </a:xfrm>
          <a:prstGeom prst="rect">
            <a:avLst/>
          </a:prstGeom>
          <a:noFill/>
          <a:ln/>
        </p:spPr>
        <p:txBody>
          <a:bodyPr wrap="square" lIns="0" tIns="0" rIns="0" bIns="0" rtlCol="0" anchor="ctr"/>
          <a:lstStyle/>
          <a:p>
            <a:pPr indent="0" marL="0">
              <a:lnSpc>
                <a:spcPts val="1900"/>
              </a:lnSpc>
              <a:buNone/>
            </a:pPr>
            <a:r>
              <a:rPr lang="en-US" sz="1200" dirty="0">
                <a:solidFill>
                  <a:srgbClr val="5E6D68"/>
                </a:solidFill>
                <a:latin typeface="Calibri" pitchFamily="34" charset="0"/>
                <a:ea typeface="Calibri" pitchFamily="34" charset="-122"/>
                <a:cs typeface="Calibri" pitchFamily="34" charset="-120"/>
              </a:rPr>
              <a:t>Пошлина со стоимости сверх порога</a:t>
            </a:r>
            <a:endParaRPr lang="en-US" sz="1200" dirty="0"/>
          </a:p>
        </p:txBody>
      </p:sp>
      <p:sp>
        <p:nvSpPr>
          <p:cNvPr id="11" name="Shape 9"/>
          <p:cNvSpPr/>
          <p:nvPr/>
        </p:nvSpPr>
        <p:spPr>
          <a:xfrm>
            <a:off x="6236208" y="2286000"/>
            <a:ext cx="2468880" cy="1700784"/>
          </a:xfrm>
          <a:prstGeom prst="roundRect">
            <a:avLst>
              <a:gd name="adj" fmla="val 4301"/>
            </a:avLst>
          </a:prstGeom>
          <a:solidFill>
            <a:srgbClr val="F1F5F3"/>
          </a:solidFill>
          <a:ln w="12700">
            <a:solidFill>
              <a:srgbClr val="F1F5F3"/>
            </a:solidFill>
            <a:prstDash val="solid"/>
          </a:ln>
        </p:spPr>
      </p:sp>
      <p:sp>
        <p:nvSpPr>
          <p:cNvPr id="12" name="Text 10"/>
          <p:cNvSpPr txBox="1"/>
          <p:nvPr/>
        </p:nvSpPr>
        <p:spPr>
          <a:xfrm>
            <a:off x="6510528" y="2505456"/>
            <a:ext cx="1920240" cy="603504"/>
          </a:xfrm>
          <a:prstGeom prst="rect">
            <a:avLst/>
          </a:prstGeom>
          <a:noFill/>
          <a:ln/>
        </p:spPr>
        <p:txBody>
          <a:bodyPr wrap="square" lIns="0" tIns="0" rIns="0" bIns="0" rtlCol="0" anchor="ctr"/>
          <a:lstStyle/>
          <a:p>
            <a:pPr indent="0" marL="0">
              <a:buNone/>
            </a:pPr>
            <a:r>
              <a:rPr lang="en-US" sz="3200" b="1" dirty="0">
                <a:solidFill>
                  <a:srgbClr val="0F3B34"/>
                </a:solidFill>
                <a:latin typeface="Cambria" pitchFamily="34" charset="0"/>
                <a:ea typeface="Cambria" pitchFamily="34" charset="-122"/>
                <a:cs typeface="Cambria" pitchFamily="34" charset="-120"/>
              </a:rPr>
              <a:t>1 €/кг</a:t>
            </a:r>
            <a:endParaRPr lang="en-US" sz="3200" dirty="0"/>
          </a:p>
        </p:txBody>
      </p:sp>
      <p:sp>
        <p:nvSpPr>
          <p:cNvPr id="13" name="Text 11"/>
          <p:cNvSpPr txBox="1"/>
          <p:nvPr/>
        </p:nvSpPr>
        <p:spPr>
          <a:xfrm>
            <a:off x="6510528" y="3145536"/>
            <a:ext cx="1920240" cy="685800"/>
          </a:xfrm>
          <a:prstGeom prst="rect">
            <a:avLst/>
          </a:prstGeom>
          <a:noFill/>
          <a:ln/>
        </p:spPr>
        <p:txBody>
          <a:bodyPr wrap="square" lIns="0" tIns="0" rIns="0" bIns="0" rtlCol="0" anchor="ctr"/>
          <a:lstStyle/>
          <a:p>
            <a:pPr indent="0" marL="0">
              <a:lnSpc>
                <a:spcPts val="1900"/>
              </a:lnSpc>
              <a:buNone/>
            </a:pPr>
            <a:r>
              <a:rPr lang="en-US" sz="1200" dirty="0">
                <a:solidFill>
                  <a:srgbClr val="5E6D68"/>
                </a:solidFill>
                <a:latin typeface="Calibri" pitchFamily="34" charset="0"/>
                <a:ea typeface="Calibri" pitchFamily="34" charset="-122"/>
                <a:cs typeface="Calibri" pitchFamily="34" charset="-120"/>
              </a:rPr>
              <a:t>Минимальная пошлина — не даёт занижать стоимость</a:t>
            </a:r>
            <a:endParaRPr lang="en-US" sz="1200" dirty="0"/>
          </a:p>
        </p:txBody>
      </p:sp>
      <p:sp>
        <p:nvSpPr>
          <p:cNvPr id="14" name="Shape 12"/>
          <p:cNvSpPr/>
          <p:nvPr/>
        </p:nvSpPr>
        <p:spPr>
          <a:xfrm>
            <a:off x="8988552" y="2286000"/>
            <a:ext cx="2468880" cy="1700784"/>
          </a:xfrm>
          <a:prstGeom prst="roundRect">
            <a:avLst>
              <a:gd name="adj" fmla="val 4301"/>
            </a:avLst>
          </a:prstGeom>
          <a:solidFill>
            <a:srgbClr val="FBF4EF"/>
          </a:solidFill>
          <a:ln w="12700">
            <a:solidFill>
              <a:srgbClr val="FBF4EF"/>
            </a:solidFill>
            <a:prstDash val="solid"/>
          </a:ln>
        </p:spPr>
      </p:sp>
      <p:sp>
        <p:nvSpPr>
          <p:cNvPr id="15" name="Text 13"/>
          <p:cNvSpPr txBox="1"/>
          <p:nvPr/>
        </p:nvSpPr>
        <p:spPr>
          <a:xfrm>
            <a:off x="9262872" y="2505456"/>
            <a:ext cx="1920240" cy="603504"/>
          </a:xfrm>
          <a:prstGeom prst="rect">
            <a:avLst/>
          </a:prstGeom>
          <a:noFill/>
          <a:ln/>
        </p:spPr>
        <p:txBody>
          <a:bodyPr wrap="square" lIns="0" tIns="0" rIns="0" bIns="0" rtlCol="0" anchor="ctr"/>
          <a:lstStyle/>
          <a:p>
            <a:pPr indent="0" marL="0">
              <a:buNone/>
            </a:pPr>
            <a:r>
              <a:rPr lang="en-US" sz="2400" b="1" dirty="0">
                <a:solidFill>
                  <a:srgbClr val="C8642B"/>
                </a:solidFill>
                <a:latin typeface="Cambria" pitchFamily="34" charset="0"/>
                <a:ea typeface="Cambria" pitchFamily="34" charset="-122"/>
                <a:cs typeface="Cambria" pitchFamily="34" charset="-120"/>
              </a:rPr>
              <a:t>01.07.2026</a:t>
            </a:r>
            <a:endParaRPr lang="en-US" sz="2400" dirty="0"/>
          </a:p>
        </p:txBody>
      </p:sp>
      <p:sp>
        <p:nvSpPr>
          <p:cNvPr id="16" name="Text 14"/>
          <p:cNvSpPr txBox="1"/>
          <p:nvPr/>
        </p:nvSpPr>
        <p:spPr>
          <a:xfrm>
            <a:off x="9262872" y="3145536"/>
            <a:ext cx="1920240" cy="685800"/>
          </a:xfrm>
          <a:prstGeom prst="rect">
            <a:avLst/>
          </a:prstGeom>
          <a:noFill/>
          <a:ln/>
        </p:spPr>
        <p:txBody>
          <a:bodyPr wrap="square" lIns="0" tIns="0" rIns="0" bIns="0" rtlCol="0" anchor="ctr"/>
          <a:lstStyle/>
          <a:p>
            <a:pPr indent="0" marL="0">
              <a:lnSpc>
                <a:spcPts val="1900"/>
              </a:lnSpc>
              <a:buNone/>
            </a:pPr>
            <a:r>
              <a:rPr lang="en-US" sz="1200" dirty="0">
                <a:solidFill>
                  <a:srgbClr val="5E6D68"/>
                </a:solidFill>
                <a:latin typeface="Calibri" pitchFamily="34" charset="0"/>
                <a:ea typeface="Calibri" pitchFamily="34" charset="-122"/>
                <a:cs typeface="Calibri" pitchFamily="34" charset="-120"/>
              </a:rPr>
              <a:t>Дата вступления нового порядка в силу</a:t>
            </a:r>
            <a:endParaRPr lang="en-US" sz="1200" dirty="0"/>
          </a:p>
        </p:txBody>
      </p:sp>
      <p:sp>
        <p:nvSpPr>
          <p:cNvPr id="17" name="Text 15"/>
          <p:cNvSpPr txBox="1"/>
          <p:nvPr/>
        </p:nvSpPr>
        <p:spPr>
          <a:xfrm>
            <a:off x="731520" y="4315968"/>
            <a:ext cx="5486400" cy="310896"/>
          </a:xfrm>
          <a:prstGeom prst="rect">
            <a:avLst/>
          </a:prstGeom>
          <a:noFill/>
          <a:ln/>
        </p:spPr>
        <p:txBody>
          <a:bodyPr wrap="square" lIns="0" tIns="0" rIns="0" bIns="0" rtlCol="0" anchor="ctr"/>
          <a:lstStyle/>
          <a:p>
            <a:pPr indent="0" marL="0">
              <a:buNone/>
            </a:pPr>
            <a:r>
              <a:rPr lang="en-US" sz="2000" b="1" dirty="0">
                <a:solidFill>
                  <a:srgbClr val="0F3B34"/>
                </a:solidFill>
                <a:latin typeface="Cambria" pitchFamily="34" charset="0"/>
                <a:ea typeface="Cambria" pitchFamily="34" charset="-122"/>
                <a:cs typeface="Cambria" pitchFamily="34" charset="-120"/>
              </a:rPr>
              <a:t>Что это меняет на практике</a:t>
            </a:r>
            <a:endParaRPr lang="en-US" sz="2000" dirty="0"/>
          </a:p>
        </p:txBody>
      </p:sp>
      <p:sp>
        <p:nvSpPr>
          <p:cNvPr id="18" name="Text 16"/>
          <p:cNvSpPr txBox="1"/>
          <p:nvPr/>
        </p:nvSpPr>
        <p:spPr>
          <a:xfrm>
            <a:off x="731520" y="4754880"/>
            <a:ext cx="10728655" cy="128016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50" dirty="0">
                <a:solidFill>
                  <a:srgbClr val="17211F"/>
                </a:solidFill>
                <a:latin typeface="Calibri" pitchFamily="34" charset="0"/>
                <a:ea typeface="Calibri" pitchFamily="34" charset="-122"/>
                <a:cs typeface="Calibri" pitchFamily="34" charset="-120"/>
              </a:rPr>
              <a:t>Трансграничная розница перестаёт быть налогово привилегированной по сравнению с внутренней</a:t>
            </a:r>
            <a:endParaRPr lang="en-US" sz="1350" dirty="0"/>
          </a:p>
          <a:p>
            <a:pPr marL="342900" indent="-342900">
              <a:lnSpc>
                <a:spcPts val="1800"/>
              </a:lnSpc>
              <a:spcAft>
                <a:spcPts val="700"/>
              </a:spcAft>
              <a:buSzPct val="100000"/>
              <a:buChar char="–"/>
            </a:pPr>
            <a:r>
              <a:rPr lang="en-US" sz="1350" dirty="0">
                <a:solidFill>
                  <a:srgbClr val="17211F"/>
                </a:solidFill>
                <a:latin typeface="Calibri" pitchFamily="34" charset="0"/>
                <a:ea typeface="Calibri" pitchFamily="34" charset="-122"/>
                <a:cs typeface="Calibri" pitchFamily="34" charset="-120"/>
              </a:rPr>
              <a:t>НДС при этом взимается отдельно и по национальным ставкам — пошлина его не заменяет</a:t>
            </a:r>
            <a:endParaRPr lang="en-US" sz="1350" dirty="0"/>
          </a:p>
          <a:p>
            <a:pPr marL="342900" indent="-342900">
              <a:lnSpc>
                <a:spcPts val="1800"/>
              </a:lnSpc>
              <a:spcAft>
                <a:spcPts val="700"/>
              </a:spcAft>
              <a:buSzPct val="100000"/>
              <a:buChar char="–"/>
            </a:pPr>
            <a:r>
              <a:rPr lang="en-US" sz="1350" dirty="0">
                <a:solidFill>
                  <a:srgbClr val="17211F"/>
                </a:solidFill>
                <a:latin typeface="Calibri" pitchFamily="34" charset="0"/>
                <a:ea typeface="Calibri" pitchFamily="34" charset="-122"/>
                <a:cs typeface="Calibri" pitchFamily="34" charset="-120"/>
              </a:rPr>
              <a:t>Расчёт и уплату несёт оператор электронной торговли, а не миллионы покупателей</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ПРЯМЫЕ НАЛОГИ · 1</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Постоянное представительство</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Ст. 5 Модельной конвенции ОЭСР, ст. 306–308 НК РФ. Государство источника облагает прибыль иностранной компании только при её присутствии.</a:t>
            </a:r>
            <a:endParaRPr lang="en-US" sz="1450" dirty="0"/>
          </a:p>
        </p:txBody>
      </p:sp>
      <p:sp>
        <p:nvSpPr>
          <p:cNvPr id="5" name="Shape 3"/>
          <p:cNvSpPr/>
          <p:nvPr/>
        </p:nvSpPr>
        <p:spPr>
          <a:xfrm>
            <a:off x="731520" y="2212848"/>
            <a:ext cx="5294376" cy="2331720"/>
          </a:xfrm>
          <a:prstGeom prst="roundRect">
            <a:avLst>
              <a:gd name="adj" fmla="val 3137"/>
            </a:avLst>
          </a:prstGeom>
          <a:solidFill>
            <a:srgbClr val="F1F5F3"/>
          </a:solidFill>
          <a:ln w="12700">
            <a:solidFill>
              <a:srgbClr val="F1F5F3"/>
            </a:solidFill>
            <a:prstDash val="solid"/>
          </a:ln>
        </p:spPr>
      </p:sp>
      <p:sp>
        <p:nvSpPr>
          <p:cNvPr id="6" name="Shape 4"/>
          <p:cNvSpPr/>
          <p:nvPr/>
        </p:nvSpPr>
        <p:spPr>
          <a:xfrm>
            <a:off x="1042416" y="2487168"/>
            <a:ext cx="1874520" cy="347472"/>
          </a:xfrm>
          <a:prstGeom prst="roundRect">
            <a:avLst>
              <a:gd name="adj" fmla="val 50000"/>
            </a:avLst>
          </a:prstGeom>
          <a:solidFill>
            <a:srgbClr val="0F3B34"/>
          </a:solidFill>
          <a:ln w="12700">
            <a:solidFill>
              <a:srgbClr val="0F3B34"/>
            </a:solidFill>
            <a:prstDash val="solid"/>
          </a:ln>
        </p:spPr>
      </p:sp>
      <p:sp>
        <p:nvSpPr>
          <p:cNvPr id="7" name="Text 5"/>
          <p:cNvSpPr txBox="1"/>
          <p:nvPr/>
        </p:nvSpPr>
        <p:spPr>
          <a:xfrm>
            <a:off x="1042416" y="2487168"/>
            <a:ext cx="187452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ОБРАЗУЕТ ПП</a:t>
            </a:r>
            <a:endParaRPr lang="en-US" sz="1150" dirty="0"/>
          </a:p>
        </p:txBody>
      </p:sp>
      <p:sp>
        <p:nvSpPr>
          <p:cNvPr id="8" name="Text 6"/>
          <p:cNvSpPr txBox="1"/>
          <p:nvPr/>
        </p:nvSpPr>
        <p:spPr>
          <a:xfrm>
            <a:off x="1042416" y="2980944"/>
            <a:ext cx="4672584" cy="13716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Постоянное место деятельности: филиал, бюро, стройплощадка</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Зависимый агент, регулярно заключающий контракты</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Регулярная предпринимательская деятельность на территории</a:t>
            </a:r>
            <a:endParaRPr lang="en-US" sz="1300" dirty="0"/>
          </a:p>
        </p:txBody>
      </p:sp>
      <p:sp>
        <p:nvSpPr>
          <p:cNvPr id="9" name="Shape 7"/>
          <p:cNvSpPr/>
          <p:nvPr/>
        </p:nvSpPr>
        <p:spPr>
          <a:xfrm>
            <a:off x="6345936" y="2212848"/>
            <a:ext cx="5294376" cy="2331720"/>
          </a:xfrm>
          <a:prstGeom prst="roundRect">
            <a:avLst>
              <a:gd name="adj" fmla="val 3137"/>
            </a:avLst>
          </a:prstGeom>
          <a:solidFill>
            <a:srgbClr val="FBF4EF"/>
          </a:solidFill>
          <a:ln w="12700">
            <a:solidFill>
              <a:srgbClr val="FBF4EF"/>
            </a:solidFill>
            <a:prstDash val="solid"/>
          </a:ln>
        </p:spPr>
      </p:sp>
      <p:sp>
        <p:nvSpPr>
          <p:cNvPr id="10" name="Shape 8"/>
          <p:cNvSpPr/>
          <p:nvPr/>
        </p:nvSpPr>
        <p:spPr>
          <a:xfrm>
            <a:off x="6656832" y="2487168"/>
            <a:ext cx="2148840" cy="347472"/>
          </a:xfrm>
          <a:prstGeom prst="roundRect">
            <a:avLst>
              <a:gd name="adj" fmla="val 50000"/>
            </a:avLst>
          </a:prstGeom>
          <a:solidFill>
            <a:srgbClr val="C8642B"/>
          </a:solidFill>
          <a:ln w="12700">
            <a:solidFill>
              <a:srgbClr val="C8642B"/>
            </a:solidFill>
            <a:prstDash val="solid"/>
          </a:ln>
        </p:spPr>
      </p:sp>
      <p:sp>
        <p:nvSpPr>
          <p:cNvPr id="11" name="Text 9"/>
          <p:cNvSpPr txBox="1"/>
          <p:nvPr/>
        </p:nvSpPr>
        <p:spPr>
          <a:xfrm>
            <a:off x="6656832" y="2487168"/>
            <a:ext cx="2148840"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НЕ ОБРАЗУЕТ ПП</a:t>
            </a:r>
            <a:endParaRPr lang="en-US" sz="1150" dirty="0"/>
          </a:p>
        </p:txBody>
      </p:sp>
      <p:sp>
        <p:nvSpPr>
          <p:cNvPr id="12" name="Text 10"/>
          <p:cNvSpPr txBox="1"/>
          <p:nvPr/>
        </p:nvSpPr>
        <p:spPr>
          <a:xfrm>
            <a:off x="6656832" y="2980944"/>
            <a:ext cx="4672584" cy="13716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Сама по себе поставка товаров в страну покупателя</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Подготовительная и вспомогательная деятельность</a:t>
            </a:r>
            <a:endParaRPr lang="en-US" sz="1300" dirty="0"/>
          </a:p>
          <a:p>
            <a:pPr marL="342900" indent="-342900">
              <a:lnSpc>
                <a:spcPts val="1800"/>
              </a:lnSpc>
              <a:spcAft>
                <a:spcPts val="700"/>
              </a:spcAft>
              <a:buSzPct val="100000"/>
              <a:buChar char="–"/>
            </a:pPr>
            <a:r>
              <a:rPr lang="en-US" sz="1300" dirty="0">
                <a:solidFill>
                  <a:srgbClr val="17211F"/>
                </a:solidFill>
                <a:latin typeface="Calibri" pitchFamily="34" charset="0"/>
                <a:ea typeface="Calibri" pitchFamily="34" charset="-122"/>
                <a:cs typeface="Calibri" pitchFamily="34" charset="-120"/>
              </a:rPr>
              <a:t>Хранение, демонстрация, сбор информации</a:t>
            </a:r>
            <a:endParaRPr lang="en-US" sz="1300" dirty="0"/>
          </a:p>
        </p:txBody>
      </p:sp>
      <p:sp>
        <p:nvSpPr>
          <p:cNvPr id="13" name="Shape 11"/>
          <p:cNvSpPr/>
          <p:nvPr/>
        </p:nvSpPr>
        <p:spPr>
          <a:xfrm>
            <a:off x="731520" y="4754880"/>
            <a:ext cx="10728655" cy="1298448"/>
          </a:xfrm>
          <a:prstGeom prst="roundRect">
            <a:avLst>
              <a:gd name="adj" fmla="val 5634"/>
            </a:avLst>
          </a:prstGeom>
          <a:solidFill>
            <a:srgbClr val="0F3B34"/>
          </a:solidFill>
          <a:ln w="12700">
            <a:solidFill>
              <a:srgbClr val="0F3B34"/>
            </a:solidFill>
            <a:prstDash val="solid"/>
          </a:ln>
        </p:spPr>
      </p:sp>
      <p:sp>
        <p:nvSpPr>
          <p:cNvPr id="14" name="Text 12"/>
          <p:cNvSpPr txBox="1"/>
          <p:nvPr/>
        </p:nvSpPr>
        <p:spPr>
          <a:xfrm>
            <a:off x="1060704" y="4956048"/>
            <a:ext cx="9966960" cy="274320"/>
          </a:xfrm>
          <a:prstGeom prst="rect">
            <a:avLst/>
          </a:prstGeom>
          <a:noFill/>
          <a:ln/>
        </p:spPr>
        <p:txBody>
          <a:bodyPr wrap="square" lIns="0" tIns="0" rIns="0" bIns="0" rtlCol="0" anchor="ctr"/>
          <a:lstStyle/>
          <a:p>
            <a:pPr indent="0" marL="0">
              <a:buNone/>
            </a:pPr>
            <a:r>
              <a:rPr lang="en-US" sz="1200" b="1" spc="140" kern="0" dirty="0">
                <a:solidFill>
                  <a:srgbClr val="E08A4E"/>
                </a:solidFill>
                <a:latin typeface="Calibri" pitchFamily="34" charset="0"/>
                <a:ea typeface="Calibri" pitchFamily="34" charset="-122"/>
                <a:cs typeface="Calibri" pitchFamily="34" charset="-120"/>
              </a:rPr>
              <a:t>Практический смысл и предел нормы</a:t>
            </a:r>
            <a:endParaRPr lang="en-US" sz="1200" dirty="0"/>
          </a:p>
        </p:txBody>
      </p:sp>
      <p:sp>
        <p:nvSpPr>
          <p:cNvPr id="15" name="Text 13"/>
          <p:cNvSpPr txBox="1"/>
          <p:nvPr/>
        </p:nvSpPr>
        <p:spPr>
          <a:xfrm>
            <a:off x="1060704" y="5248656"/>
            <a:ext cx="10070287" cy="640080"/>
          </a:xfrm>
          <a:prstGeom prst="rect">
            <a:avLst/>
          </a:prstGeom>
          <a:noFill/>
          <a:ln/>
        </p:spPr>
        <p:txBody>
          <a:bodyPr wrap="square" lIns="0" tIns="0" rIns="0" bIns="0" rtlCol="0" anchor="ctr"/>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Экспортёр платит налог на прибыль дома, а не в стране покупателя. Но цифровая экономика позволяет извлекать значительную выручку в стране вообще без присутствия в ней — и физическая привязка перестаёт работать. Это предмет Pillar One.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ПРЯМЫЕ НАЛОГИ · 2</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Налог у источника: удержание, соглашение, фильтр</a:t>
            </a:r>
            <a:endParaRPr lang="en-US" sz="3200" dirty="0"/>
          </a:p>
        </p:txBody>
      </p:sp>
      <p:sp>
        <p:nvSpPr>
          <p:cNvPr id="4" name="Shape 2"/>
          <p:cNvSpPr/>
          <p:nvPr/>
        </p:nvSpPr>
        <p:spPr>
          <a:xfrm>
            <a:off x="731520" y="2121408"/>
            <a:ext cx="3017520" cy="1133856"/>
          </a:xfrm>
          <a:prstGeom prst="roundRect">
            <a:avLst>
              <a:gd name="adj" fmla="val 6452"/>
            </a:avLst>
          </a:prstGeom>
          <a:solidFill>
            <a:srgbClr val="F1F5F3"/>
          </a:solidFill>
          <a:ln w="12700">
            <a:solidFill>
              <a:srgbClr val="F1F5F3"/>
            </a:solidFill>
            <a:prstDash val="solid"/>
          </a:ln>
        </p:spPr>
      </p:sp>
      <p:sp>
        <p:nvSpPr>
          <p:cNvPr id="5" name="Text 3"/>
          <p:cNvSpPr txBox="1"/>
          <p:nvPr/>
        </p:nvSpPr>
        <p:spPr>
          <a:xfrm>
            <a:off x="969264" y="2322576"/>
            <a:ext cx="2560320" cy="292608"/>
          </a:xfrm>
          <a:prstGeom prst="rect">
            <a:avLst/>
          </a:prstGeom>
          <a:noFill/>
          <a:ln/>
        </p:spPr>
        <p:txBody>
          <a:bodyPr wrap="square" lIns="0" tIns="0" rIns="0" bIns="0" rtlCol="0" anchor="ctr"/>
          <a:lstStyle/>
          <a:p>
            <a:pPr indent="0" marL="0">
              <a:buNone/>
            </a:pPr>
            <a:r>
              <a:rPr lang="en-US" sz="1550" b="1" dirty="0">
                <a:solidFill>
                  <a:srgbClr val="0F3B34"/>
                </a:solidFill>
                <a:latin typeface="Cambria" pitchFamily="34" charset="0"/>
                <a:ea typeface="Cambria" pitchFamily="34" charset="-122"/>
                <a:cs typeface="Cambria" pitchFamily="34" charset="-120"/>
              </a:rPr>
              <a:t>Российский плательщик</a:t>
            </a:r>
            <a:endParaRPr lang="en-US" sz="1550" dirty="0"/>
          </a:p>
        </p:txBody>
      </p:sp>
      <p:sp>
        <p:nvSpPr>
          <p:cNvPr id="6" name="Text 4"/>
          <p:cNvSpPr txBox="1"/>
          <p:nvPr/>
        </p:nvSpPr>
        <p:spPr>
          <a:xfrm>
            <a:off x="969264" y="2688336"/>
            <a:ext cx="2560320" cy="274320"/>
          </a:xfrm>
          <a:prstGeom prst="rect">
            <a:avLst/>
          </a:prstGeom>
          <a:noFill/>
          <a:ln/>
        </p:spPr>
        <p:txBody>
          <a:bodyPr wrap="square" lIns="0" tIns="0" rIns="0" bIns="0" rtlCol="0" anchor="ctr"/>
          <a:lstStyle/>
          <a:p>
            <a:pPr indent="0" marL="0">
              <a:buNone/>
            </a:pPr>
            <a:r>
              <a:rPr lang="en-US" sz="1150" dirty="0">
                <a:solidFill>
                  <a:srgbClr val="5E6D68"/>
                </a:solidFill>
                <a:latin typeface="Calibri" pitchFamily="34" charset="0"/>
                <a:ea typeface="Calibri" pitchFamily="34" charset="-122"/>
                <a:cs typeface="Calibri" pitchFamily="34" charset="-120"/>
              </a:rPr>
              <a:t>налоговый агент, ст. 310 НК РФ</a:t>
            </a:r>
            <a:endParaRPr lang="en-US" sz="1150" dirty="0"/>
          </a:p>
        </p:txBody>
      </p:sp>
      <p:sp>
        <p:nvSpPr>
          <p:cNvPr id="7" name="Shape 5"/>
          <p:cNvSpPr/>
          <p:nvPr/>
        </p:nvSpPr>
        <p:spPr>
          <a:xfrm>
            <a:off x="3913632" y="2578608"/>
            <a:ext cx="457200" cy="219456"/>
          </a:xfrm>
          <a:prstGeom prst="rightArrow">
            <a:avLst/>
          </a:prstGeom>
          <a:solidFill>
            <a:srgbClr val="0F3B34"/>
          </a:solidFill>
          <a:ln w="12700">
            <a:solidFill>
              <a:srgbClr val="0F3B34"/>
            </a:solidFill>
            <a:prstDash val="solid"/>
          </a:ln>
        </p:spPr>
      </p:sp>
      <p:sp>
        <p:nvSpPr>
          <p:cNvPr id="8" name="Shape 6"/>
          <p:cNvSpPr/>
          <p:nvPr/>
        </p:nvSpPr>
        <p:spPr>
          <a:xfrm>
            <a:off x="4526280" y="2121408"/>
            <a:ext cx="3145536" cy="1133856"/>
          </a:xfrm>
          <a:prstGeom prst="roundRect">
            <a:avLst>
              <a:gd name="adj" fmla="val 6452"/>
            </a:avLst>
          </a:prstGeom>
          <a:solidFill>
            <a:srgbClr val="FBF4EF"/>
          </a:solidFill>
          <a:ln w="12700">
            <a:solidFill>
              <a:srgbClr val="FBF4EF"/>
            </a:solidFill>
            <a:prstDash val="solid"/>
          </a:ln>
        </p:spPr>
      </p:sp>
      <p:sp>
        <p:nvSpPr>
          <p:cNvPr id="9" name="Text 7"/>
          <p:cNvSpPr txBox="1"/>
          <p:nvPr/>
        </p:nvSpPr>
        <p:spPr>
          <a:xfrm>
            <a:off x="4764024" y="2304288"/>
            <a:ext cx="2697480" cy="329184"/>
          </a:xfrm>
          <a:prstGeom prst="rect">
            <a:avLst/>
          </a:prstGeom>
          <a:noFill/>
          <a:ln/>
        </p:spPr>
        <p:txBody>
          <a:bodyPr wrap="square" lIns="0" tIns="0" rIns="0" bIns="0" rtlCol="0" anchor="ctr"/>
          <a:lstStyle/>
          <a:p>
            <a:pPr indent="0" marL="0">
              <a:buNone/>
            </a:pPr>
            <a:r>
              <a:rPr lang="en-US" sz="1550" b="1" dirty="0">
                <a:solidFill>
                  <a:srgbClr val="A34E1E"/>
                </a:solidFill>
                <a:latin typeface="Cambria" pitchFamily="34" charset="0"/>
                <a:ea typeface="Cambria" pitchFamily="34" charset="-122"/>
                <a:cs typeface="Cambria" pitchFamily="34" charset="-120"/>
              </a:rPr>
              <a:t>Фактическое право на доход</a:t>
            </a:r>
            <a:endParaRPr lang="en-US" sz="1550" dirty="0"/>
          </a:p>
        </p:txBody>
      </p:sp>
      <p:sp>
        <p:nvSpPr>
          <p:cNvPr id="10" name="Text 8"/>
          <p:cNvSpPr txBox="1"/>
          <p:nvPr/>
        </p:nvSpPr>
        <p:spPr>
          <a:xfrm>
            <a:off x="4764024" y="2670048"/>
            <a:ext cx="2697480" cy="411480"/>
          </a:xfrm>
          <a:prstGeom prst="rect">
            <a:avLst/>
          </a:prstGeom>
          <a:noFill/>
          <a:ln/>
        </p:spPr>
        <p:txBody>
          <a:bodyPr wrap="square" lIns="0" tIns="0" rIns="0" bIns="0" rtlCol="0" anchor="ctr"/>
          <a:lstStyle/>
          <a:p>
            <a:pPr indent="0" marL="0">
              <a:lnSpc>
                <a:spcPts val="1400"/>
              </a:lnSpc>
              <a:buNone/>
            </a:pPr>
            <a:r>
              <a:rPr lang="en-US" sz="1150" dirty="0">
                <a:solidFill>
                  <a:srgbClr val="5E6D68"/>
                </a:solidFill>
                <a:latin typeface="Calibri" pitchFamily="34" charset="0"/>
                <a:ea typeface="Calibri" pitchFamily="34" charset="-122"/>
                <a:cs typeface="Calibri" pitchFamily="34" charset="-120"/>
              </a:rPr>
              <a:t>ст. 7 НК РФ — фильтр против транзитных компаний</a:t>
            </a:r>
            <a:endParaRPr lang="en-US" sz="1150" dirty="0"/>
          </a:p>
        </p:txBody>
      </p:sp>
      <p:sp>
        <p:nvSpPr>
          <p:cNvPr id="11" name="Shape 9"/>
          <p:cNvSpPr/>
          <p:nvPr/>
        </p:nvSpPr>
        <p:spPr>
          <a:xfrm>
            <a:off x="7818120" y="2578608"/>
            <a:ext cx="457200" cy="219456"/>
          </a:xfrm>
          <a:prstGeom prst="rightArrow">
            <a:avLst/>
          </a:prstGeom>
          <a:solidFill>
            <a:srgbClr val="C8642B"/>
          </a:solidFill>
          <a:ln w="12700">
            <a:solidFill>
              <a:srgbClr val="C8642B"/>
            </a:solidFill>
            <a:prstDash val="solid"/>
          </a:ln>
        </p:spPr>
      </p:sp>
      <p:sp>
        <p:nvSpPr>
          <p:cNvPr id="12" name="Shape 10"/>
          <p:cNvSpPr/>
          <p:nvPr/>
        </p:nvSpPr>
        <p:spPr>
          <a:xfrm>
            <a:off x="8430768" y="2121408"/>
            <a:ext cx="3026664" cy="1133856"/>
          </a:xfrm>
          <a:prstGeom prst="roundRect">
            <a:avLst>
              <a:gd name="adj" fmla="val 6452"/>
            </a:avLst>
          </a:prstGeom>
          <a:solidFill>
            <a:srgbClr val="F1F5F3"/>
          </a:solidFill>
          <a:ln w="12700">
            <a:solidFill>
              <a:srgbClr val="F1F5F3"/>
            </a:solidFill>
            <a:prstDash val="solid"/>
          </a:ln>
        </p:spPr>
      </p:sp>
      <p:sp>
        <p:nvSpPr>
          <p:cNvPr id="13" name="Text 11"/>
          <p:cNvSpPr txBox="1"/>
          <p:nvPr/>
        </p:nvSpPr>
        <p:spPr>
          <a:xfrm>
            <a:off x="8668512" y="2322576"/>
            <a:ext cx="2560320" cy="292608"/>
          </a:xfrm>
          <a:prstGeom prst="rect">
            <a:avLst/>
          </a:prstGeom>
          <a:noFill/>
          <a:ln/>
        </p:spPr>
        <p:txBody>
          <a:bodyPr wrap="square" lIns="0" tIns="0" rIns="0" bIns="0" rtlCol="0" anchor="ctr"/>
          <a:lstStyle/>
          <a:p>
            <a:pPr indent="0" marL="0">
              <a:buNone/>
            </a:pPr>
            <a:r>
              <a:rPr lang="en-US" sz="1550" b="1" dirty="0">
                <a:solidFill>
                  <a:srgbClr val="0F3B34"/>
                </a:solidFill>
                <a:latin typeface="Cambria" pitchFamily="34" charset="0"/>
                <a:ea typeface="Cambria" pitchFamily="34" charset="-122"/>
                <a:cs typeface="Cambria" pitchFamily="34" charset="-120"/>
              </a:rPr>
              <a:t>Иностранный получатель</a:t>
            </a:r>
            <a:endParaRPr lang="en-US" sz="1550" dirty="0"/>
          </a:p>
        </p:txBody>
      </p:sp>
      <p:sp>
        <p:nvSpPr>
          <p:cNvPr id="14" name="Text 12"/>
          <p:cNvSpPr txBox="1"/>
          <p:nvPr/>
        </p:nvSpPr>
        <p:spPr>
          <a:xfrm>
            <a:off x="8668512" y="2688336"/>
            <a:ext cx="2560320" cy="274320"/>
          </a:xfrm>
          <a:prstGeom prst="rect">
            <a:avLst/>
          </a:prstGeom>
          <a:noFill/>
          <a:ln/>
        </p:spPr>
        <p:txBody>
          <a:bodyPr wrap="square" lIns="0" tIns="0" rIns="0" bIns="0" rtlCol="0" anchor="ctr"/>
          <a:lstStyle/>
          <a:p>
            <a:pPr indent="0" marL="0">
              <a:buNone/>
            </a:pPr>
            <a:r>
              <a:rPr lang="en-US" sz="1150" dirty="0">
                <a:solidFill>
                  <a:srgbClr val="5E6D68"/>
                </a:solidFill>
                <a:latin typeface="Calibri" pitchFamily="34" charset="0"/>
                <a:ea typeface="Calibri" pitchFamily="34" charset="-122"/>
                <a:cs typeface="Calibri" pitchFamily="34" charset="-120"/>
              </a:rPr>
              <a:t>дивиденды, проценты, роялти</a:t>
            </a:r>
            <a:endParaRPr lang="en-US" sz="1150" dirty="0"/>
          </a:p>
        </p:txBody>
      </p:sp>
      <p:sp>
        <p:nvSpPr>
          <p:cNvPr id="15" name="Shape 13"/>
          <p:cNvSpPr/>
          <p:nvPr/>
        </p:nvSpPr>
        <p:spPr>
          <a:xfrm>
            <a:off x="731520" y="3712464"/>
            <a:ext cx="10728655" cy="0"/>
          </a:xfrm>
          <a:prstGeom prst="line">
            <a:avLst/>
          </a:prstGeom>
          <a:noFill/>
          <a:ln w="12700">
            <a:solidFill>
              <a:srgbClr val="D8E2DE"/>
            </a:solidFill>
            <a:prstDash val="solid"/>
          </a:ln>
        </p:spPr>
      </p:sp>
      <p:sp>
        <p:nvSpPr>
          <p:cNvPr id="16" name="Text 14"/>
          <p:cNvSpPr txBox="1"/>
          <p:nvPr/>
        </p:nvSpPr>
        <p:spPr>
          <a:xfrm>
            <a:off x="731520" y="3913632"/>
            <a:ext cx="5120640" cy="292608"/>
          </a:xfrm>
          <a:prstGeom prst="rect">
            <a:avLst/>
          </a:prstGeom>
          <a:noFill/>
          <a:ln/>
        </p:spPr>
        <p:txBody>
          <a:bodyPr wrap="square" lIns="0" tIns="0" rIns="0" bIns="0" rtlCol="0" anchor="ctr"/>
          <a:lstStyle/>
          <a:p>
            <a:pPr indent="0" marL="0">
              <a:buNone/>
            </a:pPr>
            <a:r>
              <a:rPr lang="en-US" sz="1200" b="1" spc="130" kern="0" dirty="0">
                <a:solidFill>
                  <a:srgbClr val="5E6D68"/>
                </a:solidFill>
                <a:latin typeface="Calibri" pitchFamily="34" charset="0"/>
                <a:ea typeface="Calibri" pitchFamily="34" charset="-122"/>
                <a:cs typeface="Calibri" pitchFamily="34" charset="-120"/>
              </a:rPr>
              <a:t>Ставки без соглашения (НК РФ)</a:t>
            </a:r>
            <a:endParaRPr lang="en-US" sz="1200" dirty="0"/>
          </a:p>
        </p:txBody>
      </p:sp>
      <p:sp>
        <p:nvSpPr>
          <p:cNvPr id="17" name="Text 15"/>
          <p:cNvSpPr txBox="1"/>
          <p:nvPr/>
        </p:nvSpPr>
        <p:spPr>
          <a:xfrm>
            <a:off x="731520" y="4261104"/>
            <a:ext cx="1554480" cy="658368"/>
          </a:xfrm>
          <a:prstGeom prst="rect">
            <a:avLst/>
          </a:prstGeom>
          <a:noFill/>
          <a:ln/>
        </p:spPr>
        <p:txBody>
          <a:bodyPr wrap="square" lIns="0" tIns="0" rIns="0" bIns="0" rtlCol="0" anchor="ctr"/>
          <a:lstStyle/>
          <a:p>
            <a:pPr algn="l" indent="0" marL="0">
              <a:buNone/>
            </a:pPr>
            <a:r>
              <a:rPr lang="en-US" sz="3400" b="1" dirty="0">
                <a:solidFill>
                  <a:srgbClr val="0F3B34"/>
                </a:solidFill>
                <a:latin typeface="Cambria" pitchFamily="34" charset="0"/>
                <a:ea typeface="Cambria" pitchFamily="34" charset="-122"/>
                <a:cs typeface="Cambria" pitchFamily="34" charset="-120"/>
              </a:rPr>
              <a:t>15%</a:t>
            </a:r>
            <a:endParaRPr lang="en-US" sz="3400" dirty="0"/>
          </a:p>
        </p:txBody>
      </p:sp>
      <p:sp>
        <p:nvSpPr>
          <p:cNvPr id="18" name="Text 16"/>
          <p:cNvSpPr txBox="1"/>
          <p:nvPr/>
        </p:nvSpPr>
        <p:spPr>
          <a:xfrm>
            <a:off x="731520" y="4882896"/>
            <a:ext cx="1554480" cy="566928"/>
          </a:xfrm>
          <a:prstGeom prst="rect">
            <a:avLst/>
          </a:prstGeom>
          <a:noFill/>
          <a:ln/>
        </p:spPr>
        <p:txBody>
          <a:bodyPr wrap="square" lIns="0" tIns="0" rIns="0" bIns="0" rtlCol="0" anchor="t"/>
          <a:lstStyle/>
          <a:p>
            <a:pPr indent="0" marL="0">
              <a:lnSpc>
                <a:spcPts val="1500"/>
              </a:lnSpc>
              <a:buNone/>
            </a:pPr>
            <a:r>
              <a:rPr lang="en-US" sz="1150" dirty="0">
                <a:solidFill>
                  <a:srgbClr val="5E6D68"/>
                </a:solidFill>
                <a:latin typeface="Calibri" pitchFamily="34" charset="0"/>
                <a:ea typeface="Calibri" pitchFamily="34" charset="-122"/>
                <a:cs typeface="Calibri" pitchFamily="34" charset="-120"/>
              </a:rPr>
              <a:t>дивиденды</a:t>
            </a:r>
            <a:endParaRPr lang="en-US" sz="1150" dirty="0"/>
          </a:p>
        </p:txBody>
      </p:sp>
      <p:sp>
        <p:nvSpPr>
          <p:cNvPr id="19" name="Text 17"/>
          <p:cNvSpPr txBox="1"/>
          <p:nvPr/>
        </p:nvSpPr>
        <p:spPr>
          <a:xfrm>
            <a:off x="2468880" y="4261104"/>
            <a:ext cx="2194560" cy="658368"/>
          </a:xfrm>
          <a:prstGeom prst="rect">
            <a:avLst/>
          </a:prstGeom>
          <a:noFill/>
          <a:ln/>
        </p:spPr>
        <p:txBody>
          <a:bodyPr wrap="square" lIns="0" tIns="0" rIns="0" bIns="0" rtlCol="0" anchor="ctr"/>
          <a:lstStyle/>
          <a:p>
            <a:pPr algn="l" indent="0" marL="0">
              <a:buNone/>
            </a:pPr>
            <a:r>
              <a:rPr lang="en-US" sz="3400" b="1" dirty="0">
                <a:solidFill>
                  <a:srgbClr val="0F3B34"/>
                </a:solidFill>
                <a:latin typeface="Cambria" pitchFamily="34" charset="0"/>
                <a:ea typeface="Cambria" pitchFamily="34" charset="-122"/>
                <a:cs typeface="Cambria" pitchFamily="34" charset="-120"/>
              </a:rPr>
              <a:t>25%</a:t>
            </a:r>
            <a:endParaRPr lang="en-US" sz="3400" dirty="0"/>
          </a:p>
        </p:txBody>
      </p:sp>
      <p:sp>
        <p:nvSpPr>
          <p:cNvPr id="20" name="Text 18"/>
          <p:cNvSpPr txBox="1"/>
          <p:nvPr/>
        </p:nvSpPr>
        <p:spPr>
          <a:xfrm>
            <a:off x="2468880" y="4882896"/>
            <a:ext cx="2194560" cy="566928"/>
          </a:xfrm>
          <a:prstGeom prst="rect">
            <a:avLst/>
          </a:prstGeom>
          <a:noFill/>
          <a:ln/>
        </p:spPr>
        <p:txBody>
          <a:bodyPr wrap="square" lIns="0" tIns="0" rIns="0" bIns="0" rtlCol="0" anchor="t"/>
          <a:lstStyle/>
          <a:p>
            <a:pPr indent="0" marL="0">
              <a:lnSpc>
                <a:spcPts val="1500"/>
              </a:lnSpc>
              <a:buNone/>
            </a:pPr>
            <a:r>
              <a:rPr lang="en-US" sz="1150" dirty="0">
                <a:solidFill>
                  <a:srgbClr val="5E6D68"/>
                </a:solidFill>
                <a:latin typeface="Calibri" pitchFamily="34" charset="0"/>
                <a:ea typeface="Calibri" pitchFamily="34" charset="-122"/>
                <a:cs typeface="Calibri" pitchFamily="34" charset="-120"/>
              </a:rPr>
              <a:t>проценты и роялти</a:t>
            </a:r>
            <a:endParaRPr lang="en-US" sz="1150" dirty="0"/>
          </a:p>
        </p:txBody>
      </p:sp>
      <p:sp>
        <p:nvSpPr>
          <p:cNvPr id="21" name="Text 19"/>
          <p:cNvSpPr txBox="1"/>
          <p:nvPr/>
        </p:nvSpPr>
        <p:spPr>
          <a:xfrm>
            <a:off x="6492240" y="3913632"/>
            <a:ext cx="4937760" cy="292608"/>
          </a:xfrm>
          <a:prstGeom prst="rect">
            <a:avLst/>
          </a:prstGeom>
          <a:noFill/>
          <a:ln/>
        </p:spPr>
        <p:txBody>
          <a:bodyPr wrap="square" lIns="0" tIns="0" rIns="0" bIns="0" rtlCol="0" anchor="ctr"/>
          <a:lstStyle/>
          <a:p>
            <a:pPr indent="0" marL="0">
              <a:buNone/>
            </a:pPr>
            <a:r>
              <a:rPr lang="en-US" sz="1200" b="1" spc="130" kern="0" dirty="0">
                <a:solidFill>
                  <a:srgbClr val="5E6D68"/>
                </a:solidFill>
                <a:latin typeface="Calibri" pitchFamily="34" charset="0"/>
                <a:ea typeface="Calibri" pitchFamily="34" charset="-122"/>
                <a:cs typeface="Calibri" pitchFamily="34" charset="-120"/>
              </a:rPr>
              <a:t>Что даёт и чего требует соглашение</a:t>
            </a:r>
            <a:endParaRPr lang="en-US" sz="1200" dirty="0"/>
          </a:p>
        </p:txBody>
      </p:sp>
      <p:sp>
        <p:nvSpPr>
          <p:cNvPr id="22" name="Text 20"/>
          <p:cNvSpPr txBox="1"/>
          <p:nvPr/>
        </p:nvSpPr>
        <p:spPr>
          <a:xfrm>
            <a:off x="6492240" y="4261104"/>
            <a:ext cx="4965192" cy="146304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СИДН понижает ставку у источника — вплоть до нуля по процентам</a:t>
            </a:r>
            <a:endParaRPr lang="en-US" sz="1250" dirty="0"/>
          </a:p>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Льгота не даётся кондуитной компании, встроенной ради доступа к соглашению</a:t>
            </a:r>
            <a:endParaRPr lang="en-US" sz="1250" dirty="0"/>
          </a:p>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Подтверждение резидентства и фактического права на доход — до выплаты</a:t>
            </a:r>
            <a:endParaRPr lang="en-US" sz="1250" dirty="0"/>
          </a:p>
        </p:txBody>
      </p:sp>
      <p:sp>
        <p:nvSpPr>
          <p:cNvPr id="23" name="Shape 21"/>
          <p:cNvSpPr/>
          <p:nvPr/>
        </p:nvSpPr>
        <p:spPr>
          <a:xfrm>
            <a:off x="731520" y="5870448"/>
            <a:ext cx="5029200" cy="566928"/>
          </a:xfrm>
          <a:prstGeom prst="roundRect">
            <a:avLst>
              <a:gd name="adj" fmla="val 12903"/>
            </a:avLst>
          </a:prstGeom>
          <a:solidFill>
            <a:srgbClr val="FBF4EF"/>
          </a:solidFill>
          <a:ln w="12700">
            <a:solidFill>
              <a:srgbClr val="FBF4EF"/>
            </a:solidFill>
            <a:prstDash val="solid"/>
          </a:ln>
        </p:spPr>
      </p:sp>
      <p:sp>
        <p:nvSpPr>
          <p:cNvPr id="24" name="Text 22"/>
          <p:cNvSpPr txBox="1"/>
          <p:nvPr/>
        </p:nvSpPr>
        <p:spPr>
          <a:xfrm>
            <a:off x="987552" y="5870448"/>
            <a:ext cx="4572000" cy="566928"/>
          </a:xfrm>
          <a:prstGeom prst="rect">
            <a:avLst/>
          </a:prstGeom>
          <a:noFill/>
          <a:ln/>
        </p:spPr>
        <p:txBody>
          <a:bodyPr wrap="square" lIns="0" tIns="0" rIns="0" bIns="0" rtlCol="0" anchor="ctr"/>
          <a:lstStyle/>
          <a:p>
            <a:pPr indent="0" marL="0">
              <a:buNone/>
            </a:pPr>
            <a:r>
              <a:rPr lang="en-US" sz="1250" i="1" dirty="0">
                <a:solidFill>
                  <a:srgbClr val="A34E1E"/>
                </a:solidFill>
                <a:latin typeface="Calibri" pitchFamily="34" charset="0"/>
                <a:ea typeface="Calibri" pitchFamily="34" charset="-122"/>
                <a:cs typeface="Calibri" pitchFamily="34" charset="-120"/>
              </a:rPr>
              <a:t>Ставка — вопрос второй. Первый вопрос всегда: кому реально принадлежит доход.</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ПРЯМЫЕ НАЛОГИ · 3</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Трансфертное ценообразование</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Раздел V.1 НК РФ. Если продавец и покупатель — одна группа, цена сделки перестаёт быть рыночным фактом и становится инструментом распределения прибыли.</a:t>
            </a:r>
            <a:endParaRPr lang="en-US" sz="1450" dirty="0"/>
          </a:p>
        </p:txBody>
      </p:sp>
      <p:sp>
        <p:nvSpPr>
          <p:cNvPr id="5" name="Shape 3"/>
          <p:cNvSpPr/>
          <p:nvPr/>
        </p:nvSpPr>
        <p:spPr>
          <a:xfrm>
            <a:off x="731520" y="2395728"/>
            <a:ext cx="5294376" cy="2148840"/>
          </a:xfrm>
          <a:prstGeom prst="roundRect">
            <a:avLst>
              <a:gd name="adj" fmla="val 3404"/>
            </a:avLst>
          </a:prstGeom>
          <a:solidFill>
            <a:srgbClr val="F1F5F3"/>
          </a:solidFill>
          <a:ln w="12700">
            <a:solidFill>
              <a:srgbClr val="F1F5F3"/>
            </a:solidFill>
            <a:prstDash val="solid"/>
          </a:ln>
        </p:spPr>
      </p:sp>
      <p:sp>
        <p:nvSpPr>
          <p:cNvPr id="6" name="Text 4"/>
          <p:cNvSpPr txBox="1"/>
          <p:nvPr/>
        </p:nvSpPr>
        <p:spPr>
          <a:xfrm>
            <a:off x="1042416" y="2633472"/>
            <a:ext cx="4672584" cy="329184"/>
          </a:xfrm>
          <a:prstGeom prst="rect">
            <a:avLst/>
          </a:prstGeom>
          <a:noFill/>
          <a:ln/>
        </p:spPr>
        <p:txBody>
          <a:bodyPr wrap="square" lIns="0" tIns="0" rIns="0" bIns="0" rtlCol="0" anchor="ctr"/>
          <a:lstStyle/>
          <a:p>
            <a:pPr indent="0" marL="0">
              <a:buNone/>
            </a:pPr>
            <a:r>
              <a:rPr lang="en-US" sz="1900" b="1" dirty="0">
                <a:solidFill>
                  <a:srgbClr val="0F3B34"/>
                </a:solidFill>
                <a:latin typeface="Cambria" pitchFamily="34" charset="0"/>
                <a:ea typeface="Cambria" pitchFamily="34" charset="-122"/>
                <a:cs typeface="Cambria" pitchFamily="34" charset="-120"/>
              </a:rPr>
              <a:t>Механика размывания</a:t>
            </a:r>
            <a:endParaRPr lang="en-US" sz="1900" dirty="0"/>
          </a:p>
        </p:txBody>
      </p:sp>
      <p:sp>
        <p:nvSpPr>
          <p:cNvPr id="7" name="Text 5"/>
          <p:cNvSpPr txBox="1"/>
          <p:nvPr/>
        </p:nvSpPr>
        <p:spPr>
          <a:xfrm>
            <a:off x="1042416" y="3035808"/>
            <a:ext cx="4672584" cy="132588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Экспорт своей же торговой компании по заниженной цене</a:t>
            </a:r>
            <a:endParaRPr lang="en-US" sz="1250" dirty="0"/>
          </a:p>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Импорт от своей же структуры по завышенной цене</a:t>
            </a:r>
            <a:endParaRPr lang="en-US" sz="1250" dirty="0"/>
          </a:p>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Роялти и внутригрупповые услуги как канал вывода прибыли</a:t>
            </a:r>
            <a:endParaRPr lang="en-US" sz="1250" dirty="0"/>
          </a:p>
        </p:txBody>
      </p:sp>
      <p:sp>
        <p:nvSpPr>
          <p:cNvPr id="8" name="Shape 6"/>
          <p:cNvSpPr/>
          <p:nvPr/>
        </p:nvSpPr>
        <p:spPr>
          <a:xfrm>
            <a:off x="6345936" y="2395728"/>
            <a:ext cx="5294376" cy="2148840"/>
          </a:xfrm>
          <a:prstGeom prst="roundRect">
            <a:avLst>
              <a:gd name="adj" fmla="val 3404"/>
            </a:avLst>
          </a:prstGeom>
          <a:solidFill>
            <a:srgbClr val="FBF4EF"/>
          </a:solidFill>
          <a:ln w="12700">
            <a:solidFill>
              <a:srgbClr val="FBF4EF"/>
            </a:solidFill>
            <a:prstDash val="solid"/>
          </a:ln>
        </p:spPr>
      </p:sp>
      <p:sp>
        <p:nvSpPr>
          <p:cNvPr id="9" name="Text 7"/>
          <p:cNvSpPr txBox="1"/>
          <p:nvPr/>
        </p:nvSpPr>
        <p:spPr>
          <a:xfrm>
            <a:off x="6656832" y="2633472"/>
            <a:ext cx="4672584" cy="329184"/>
          </a:xfrm>
          <a:prstGeom prst="rect">
            <a:avLst/>
          </a:prstGeom>
          <a:noFill/>
          <a:ln/>
        </p:spPr>
        <p:txBody>
          <a:bodyPr wrap="square" lIns="0" tIns="0" rIns="0" bIns="0" rtlCol="0" anchor="ctr"/>
          <a:lstStyle/>
          <a:p>
            <a:pPr indent="0" marL="0">
              <a:buNone/>
            </a:pPr>
            <a:r>
              <a:rPr lang="en-US" sz="1900" b="1" dirty="0">
                <a:solidFill>
                  <a:srgbClr val="A34E1E"/>
                </a:solidFill>
                <a:latin typeface="Cambria" pitchFamily="34" charset="0"/>
                <a:ea typeface="Cambria" pitchFamily="34" charset="-122"/>
                <a:cs typeface="Cambria" pitchFamily="34" charset="-120"/>
              </a:rPr>
              <a:t>Ответ правопорядка</a:t>
            </a:r>
            <a:endParaRPr lang="en-US" sz="1900" dirty="0"/>
          </a:p>
        </p:txBody>
      </p:sp>
      <p:sp>
        <p:nvSpPr>
          <p:cNvPr id="10" name="Text 8"/>
          <p:cNvSpPr txBox="1"/>
          <p:nvPr/>
        </p:nvSpPr>
        <p:spPr>
          <a:xfrm>
            <a:off x="6656832" y="3035808"/>
            <a:ext cx="4672584" cy="132588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Принцип «вытянутой руки»: цена сопоставляется с рыночной</a:t>
            </a:r>
            <a:endParaRPr lang="en-US" sz="1250" dirty="0"/>
          </a:p>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Разница доначисляется по правилам раздела V.1 НК РФ</a:t>
            </a:r>
            <a:endParaRPr lang="en-US" sz="1250" dirty="0"/>
          </a:p>
          <a:p>
            <a:pPr marL="342900" indent="-342900">
              <a:lnSpc>
                <a:spcPts val="1800"/>
              </a:lnSpc>
              <a:spcAft>
                <a:spcPts val="700"/>
              </a:spcAft>
              <a:buSzPct val="100000"/>
              <a:buChar char="–"/>
            </a:pPr>
            <a:r>
              <a:rPr lang="en-US" sz="1250" dirty="0">
                <a:solidFill>
                  <a:srgbClr val="17211F"/>
                </a:solidFill>
                <a:latin typeface="Calibri" pitchFamily="34" charset="0"/>
                <a:ea typeface="Calibri" pitchFamily="34" charset="-122"/>
                <a:cs typeface="Calibri" pitchFamily="34" charset="-120"/>
              </a:rPr>
              <a:t>Документация по контролируемым сделкам и уведомления</a:t>
            </a:r>
            <a:endParaRPr lang="en-US" sz="1250" dirty="0"/>
          </a:p>
        </p:txBody>
      </p:sp>
      <p:sp>
        <p:nvSpPr>
          <p:cNvPr id="11" name="Text 9"/>
          <p:cNvSpPr txBox="1"/>
          <p:nvPr/>
        </p:nvSpPr>
        <p:spPr>
          <a:xfrm>
            <a:off x="731520" y="4773168"/>
            <a:ext cx="7315200" cy="310896"/>
          </a:xfrm>
          <a:prstGeom prst="rect">
            <a:avLst/>
          </a:prstGeom>
          <a:noFill/>
          <a:ln/>
        </p:spPr>
        <p:txBody>
          <a:bodyPr wrap="square" lIns="0" tIns="0" rIns="0" bIns="0" rtlCol="0" anchor="ctr"/>
          <a:lstStyle/>
          <a:p>
            <a:pPr indent="0" marL="0">
              <a:buNone/>
            </a:pPr>
            <a:r>
              <a:rPr lang="en-US" sz="1200" b="1" spc="130" kern="0" dirty="0">
                <a:solidFill>
                  <a:srgbClr val="5E6D68"/>
                </a:solidFill>
                <a:latin typeface="Calibri" pitchFamily="34" charset="0"/>
                <a:ea typeface="Calibri" pitchFamily="34" charset="-122"/>
                <a:cs typeface="Calibri" pitchFamily="34" charset="-120"/>
              </a:rPr>
              <a:t>Ужесточение с 2024 года — ФЗ от 27.11.2023 № 539-ФЗ</a:t>
            </a:r>
            <a:endParaRPr lang="en-US" sz="1200" dirty="0"/>
          </a:p>
        </p:txBody>
      </p:sp>
      <p:sp>
        <p:nvSpPr>
          <p:cNvPr id="12" name="Shape 10"/>
          <p:cNvSpPr/>
          <p:nvPr/>
        </p:nvSpPr>
        <p:spPr>
          <a:xfrm>
            <a:off x="731520" y="5120640"/>
            <a:ext cx="5394960" cy="1188720"/>
          </a:xfrm>
          <a:prstGeom prst="roundRect">
            <a:avLst>
              <a:gd name="adj" fmla="val 6154"/>
            </a:avLst>
          </a:prstGeom>
          <a:solidFill>
            <a:srgbClr val="0F3B34"/>
          </a:solidFill>
          <a:ln w="12700">
            <a:solidFill>
              <a:srgbClr val="0F3B34"/>
            </a:solidFill>
            <a:prstDash val="solid"/>
          </a:ln>
        </p:spPr>
      </p:sp>
      <p:sp>
        <p:nvSpPr>
          <p:cNvPr id="13" name="Text 11"/>
          <p:cNvSpPr txBox="1"/>
          <p:nvPr/>
        </p:nvSpPr>
        <p:spPr>
          <a:xfrm>
            <a:off x="1042416" y="5230368"/>
            <a:ext cx="4773168" cy="969264"/>
          </a:xfrm>
          <a:prstGeom prst="rect">
            <a:avLst/>
          </a:prstGeom>
          <a:noFill/>
          <a:ln/>
        </p:spPr>
        <p:txBody>
          <a:bodyPr wrap="square" lIns="0" tIns="0" rIns="0" bIns="0" rtlCol="0" anchor="ctr"/>
          <a:lstStyle/>
          <a:p>
            <a:pPr indent="0" marL="0">
              <a:lnSpc>
                <a:spcPts val="1700"/>
              </a:lnSpc>
              <a:buNone/>
            </a:pPr>
            <a:r>
              <a:rPr lang="en-US" sz="2200" b="1" dirty="0">
                <a:solidFill>
                  <a:srgbClr val="E08A4E"/>
                </a:solidFill>
                <a:latin typeface="Cambria" pitchFamily="34" charset="0"/>
                <a:ea typeface="Cambria" pitchFamily="34" charset="-122"/>
                <a:cs typeface="Cambria" pitchFamily="34" charset="-120"/>
              </a:rPr>
              <a:t>= дивиденды</a:t>
            </a:r>
            <a:endParaRPr lang="en-US" sz="2200" dirty="0"/>
          </a:p>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Доход, скрытый в нерыночной цене, приравнивается к дивидендам и облагается налогом у источника</a:t>
            </a:r>
            <a:endParaRPr lang="en-US" sz="2200" dirty="0"/>
          </a:p>
        </p:txBody>
      </p:sp>
      <p:sp>
        <p:nvSpPr>
          <p:cNvPr id="14" name="Shape 12"/>
          <p:cNvSpPr/>
          <p:nvPr/>
        </p:nvSpPr>
        <p:spPr>
          <a:xfrm>
            <a:off x="6446520" y="5120640"/>
            <a:ext cx="5029200" cy="1188720"/>
          </a:xfrm>
          <a:prstGeom prst="roundRect">
            <a:avLst>
              <a:gd name="adj" fmla="val 6154"/>
            </a:avLst>
          </a:prstGeom>
          <a:solidFill>
            <a:srgbClr val="0F3B34"/>
          </a:solidFill>
          <a:ln w="12700">
            <a:solidFill>
              <a:srgbClr val="0F3B34"/>
            </a:solidFill>
            <a:prstDash val="solid"/>
          </a:ln>
        </p:spPr>
      </p:sp>
      <p:sp>
        <p:nvSpPr>
          <p:cNvPr id="15" name="Text 13"/>
          <p:cNvSpPr txBox="1"/>
          <p:nvPr/>
        </p:nvSpPr>
        <p:spPr>
          <a:xfrm>
            <a:off x="6757416" y="5230368"/>
            <a:ext cx="4407408" cy="969264"/>
          </a:xfrm>
          <a:prstGeom prst="rect">
            <a:avLst/>
          </a:prstGeom>
          <a:noFill/>
          <a:ln/>
        </p:spPr>
        <p:txBody>
          <a:bodyPr wrap="square" lIns="0" tIns="0" rIns="0" bIns="0" rtlCol="0" anchor="ctr"/>
          <a:lstStyle/>
          <a:p>
            <a:pPr indent="0" marL="0">
              <a:lnSpc>
                <a:spcPts val="1700"/>
              </a:lnSpc>
              <a:buNone/>
            </a:pPr>
            <a:r>
              <a:rPr lang="en-US" sz="2200" b="1" dirty="0">
                <a:solidFill>
                  <a:srgbClr val="E08A4E"/>
                </a:solidFill>
                <a:latin typeface="Cambria" pitchFamily="34" charset="0"/>
                <a:ea typeface="Cambria" pitchFamily="34" charset="-122"/>
                <a:cs typeface="Cambria" pitchFamily="34" charset="-120"/>
              </a:rPr>
              <a:t>100%</a:t>
            </a:r>
            <a:endParaRPr lang="en-US" sz="2200" dirty="0"/>
          </a:p>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Штраф от неуплаченной суммы вместо прежних 40% — цена ошибки в ценообразовании удвоилась</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3B34"/>
        </a:solidFill>
      </p:bgPr>
    </p:bg>
    <p:spTree>
      <p:nvGrpSpPr>
        <p:cNvPr id="1" name=""/>
        <p:cNvGrpSpPr/>
        <p:nvPr/>
      </p:nvGrpSpPr>
      <p:grpSpPr>
        <a:xfrm>
          <a:off x="0" y="0"/>
          <a:ext cx="0" cy="0"/>
          <a:chOff x="0" y="0"/>
          <a:chExt cx="0" cy="0"/>
        </a:xfrm>
      </p:grpSpPr>
      <p:sp>
        <p:nvSpPr>
          <p:cNvPr id="2" name="Shape 0"/>
          <p:cNvSpPr/>
          <p:nvPr/>
        </p:nvSpPr>
        <p:spPr>
          <a:xfrm>
            <a:off x="-1463040" y="3931920"/>
            <a:ext cx="4206240" cy="4206240"/>
          </a:xfrm>
          <a:prstGeom prst="ellipse">
            <a:avLst/>
          </a:prstGeom>
          <a:solidFill>
            <a:srgbClr val="0F3B34">
              <a:alpha val="0"/>
            </a:srgbClr>
          </a:solidFill>
          <a:ln w="15875">
            <a:solidFill>
              <a:srgbClr val="1C5A4F"/>
            </a:solidFill>
            <a:prstDash val="solid"/>
          </a:ln>
        </p:spPr>
      </p:sp>
      <p:sp>
        <p:nvSpPr>
          <p:cNvPr id="3" name="Text 1"/>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9FBDB3"/>
                </a:solidFill>
                <a:latin typeface="Calibri" pitchFamily="34" charset="0"/>
                <a:ea typeface="Calibri" pitchFamily="34" charset="-122"/>
                <a:cs typeface="Calibri" pitchFamily="34" charset="-120"/>
              </a:rPr>
              <a:t>МЕЖДУНАРОДНАЯ ПОВЕСТКА · 1</a:t>
            </a:r>
            <a:endParaRPr lang="en-US" sz="1100" dirty="0"/>
          </a:p>
        </p:txBody>
      </p:sp>
      <p:sp>
        <p:nvSpPr>
          <p:cNvPr id="4" name="Text 2"/>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От BEPS к глобальному минимальному налогу</a:t>
            </a:r>
            <a:endParaRPr lang="en-US" sz="3200" dirty="0"/>
          </a:p>
        </p:txBody>
      </p:sp>
      <p:sp>
        <p:nvSpPr>
          <p:cNvPr id="5" name="Text 3"/>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9FBDB3"/>
                </a:solidFill>
                <a:latin typeface="Calibri" pitchFamily="34" charset="0"/>
                <a:ea typeface="Calibri" pitchFamily="34" charset="-122"/>
                <a:cs typeface="Calibri" pitchFamily="34" charset="-120"/>
              </a:rPr>
              <a:t>Международная реакция на разрыв между местом создания стоимости и местом уплаты налога — три этапа за десять лет.</a:t>
            </a:r>
            <a:endParaRPr lang="en-US" sz="1450" dirty="0"/>
          </a:p>
        </p:txBody>
      </p:sp>
      <p:sp>
        <p:nvSpPr>
          <p:cNvPr id="6" name="Shape 4"/>
          <p:cNvSpPr/>
          <p:nvPr/>
        </p:nvSpPr>
        <p:spPr>
          <a:xfrm>
            <a:off x="868680" y="2514600"/>
            <a:ext cx="10454335" cy="0"/>
          </a:xfrm>
          <a:prstGeom prst="line">
            <a:avLst/>
          </a:prstGeom>
          <a:noFill/>
          <a:ln w="12700">
            <a:solidFill>
              <a:srgbClr val="2A6A5E"/>
            </a:solidFill>
            <a:prstDash val="solid"/>
          </a:ln>
        </p:spPr>
      </p:sp>
      <p:sp>
        <p:nvSpPr>
          <p:cNvPr id="7" name="Shape 5"/>
          <p:cNvSpPr/>
          <p:nvPr/>
        </p:nvSpPr>
        <p:spPr>
          <a:xfrm>
            <a:off x="868680" y="2432304"/>
            <a:ext cx="164592" cy="164592"/>
          </a:xfrm>
          <a:prstGeom prst="ellipse">
            <a:avLst/>
          </a:prstGeom>
          <a:solidFill>
            <a:srgbClr val="E08A4E"/>
          </a:solidFill>
          <a:ln w="12700">
            <a:solidFill>
              <a:srgbClr val="E08A4E"/>
            </a:solidFill>
            <a:prstDash val="solid"/>
          </a:ln>
        </p:spPr>
      </p:sp>
      <p:sp>
        <p:nvSpPr>
          <p:cNvPr id="8" name="Text 6"/>
          <p:cNvSpPr txBox="1"/>
          <p:nvPr/>
        </p:nvSpPr>
        <p:spPr>
          <a:xfrm>
            <a:off x="731520" y="2697480"/>
            <a:ext cx="3401568" cy="365760"/>
          </a:xfrm>
          <a:prstGeom prst="rect">
            <a:avLst/>
          </a:prstGeom>
          <a:noFill/>
          <a:ln/>
        </p:spPr>
        <p:txBody>
          <a:bodyPr wrap="square" lIns="0" tIns="0" rIns="0" bIns="0" rtlCol="0" anchor="ctr"/>
          <a:lstStyle/>
          <a:p>
            <a:pPr indent="0" marL="0">
              <a:buNone/>
            </a:pPr>
            <a:r>
              <a:rPr lang="en-US" sz="2600" b="1" dirty="0">
                <a:solidFill>
                  <a:srgbClr val="E08A4E"/>
                </a:solidFill>
                <a:latin typeface="Cambria" pitchFamily="34" charset="0"/>
                <a:ea typeface="Cambria" pitchFamily="34" charset="-122"/>
                <a:cs typeface="Cambria" pitchFamily="34" charset="-120"/>
              </a:rPr>
              <a:t>2015</a:t>
            </a:r>
            <a:endParaRPr lang="en-US" sz="2600" dirty="0"/>
          </a:p>
        </p:txBody>
      </p:sp>
      <p:sp>
        <p:nvSpPr>
          <p:cNvPr id="9" name="Text 7"/>
          <p:cNvSpPr txBox="1"/>
          <p:nvPr/>
        </p:nvSpPr>
        <p:spPr>
          <a:xfrm>
            <a:off x="731520" y="3136392"/>
            <a:ext cx="3401568"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План BEPS</a:t>
            </a:r>
            <a:endParaRPr lang="en-US" sz="1700" dirty="0"/>
          </a:p>
        </p:txBody>
      </p:sp>
      <p:sp>
        <p:nvSpPr>
          <p:cNvPr id="10" name="Text 8"/>
          <p:cNvSpPr txBox="1"/>
          <p:nvPr/>
        </p:nvSpPr>
        <p:spPr>
          <a:xfrm>
            <a:off x="731520" y="3447288"/>
            <a:ext cx="3264408" cy="91440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15 действий ОЭСР и G20 против разрыва между местом создания стоимости и местом уплаты налога</a:t>
            </a:r>
            <a:endParaRPr lang="en-US" sz="1250" dirty="0"/>
          </a:p>
        </p:txBody>
      </p:sp>
      <p:sp>
        <p:nvSpPr>
          <p:cNvPr id="11" name="Shape 9"/>
          <p:cNvSpPr/>
          <p:nvPr/>
        </p:nvSpPr>
        <p:spPr>
          <a:xfrm>
            <a:off x="4590288" y="2432304"/>
            <a:ext cx="164592" cy="164592"/>
          </a:xfrm>
          <a:prstGeom prst="ellipse">
            <a:avLst/>
          </a:prstGeom>
          <a:solidFill>
            <a:srgbClr val="E08A4E"/>
          </a:solidFill>
          <a:ln w="12700">
            <a:solidFill>
              <a:srgbClr val="E08A4E"/>
            </a:solidFill>
            <a:prstDash val="solid"/>
          </a:ln>
        </p:spPr>
      </p:sp>
      <p:sp>
        <p:nvSpPr>
          <p:cNvPr id="12" name="Text 10"/>
          <p:cNvSpPr txBox="1"/>
          <p:nvPr/>
        </p:nvSpPr>
        <p:spPr>
          <a:xfrm>
            <a:off x="4453128" y="2697480"/>
            <a:ext cx="3401568" cy="365760"/>
          </a:xfrm>
          <a:prstGeom prst="rect">
            <a:avLst/>
          </a:prstGeom>
          <a:noFill/>
          <a:ln/>
        </p:spPr>
        <p:txBody>
          <a:bodyPr wrap="square" lIns="0" tIns="0" rIns="0" bIns="0" rtlCol="0" anchor="ctr"/>
          <a:lstStyle/>
          <a:p>
            <a:pPr indent="0" marL="0">
              <a:buNone/>
            </a:pPr>
            <a:r>
              <a:rPr lang="en-US" sz="2600" b="1" dirty="0">
                <a:solidFill>
                  <a:srgbClr val="E08A4E"/>
                </a:solidFill>
                <a:latin typeface="Cambria" pitchFamily="34" charset="0"/>
                <a:ea typeface="Cambria" pitchFamily="34" charset="-122"/>
                <a:cs typeface="Cambria" pitchFamily="34" charset="-120"/>
              </a:rPr>
              <a:t>2021</a:t>
            </a:r>
            <a:endParaRPr lang="en-US" sz="2600" dirty="0"/>
          </a:p>
        </p:txBody>
      </p:sp>
      <p:sp>
        <p:nvSpPr>
          <p:cNvPr id="13" name="Text 11"/>
          <p:cNvSpPr txBox="1"/>
          <p:nvPr/>
        </p:nvSpPr>
        <p:spPr>
          <a:xfrm>
            <a:off x="4453128" y="3136392"/>
            <a:ext cx="3401568"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MLI в России</a:t>
            </a:r>
            <a:endParaRPr lang="en-US" sz="1700" dirty="0"/>
          </a:p>
        </p:txBody>
      </p:sp>
      <p:sp>
        <p:nvSpPr>
          <p:cNvPr id="14" name="Text 12"/>
          <p:cNvSpPr txBox="1"/>
          <p:nvPr/>
        </p:nvSpPr>
        <p:spPr>
          <a:xfrm>
            <a:off x="4453128" y="3447288"/>
            <a:ext cx="3264408" cy="91440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Многосторонняя конвенция меняет сотни двусторонних СИДН одним актом. Тест основной цели (PPT)</a:t>
            </a:r>
            <a:endParaRPr lang="en-US" sz="1250" dirty="0"/>
          </a:p>
        </p:txBody>
      </p:sp>
      <p:sp>
        <p:nvSpPr>
          <p:cNvPr id="15" name="Shape 13"/>
          <p:cNvSpPr/>
          <p:nvPr/>
        </p:nvSpPr>
        <p:spPr>
          <a:xfrm>
            <a:off x="8311896" y="2432304"/>
            <a:ext cx="164592" cy="164592"/>
          </a:xfrm>
          <a:prstGeom prst="ellipse">
            <a:avLst/>
          </a:prstGeom>
          <a:solidFill>
            <a:srgbClr val="E08A4E"/>
          </a:solidFill>
          <a:ln w="12700">
            <a:solidFill>
              <a:srgbClr val="E08A4E"/>
            </a:solidFill>
            <a:prstDash val="solid"/>
          </a:ln>
        </p:spPr>
      </p:sp>
      <p:sp>
        <p:nvSpPr>
          <p:cNvPr id="16" name="Text 14"/>
          <p:cNvSpPr txBox="1"/>
          <p:nvPr/>
        </p:nvSpPr>
        <p:spPr>
          <a:xfrm>
            <a:off x="8174736" y="2697480"/>
            <a:ext cx="3401568" cy="365760"/>
          </a:xfrm>
          <a:prstGeom prst="rect">
            <a:avLst/>
          </a:prstGeom>
          <a:noFill/>
          <a:ln/>
        </p:spPr>
        <p:txBody>
          <a:bodyPr wrap="square" lIns="0" tIns="0" rIns="0" bIns="0" rtlCol="0" anchor="ctr"/>
          <a:lstStyle/>
          <a:p>
            <a:pPr indent="0" marL="0">
              <a:buNone/>
            </a:pPr>
            <a:r>
              <a:rPr lang="en-US" sz="2600" b="1" dirty="0">
                <a:solidFill>
                  <a:srgbClr val="E08A4E"/>
                </a:solidFill>
                <a:latin typeface="Cambria" pitchFamily="34" charset="0"/>
                <a:ea typeface="Cambria" pitchFamily="34" charset="-122"/>
                <a:cs typeface="Cambria" pitchFamily="34" charset="-120"/>
              </a:rPr>
              <a:t>2024+</a:t>
            </a:r>
            <a:endParaRPr lang="en-US" sz="2600" dirty="0"/>
          </a:p>
        </p:txBody>
      </p:sp>
      <p:sp>
        <p:nvSpPr>
          <p:cNvPr id="17" name="Text 15"/>
          <p:cNvSpPr txBox="1"/>
          <p:nvPr/>
        </p:nvSpPr>
        <p:spPr>
          <a:xfrm>
            <a:off x="8174736" y="3136392"/>
            <a:ext cx="3401568" cy="2743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Pillar Two</a:t>
            </a:r>
            <a:endParaRPr lang="en-US" sz="1700" dirty="0"/>
          </a:p>
        </p:txBody>
      </p:sp>
      <p:sp>
        <p:nvSpPr>
          <p:cNvPr id="18" name="Text 16"/>
          <p:cNvSpPr txBox="1"/>
          <p:nvPr/>
        </p:nvSpPr>
        <p:spPr>
          <a:xfrm>
            <a:off x="8174736" y="3447288"/>
            <a:ext cx="3264408" cy="91440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Глобальный минимальный налог действует в ЕС, Великобритании, Японии, Корее, Канаде, Австралии</a:t>
            </a:r>
            <a:endParaRPr lang="en-US" sz="1250" dirty="0"/>
          </a:p>
        </p:txBody>
      </p:sp>
      <p:sp>
        <p:nvSpPr>
          <p:cNvPr id="19" name="Shape 17"/>
          <p:cNvSpPr/>
          <p:nvPr/>
        </p:nvSpPr>
        <p:spPr>
          <a:xfrm>
            <a:off x="731520" y="4736592"/>
            <a:ext cx="10728655" cy="1371600"/>
          </a:xfrm>
          <a:prstGeom prst="roundRect">
            <a:avLst>
              <a:gd name="adj" fmla="val 5333"/>
            </a:avLst>
          </a:prstGeom>
          <a:solidFill>
            <a:srgbClr val="0A2A25"/>
          </a:solidFill>
          <a:ln w="12700">
            <a:solidFill>
              <a:srgbClr val="0A2A25"/>
            </a:solidFill>
            <a:prstDash val="solid"/>
          </a:ln>
        </p:spPr>
      </p:sp>
      <p:sp>
        <p:nvSpPr>
          <p:cNvPr id="20" name="Text 18"/>
          <p:cNvSpPr txBox="1"/>
          <p:nvPr/>
        </p:nvSpPr>
        <p:spPr>
          <a:xfrm>
            <a:off x="1097280" y="4901184"/>
            <a:ext cx="2194560" cy="402336"/>
          </a:xfrm>
          <a:prstGeom prst="rect">
            <a:avLst/>
          </a:prstGeom>
          <a:noFill/>
          <a:ln/>
        </p:spPr>
        <p:txBody>
          <a:bodyPr wrap="square" lIns="0" tIns="0" rIns="0" bIns="0" rtlCol="0" anchor="ctr"/>
          <a:lstStyle/>
          <a:p>
            <a:pPr indent="0" marL="0">
              <a:buNone/>
            </a:pPr>
            <a:r>
              <a:rPr lang="en-US" sz="2400" b="1" dirty="0">
                <a:solidFill>
                  <a:srgbClr val="E08A4E"/>
                </a:solidFill>
                <a:latin typeface="Cambria" pitchFamily="34" charset="0"/>
                <a:ea typeface="Cambria" pitchFamily="34" charset="-122"/>
                <a:cs typeface="Cambria" pitchFamily="34" charset="-120"/>
              </a:rPr>
              <a:t>15%</a:t>
            </a:r>
            <a:endParaRPr lang="en-US" sz="2400" dirty="0"/>
          </a:p>
        </p:txBody>
      </p:sp>
      <p:sp>
        <p:nvSpPr>
          <p:cNvPr id="21" name="Text 19"/>
          <p:cNvSpPr txBox="1"/>
          <p:nvPr/>
        </p:nvSpPr>
        <p:spPr>
          <a:xfrm>
            <a:off x="1097280" y="5321808"/>
            <a:ext cx="2194560" cy="502920"/>
          </a:xfrm>
          <a:prstGeom prst="rect">
            <a:avLst/>
          </a:prstGeom>
          <a:noFill/>
          <a:ln/>
        </p:spPr>
        <p:txBody>
          <a:bodyPr wrap="square" lIns="0" tIns="0" rIns="0" bIns="0" rtlCol="0" anchor="ctr"/>
          <a:lstStyle/>
          <a:p>
            <a:pPr indent="0" marL="0">
              <a:lnSpc>
                <a:spcPts val="1500"/>
              </a:lnSpc>
              <a:buNone/>
            </a:pPr>
            <a:r>
              <a:rPr lang="en-US" sz="1150" dirty="0">
                <a:solidFill>
                  <a:srgbClr val="9FBDB3"/>
                </a:solidFill>
                <a:latin typeface="Calibri" pitchFamily="34" charset="0"/>
                <a:ea typeface="Calibri" pitchFamily="34" charset="-122"/>
                <a:cs typeface="Calibri" pitchFamily="34" charset="-120"/>
              </a:rPr>
              <a:t>минимальная эффективная ставка</a:t>
            </a:r>
            <a:endParaRPr lang="en-US" sz="1150" dirty="0"/>
          </a:p>
        </p:txBody>
      </p:sp>
      <p:sp>
        <p:nvSpPr>
          <p:cNvPr id="22" name="Text 20"/>
          <p:cNvSpPr txBox="1"/>
          <p:nvPr/>
        </p:nvSpPr>
        <p:spPr>
          <a:xfrm>
            <a:off x="3429000" y="4901184"/>
            <a:ext cx="2194560" cy="402336"/>
          </a:xfrm>
          <a:prstGeom prst="rect">
            <a:avLst/>
          </a:prstGeom>
          <a:noFill/>
          <a:ln/>
        </p:spPr>
        <p:txBody>
          <a:bodyPr wrap="square" lIns="0" tIns="0" rIns="0" bIns="0" rtlCol="0" anchor="ctr"/>
          <a:lstStyle/>
          <a:p>
            <a:pPr indent="0" marL="0">
              <a:buNone/>
            </a:pPr>
            <a:r>
              <a:rPr lang="en-US" sz="2400" b="1" dirty="0">
                <a:solidFill>
                  <a:srgbClr val="E08A4E"/>
                </a:solidFill>
                <a:latin typeface="Cambria" pitchFamily="34" charset="0"/>
                <a:ea typeface="Cambria" pitchFamily="34" charset="-122"/>
                <a:cs typeface="Cambria" pitchFamily="34" charset="-120"/>
              </a:rPr>
              <a:t>750 млн €</a:t>
            </a:r>
            <a:endParaRPr lang="en-US" sz="2400" dirty="0"/>
          </a:p>
        </p:txBody>
      </p:sp>
      <p:sp>
        <p:nvSpPr>
          <p:cNvPr id="23" name="Text 21"/>
          <p:cNvSpPr txBox="1"/>
          <p:nvPr/>
        </p:nvSpPr>
        <p:spPr>
          <a:xfrm>
            <a:off x="3429000" y="5321808"/>
            <a:ext cx="2194560" cy="502920"/>
          </a:xfrm>
          <a:prstGeom prst="rect">
            <a:avLst/>
          </a:prstGeom>
          <a:noFill/>
          <a:ln/>
        </p:spPr>
        <p:txBody>
          <a:bodyPr wrap="square" lIns="0" tIns="0" rIns="0" bIns="0" rtlCol="0" anchor="ctr"/>
          <a:lstStyle/>
          <a:p>
            <a:pPr indent="0" marL="0">
              <a:lnSpc>
                <a:spcPts val="1500"/>
              </a:lnSpc>
              <a:buNone/>
            </a:pPr>
            <a:r>
              <a:rPr lang="en-US" sz="1150" dirty="0">
                <a:solidFill>
                  <a:srgbClr val="9FBDB3"/>
                </a:solidFill>
                <a:latin typeface="Calibri" pitchFamily="34" charset="0"/>
                <a:ea typeface="Calibri" pitchFamily="34" charset="-122"/>
                <a:cs typeface="Calibri" pitchFamily="34" charset="-120"/>
              </a:rPr>
              <a:t>порог выручки группы</a:t>
            </a:r>
            <a:endParaRPr lang="en-US" sz="1150" dirty="0"/>
          </a:p>
        </p:txBody>
      </p:sp>
      <p:sp>
        <p:nvSpPr>
          <p:cNvPr id="24" name="Text 22"/>
          <p:cNvSpPr txBox="1"/>
          <p:nvPr/>
        </p:nvSpPr>
        <p:spPr>
          <a:xfrm>
            <a:off x="5760720" y="4901184"/>
            <a:ext cx="2194560" cy="402336"/>
          </a:xfrm>
          <a:prstGeom prst="rect">
            <a:avLst/>
          </a:prstGeom>
          <a:noFill/>
          <a:ln/>
        </p:spPr>
        <p:txBody>
          <a:bodyPr wrap="square" lIns="0" tIns="0" rIns="0" bIns="0" rtlCol="0" anchor="ctr"/>
          <a:lstStyle/>
          <a:p>
            <a:pPr indent="0" marL="0">
              <a:buNone/>
            </a:pPr>
            <a:r>
              <a:rPr lang="en-US" sz="2400" b="1" dirty="0">
                <a:solidFill>
                  <a:srgbClr val="E08A4E"/>
                </a:solidFill>
                <a:latin typeface="Cambria" pitchFamily="34" charset="0"/>
                <a:ea typeface="Cambria" pitchFamily="34" charset="-122"/>
                <a:cs typeface="Cambria" pitchFamily="34" charset="-120"/>
              </a:rPr>
              <a:t>60+</a:t>
            </a:r>
            <a:endParaRPr lang="en-US" sz="2400" dirty="0"/>
          </a:p>
        </p:txBody>
      </p:sp>
      <p:sp>
        <p:nvSpPr>
          <p:cNvPr id="25" name="Text 23"/>
          <p:cNvSpPr txBox="1"/>
          <p:nvPr/>
        </p:nvSpPr>
        <p:spPr>
          <a:xfrm>
            <a:off x="5760720" y="5321808"/>
            <a:ext cx="2194560" cy="502920"/>
          </a:xfrm>
          <a:prstGeom prst="rect">
            <a:avLst/>
          </a:prstGeom>
          <a:noFill/>
          <a:ln/>
        </p:spPr>
        <p:txBody>
          <a:bodyPr wrap="square" lIns="0" tIns="0" rIns="0" bIns="0" rtlCol="0" anchor="ctr"/>
          <a:lstStyle/>
          <a:p>
            <a:pPr indent="0" marL="0">
              <a:lnSpc>
                <a:spcPts val="1500"/>
              </a:lnSpc>
              <a:buNone/>
            </a:pPr>
            <a:r>
              <a:rPr lang="en-US" sz="1150" dirty="0">
                <a:solidFill>
                  <a:srgbClr val="9FBDB3"/>
                </a:solidFill>
                <a:latin typeface="Calibri" pitchFamily="34" charset="0"/>
                <a:ea typeface="Calibri" pitchFamily="34" charset="-122"/>
                <a:cs typeface="Calibri" pitchFamily="34" charset="-120"/>
              </a:rPr>
              <a:t>юрисдикций уже внедрили</a:t>
            </a:r>
            <a:endParaRPr lang="en-US" sz="1150" dirty="0"/>
          </a:p>
        </p:txBody>
      </p:sp>
      <p:sp>
        <p:nvSpPr>
          <p:cNvPr id="26" name="Text 24"/>
          <p:cNvSpPr txBox="1"/>
          <p:nvPr/>
        </p:nvSpPr>
        <p:spPr>
          <a:xfrm>
            <a:off x="8229600" y="4901184"/>
            <a:ext cx="2864815" cy="1005840"/>
          </a:xfrm>
          <a:prstGeom prst="rect">
            <a:avLst/>
          </a:prstGeom>
          <a:noFill/>
          <a:ln/>
        </p:spPr>
        <p:txBody>
          <a:bodyPr wrap="square" lIns="0" tIns="0" rIns="0" bIns="0" rtlCol="0" anchor="ctr"/>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Недобранное одной страной доберёт другая — через QDMTT или правило включения дохода. Налоговая льгота перестаёт быть конкурентным преимуществом юрисдикции.</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МЕЖДУНАРОДНАЯ ПОВЕСТКА · 2</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CBAM: не налог по форме, налог по существу</a:t>
            </a:r>
            <a:endParaRPr lang="en-US" sz="3200" dirty="0"/>
          </a:p>
        </p:txBody>
      </p:sp>
      <p:sp>
        <p:nvSpPr>
          <p:cNvPr id="4" name="Text 2"/>
          <p:cNvSpPr txBox="1"/>
          <p:nvPr/>
        </p:nvSpPr>
        <p:spPr>
          <a:xfrm>
            <a:off x="731520" y="1572768"/>
            <a:ext cx="10180015" cy="384048"/>
          </a:xfrm>
          <a:prstGeom prst="rect">
            <a:avLst/>
          </a:prstGeom>
          <a:noFill/>
          <a:ln/>
        </p:spPr>
        <p:txBody>
          <a:bodyPr wrap="square" lIns="0" tIns="0" rIns="0" bIns="0" rtlCol="0" anchor="ctr"/>
          <a:lstStyle/>
          <a:p>
            <a:pPr indent="0" marL="0">
              <a:buNone/>
            </a:pPr>
            <a:r>
              <a:rPr lang="en-US" sz="1450" dirty="0">
                <a:solidFill>
                  <a:srgbClr val="5E6D68"/>
                </a:solidFill>
                <a:latin typeface="Calibri" pitchFamily="34" charset="0"/>
                <a:ea typeface="Calibri" pitchFamily="34" charset="-122"/>
                <a:cs typeface="Calibri" pitchFamily="34" charset="-120"/>
              </a:rPr>
              <a:t>Регламент (ЕС) 2023/956. Импортёр в ЕС оплачивает углеродный след ввезённого товара по цене квот европейской системы торговли выбросами.</a:t>
            </a:r>
            <a:endParaRPr lang="en-US" sz="1450" dirty="0"/>
          </a:p>
        </p:txBody>
      </p:sp>
      <p:sp>
        <p:nvSpPr>
          <p:cNvPr id="5" name="Shape 3"/>
          <p:cNvSpPr/>
          <p:nvPr/>
        </p:nvSpPr>
        <p:spPr>
          <a:xfrm>
            <a:off x="731520" y="2286000"/>
            <a:ext cx="5294376" cy="2011680"/>
          </a:xfrm>
          <a:prstGeom prst="roundRect">
            <a:avLst>
              <a:gd name="adj" fmla="val 3636"/>
            </a:avLst>
          </a:prstGeom>
          <a:solidFill>
            <a:srgbClr val="F1F5F3"/>
          </a:solidFill>
          <a:ln w="12700">
            <a:solidFill>
              <a:srgbClr val="F1F5F3"/>
            </a:solidFill>
            <a:prstDash val="solid"/>
          </a:ln>
        </p:spPr>
      </p:sp>
      <p:sp>
        <p:nvSpPr>
          <p:cNvPr id="6" name="Shape 4"/>
          <p:cNvSpPr/>
          <p:nvPr/>
        </p:nvSpPr>
        <p:spPr>
          <a:xfrm>
            <a:off x="1042416" y="2560320"/>
            <a:ext cx="402336" cy="402336"/>
          </a:xfrm>
          <a:prstGeom prst="ellipse">
            <a:avLst/>
          </a:prstGeom>
          <a:solidFill>
            <a:srgbClr val="5E6D68"/>
          </a:solidFill>
          <a:ln w="12700">
            <a:solidFill>
              <a:srgbClr val="5E6D68"/>
            </a:solidFill>
            <a:prstDash val="solid"/>
          </a:ln>
        </p:spPr>
      </p:sp>
      <p:sp>
        <p:nvSpPr>
          <p:cNvPr id="7" name="Text 5"/>
          <p:cNvSpPr txBox="1"/>
          <p:nvPr/>
        </p:nvSpPr>
        <p:spPr>
          <a:xfrm>
            <a:off x="1042416" y="25603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627632" y="2578608"/>
            <a:ext cx="4206240" cy="292608"/>
          </a:xfrm>
          <a:prstGeom prst="rect">
            <a:avLst/>
          </a:prstGeom>
          <a:noFill/>
          <a:ln/>
        </p:spPr>
        <p:txBody>
          <a:bodyPr wrap="square" lIns="0" tIns="0" rIns="0" bIns="0" rtlCol="0" anchor="ctr"/>
          <a:lstStyle/>
          <a:p>
            <a:pPr indent="0" marL="0">
              <a:buNone/>
            </a:pPr>
            <a:r>
              <a:rPr lang="en-US" sz="1700" b="1" dirty="0">
                <a:solidFill>
                  <a:srgbClr val="0F3B34"/>
                </a:solidFill>
                <a:latin typeface="Cambria" pitchFamily="34" charset="0"/>
                <a:ea typeface="Cambria" pitchFamily="34" charset="-122"/>
                <a:cs typeface="Cambria" pitchFamily="34" charset="-120"/>
              </a:rPr>
              <a:t>Октябрь 2023 — декабрь 2025</a:t>
            </a:r>
            <a:endParaRPr lang="en-US" sz="1700" dirty="0"/>
          </a:p>
        </p:txBody>
      </p:sp>
      <p:sp>
        <p:nvSpPr>
          <p:cNvPr id="9" name="Text 7"/>
          <p:cNvSpPr txBox="1"/>
          <p:nvPr/>
        </p:nvSpPr>
        <p:spPr>
          <a:xfrm>
            <a:off x="1627632" y="2889504"/>
            <a:ext cx="4206240" cy="256032"/>
          </a:xfrm>
          <a:prstGeom prst="rect">
            <a:avLst/>
          </a:prstGeom>
          <a:noFill/>
          <a:ln/>
        </p:spPr>
        <p:txBody>
          <a:bodyPr wrap="square" lIns="0" tIns="0" rIns="0" bIns="0" rtlCol="0" anchor="ctr"/>
          <a:lstStyle/>
          <a:p>
            <a:pPr indent="0" marL="0">
              <a:buNone/>
            </a:pPr>
            <a:r>
              <a:rPr lang="en-US" sz="1200" b="1" dirty="0">
                <a:solidFill>
                  <a:srgbClr val="5E6D68"/>
                </a:solidFill>
                <a:latin typeface="Calibri" pitchFamily="34" charset="0"/>
                <a:ea typeface="Calibri" pitchFamily="34" charset="-122"/>
                <a:cs typeface="Calibri" pitchFamily="34" charset="-120"/>
              </a:rPr>
              <a:t>Переходный период</a:t>
            </a:r>
            <a:endParaRPr lang="en-US" sz="1200" dirty="0"/>
          </a:p>
        </p:txBody>
      </p:sp>
      <p:sp>
        <p:nvSpPr>
          <p:cNvPr id="10" name="Text 8"/>
          <p:cNvSpPr txBox="1"/>
          <p:nvPr/>
        </p:nvSpPr>
        <p:spPr>
          <a:xfrm>
            <a:off x="1042416" y="3310128"/>
            <a:ext cx="4672584" cy="77724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Только отчётность о выбросах. Платежей нет — ЕС собирает данные и приучает импортёров к учёту углеродного следа.</a:t>
            </a:r>
            <a:endParaRPr lang="en-US" sz="1250" dirty="0"/>
          </a:p>
        </p:txBody>
      </p:sp>
      <p:sp>
        <p:nvSpPr>
          <p:cNvPr id="11" name="Shape 9"/>
          <p:cNvSpPr/>
          <p:nvPr/>
        </p:nvSpPr>
        <p:spPr>
          <a:xfrm>
            <a:off x="6345936" y="2286000"/>
            <a:ext cx="5294376" cy="2011680"/>
          </a:xfrm>
          <a:prstGeom prst="roundRect">
            <a:avLst>
              <a:gd name="adj" fmla="val 3636"/>
            </a:avLst>
          </a:prstGeom>
          <a:solidFill>
            <a:srgbClr val="FBF4EF"/>
          </a:solidFill>
          <a:ln w="12700">
            <a:solidFill>
              <a:srgbClr val="FBF4EF"/>
            </a:solidFill>
            <a:prstDash val="solid"/>
          </a:ln>
        </p:spPr>
      </p:sp>
      <p:sp>
        <p:nvSpPr>
          <p:cNvPr id="12" name="Shape 10"/>
          <p:cNvSpPr/>
          <p:nvPr/>
        </p:nvSpPr>
        <p:spPr>
          <a:xfrm>
            <a:off x="6656832" y="2560320"/>
            <a:ext cx="402336" cy="402336"/>
          </a:xfrm>
          <a:prstGeom prst="ellipse">
            <a:avLst/>
          </a:prstGeom>
          <a:solidFill>
            <a:srgbClr val="C8642B"/>
          </a:solidFill>
          <a:ln w="12700">
            <a:solidFill>
              <a:srgbClr val="C8642B"/>
            </a:solidFill>
            <a:prstDash val="solid"/>
          </a:ln>
        </p:spPr>
      </p:sp>
      <p:sp>
        <p:nvSpPr>
          <p:cNvPr id="13" name="Text 11"/>
          <p:cNvSpPr txBox="1"/>
          <p:nvPr/>
        </p:nvSpPr>
        <p:spPr>
          <a:xfrm>
            <a:off x="6656832" y="25603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242048" y="2578608"/>
            <a:ext cx="4206240" cy="292608"/>
          </a:xfrm>
          <a:prstGeom prst="rect">
            <a:avLst/>
          </a:prstGeom>
          <a:noFill/>
          <a:ln/>
        </p:spPr>
        <p:txBody>
          <a:bodyPr wrap="square" lIns="0" tIns="0" rIns="0" bIns="0" rtlCol="0" anchor="ctr"/>
          <a:lstStyle/>
          <a:p>
            <a:pPr indent="0" marL="0">
              <a:buNone/>
            </a:pPr>
            <a:r>
              <a:rPr lang="en-US" sz="1700" b="1" dirty="0">
                <a:solidFill>
                  <a:srgbClr val="A34E1E"/>
                </a:solidFill>
                <a:latin typeface="Cambria" pitchFamily="34" charset="0"/>
                <a:ea typeface="Cambria" pitchFamily="34" charset="-122"/>
                <a:cs typeface="Cambria" pitchFamily="34" charset="-120"/>
              </a:rPr>
              <a:t>С 1 января 2026 года</a:t>
            </a:r>
            <a:endParaRPr lang="en-US" sz="1700" dirty="0"/>
          </a:p>
        </p:txBody>
      </p:sp>
      <p:sp>
        <p:nvSpPr>
          <p:cNvPr id="15" name="Text 13"/>
          <p:cNvSpPr txBox="1"/>
          <p:nvPr/>
        </p:nvSpPr>
        <p:spPr>
          <a:xfrm>
            <a:off x="7242048" y="2889504"/>
            <a:ext cx="4206240" cy="256032"/>
          </a:xfrm>
          <a:prstGeom prst="rect">
            <a:avLst/>
          </a:prstGeom>
          <a:noFill/>
          <a:ln/>
        </p:spPr>
        <p:txBody>
          <a:bodyPr wrap="square" lIns="0" tIns="0" rIns="0" bIns="0" rtlCol="0" anchor="ctr"/>
          <a:lstStyle/>
          <a:p>
            <a:pPr indent="0" marL="0">
              <a:buNone/>
            </a:pPr>
            <a:r>
              <a:rPr lang="en-US" sz="1200" b="1" dirty="0">
                <a:solidFill>
                  <a:srgbClr val="5E6D68"/>
                </a:solidFill>
                <a:latin typeface="Calibri" pitchFamily="34" charset="0"/>
                <a:ea typeface="Calibri" pitchFamily="34" charset="-122"/>
                <a:cs typeface="Calibri" pitchFamily="34" charset="-120"/>
              </a:rPr>
              <a:t>Финансовая фаза</a:t>
            </a:r>
            <a:endParaRPr lang="en-US" sz="1200" dirty="0"/>
          </a:p>
        </p:txBody>
      </p:sp>
      <p:sp>
        <p:nvSpPr>
          <p:cNvPr id="16" name="Text 14"/>
          <p:cNvSpPr txBox="1"/>
          <p:nvPr/>
        </p:nvSpPr>
        <p:spPr>
          <a:xfrm>
            <a:off x="6656832" y="3310128"/>
            <a:ext cx="4672584" cy="777240"/>
          </a:xfrm>
          <a:prstGeom prst="rect">
            <a:avLst/>
          </a:prstGeom>
          <a:noFill/>
          <a:ln/>
        </p:spPr>
        <p:txBody>
          <a:bodyPr wrap="square" lIns="0" tIns="0" rIns="0" bIns="0" rtlCol="0" anchor="ctr"/>
          <a:lstStyle/>
          <a:p>
            <a:pPr indent="0" marL="0">
              <a:lnSpc>
                <a:spcPts val="1900"/>
              </a:lnSpc>
              <a:buNone/>
            </a:pPr>
            <a:r>
              <a:rPr lang="en-US" sz="1250" dirty="0">
                <a:solidFill>
                  <a:srgbClr val="5E6D68"/>
                </a:solidFill>
                <a:latin typeface="Calibri" pitchFamily="34" charset="0"/>
                <a:ea typeface="Calibri" pitchFamily="34" charset="-122"/>
                <a:cs typeface="Calibri" pitchFamily="34" charset="-120"/>
              </a:rPr>
              <a:t>Импортёр обязан покупать CBAM-сертификаты. Механизм из отчётного превращается в фискальный по последствиям.</a:t>
            </a:r>
            <a:endParaRPr lang="en-US" sz="1250" dirty="0"/>
          </a:p>
        </p:txBody>
      </p:sp>
      <p:sp>
        <p:nvSpPr>
          <p:cNvPr id="17" name="Text 15"/>
          <p:cNvSpPr txBox="1"/>
          <p:nvPr/>
        </p:nvSpPr>
        <p:spPr>
          <a:xfrm>
            <a:off x="731520" y="4535424"/>
            <a:ext cx="4572000" cy="274320"/>
          </a:xfrm>
          <a:prstGeom prst="rect">
            <a:avLst/>
          </a:prstGeom>
          <a:noFill/>
          <a:ln/>
        </p:spPr>
        <p:txBody>
          <a:bodyPr wrap="square" lIns="0" tIns="0" rIns="0" bIns="0" rtlCol="0" anchor="ctr"/>
          <a:lstStyle/>
          <a:p>
            <a:pPr indent="0" marL="0">
              <a:buNone/>
            </a:pPr>
            <a:r>
              <a:rPr lang="en-US" sz="1200" b="1" spc="130" kern="0" dirty="0">
                <a:solidFill>
                  <a:srgbClr val="5E6D68"/>
                </a:solidFill>
                <a:latin typeface="Calibri" pitchFamily="34" charset="0"/>
                <a:ea typeface="Calibri" pitchFamily="34" charset="-122"/>
                <a:cs typeface="Calibri" pitchFamily="34" charset="-120"/>
              </a:rPr>
              <a:t>Охваченные товары</a:t>
            </a:r>
            <a:endParaRPr lang="en-US" sz="1200" dirty="0"/>
          </a:p>
        </p:txBody>
      </p:sp>
      <p:sp>
        <p:nvSpPr>
          <p:cNvPr id="18" name="Shape 16"/>
          <p:cNvSpPr/>
          <p:nvPr/>
        </p:nvSpPr>
        <p:spPr>
          <a:xfrm>
            <a:off x="731520" y="4882896"/>
            <a:ext cx="1719072" cy="347472"/>
          </a:xfrm>
          <a:prstGeom prst="roundRect">
            <a:avLst>
              <a:gd name="adj" fmla="val 50000"/>
            </a:avLst>
          </a:prstGeom>
          <a:solidFill>
            <a:srgbClr val="0F3B34"/>
          </a:solidFill>
          <a:ln w="12700">
            <a:solidFill>
              <a:srgbClr val="0F3B34"/>
            </a:solidFill>
            <a:prstDash val="solid"/>
          </a:ln>
        </p:spPr>
      </p:sp>
      <p:sp>
        <p:nvSpPr>
          <p:cNvPr id="19" name="Text 17"/>
          <p:cNvSpPr txBox="1"/>
          <p:nvPr/>
        </p:nvSpPr>
        <p:spPr>
          <a:xfrm>
            <a:off x="731520" y="4882896"/>
            <a:ext cx="17190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Цемент</a:t>
            </a:r>
            <a:endParaRPr lang="en-US" sz="1150" dirty="0"/>
          </a:p>
        </p:txBody>
      </p:sp>
      <p:sp>
        <p:nvSpPr>
          <p:cNvPr id="20" name="Shape 18"/>
          <p:cNvSpPr/>
          <p:nvPr/>
        </p:nvSpPr>
        <p:spPr>
          <a:xfrm>
            <a:off x="2578608" y="4882896"/>
            <a:ext cx="1719072" cy="347472"/>
          </a:xfrm>
          <a:prstGeom prst="roundRect">
            <a:avLst>
              <a:gd name="adj" fmla="val 50000"/>
            </a:avLst>
          </a:prstGeom>
          <a:solidFill>
            <a:srgbClr val="C8642B"/>
          </a:solidFill>
          <a:ln w="12700">
            <a:solidFill>
              <a:srgbClr val="C8642B"/>
            </a:solidFill>
            <a:prstDash val="solid"/>
          </a:ln>
        </p:spPr>
      </p:sp>
      <p:sp>
        <p:nvSpPr>
          <p:cNvPr id="21" name="Text 19"/>
          <p:cNvSpPr txBox="1"/>
          <p:nvPr/>
        </p:nvSpPr>
        <p:spPr>
          <a:xfrm>
            <a:off x="2578608" y="4882896"/>
            <a:ext cx="17190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Чёрные металлы</a:t>
            </a:r>
            <a:endParaRPr lang="en-US" sz="1150" dirty="0"/>
          </a:p>
        </p:txBody>
      </p:sp>
      <p:sp>
        <p:nvSpPr>
          <p:cNvPr id="22" name="Shape 20"/>
          <p:cNvSpPr/>
          <p:nvPr/>
        </p:nvSpPr>
        <p:spPr>
          <a:xfrm>
            <a:off x="4425696" y="4882896"/>
            <a:ext cx="1719072" cy="347472"/>
          </a:xfrm>
          <a:prstGeom prst="roundRect">
            <a:avLst>
              <a:gd name="adj" fmla="val 50000"/>
            </a:avLst>
          </a:prstGeom>
          <a:solidFill>
            <a:srgbClr val="0F3B34"/>
          </a:solidFill>
          <a:ln w="12700">
            <a:solidFill>
              <a:srgbClr val="0F3B34"/>
            </a:solidFill>
            <a:prstDash val="solid"/>
          </a:ln>
        </p:spPr>
      </p:sp>
      <p:sp>
        <p:nvSpPr>
          <p:cNvPr id="23" name="Text 21"/>
          <p:cNvSpPr txBox="1"/>
          <p:nvPr/>
        </p:nvSpPr>
        <p:spPr>
          <a:xfrm>
            <a:off x="4425696" y="4882896"/>
            <a:ext cx="17190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Алюминий</a:t>
            </a:r>
            <a:endParaRPr lang="en-US" sz="1150" dirty="0"/>
          </a:p>
        </p:txBody>
      </p:sp>
      <p:sp>
        <p:nvSpPr>
          <p:cNvPr id="24" name="Shape 22"/>
          <p:cNvSpPr/>
          <p:nvPr/>
        </p:nvSpPr>
        <p:spPr>
          <a:xfrm>
            <a:off x="6272784" y="4882896"/>
            <a:ext cx="1719072" cy="347472"/>
          </a:xfrm>
          <a:prstGeom prst="roundRect">
            <a:avLst>
              <a:gd name="adj" fmla="val 50000"/>
            </a:avLst>
          </a:prstGeom>
          <a:solidFill>
            <a:srgbClr val="C8642B"/>
          </a:solidFill>
          <a:ln w="12700">
            <a:solidFill>
              <a:srgbClr val="C8642B"/>
            </a:solidFill>
            <a:prstDash val="solid"/>
          </a:ln>
        </p:spPr>
      </p:sp>
      <p:sp>
        <p:nvSpPr>
          <p:cNvPr id="25" name="Text 23"/>
          <p:cNvSpPr txBox="1"/>
          <p:nvPr/>
        </p:nvSpPr>
        <p:spPr>
          <a:xfrm>
            <a:off x="6272784" y="4882896"/>
            <a:ext cx="17190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Удобрения</a:t>
            </a:r>
            <a:endParaRPr lang="en-US" sz="1150" dirty="0"/>
          </a:p>
        </p:txBody>
      </p:sp>
      <p:sp>
        <p:nvSpPr>
          <p:cNvPr id="26" name="Shape 24"/>
          <p:cNvSpPr/>
          <p:nvPr/>
        </p:nvSpPr>
        <p:spPr>
          <a:xfrm>
            <a:off x="8119872" y="4882896"/>
            <a:ext cx="1719072" cy="347472"/>
          </a:xfrm>
          <a:prstGeom prst="roundRect">
            <a:avLst>
              <a:gd name="adj" fmla="val 50000"/>
            </a:avLst>
          </a:prstGeom>
          <a:solidFill>
            <a:srgbClr val="0F3B34"/>
          </a:solidFill>
          <a:ln w="12700">
            <a:solidFill>
              <a:srgbClr val="0F3B34"/>
            </a:solidFill>
            <a:prstDash val="solid"/>
          </a:ln>
        </p:spPr>
      </p:sp>
      <p:sp>
        <p:nvSpPr>
          <p:cNvPr id="27" name="Text 25"/>
          <p:cNvSpPr txBox="1"/>
          <p:nvPr/>
        </p:nvSpPr>
        <p:spPr>
          <a:xfrm>
            <a:off x="8119872" y="4882896"/>
            <a:ext cx="17190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Электроэнергия</a:t>
            </a:r>
            <a:endParaRPr lang="en-US" sz="1150" dirty="0"/>
          </a:p>
        </p:txBody>
      </p:sp>
      <p:sp>
        <p:nvSpPr>
          <p:cNvPr id="28" name="Shape 26"/>
          <p:cNvSpPr/>
          <p:nvPr/>
        </p:nvSpPr>
        <p:spPr>
          <a:xfrm>
            <a:off x="9966960" y="4882896"/>
            <a:ext cx="1719072" cy="347472"/>
          </a:xfrm>
          <a:prstGeom prst="roundRect">
            <a:avLst>
              <a:gd name="adj" fmla="val 50000"/>
            </a:avLst>
          </a:prstGeom>
          <a:solidFill>
            <a:srgbClr val="C8642B"/>
          </a:solidFill>
          <a:ln w="12700">
            <a:solidFill>
              <a:srgbClr val="C8642B"/>
            </a:solidFill>
            <a:prstDash val="solid"/>
          </a:ln>
        </p:spPr>
      </p:sp>
      <p:sp>
        <p:nvSpPr>
          <p:cNvPr id="29" name="Text 27"/>
          <p:cNvSpPr txBox="1"/>
          <p:nvPr/>
        </p:nvSpPr>
        <p:spPr>
          <a:xfrm>
            <a:off x="9966960" y="4882896"/>
            <a:ext cx="17190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Водород</a:t>
            </a:r>
            <a:endParaRPr lang="en-US" sz="1150" dirty="0"/>
          </a:p>
        </p:txBody>
      </p:sp>
      <p:sp>
        <p:nvSpPr>
          <p:cNvPr id="30" name="Shape 28"/>
          <p:cNvSpPr/>
          <p:nvPr/>
        </p:nvSpPr>
        <p:spPr>
          <a:xfrm>
            <a:off x="731520" y="5486400"/>
            <a:ext cx="10728655" cy="841248"/>
          </a:xfrm>
          <a:prstGeom prst="roundRect">
            <a:avLst>
              <a:gd name="adj" fmla="val 8696"/>
            </a:avLst>
          </a:prstGeom>
          <a:solidFill>
            <a:srgbClr val="F1F5F3"/>
          </a:solidFill>
          <a:ln w="12700">
            <a:solidFill>
              <a:srgbClr val="F1F5F3"/>
            </a:solidFill>
            <a:prstDash val="solid"/>
          </a:ln>
        </p:spPr>
      </p:sp>
      <p:sp>
        <p:nvSpPr>
          <p:cNvPr id="31" name="Text 29"/>
          <p:cNvSpPr txBox="1"/>
          <p:nvPr/>
        </p:nvSpPr>
        <p:spPr>
          <a:xfrm>
            <a:off x="1042416" y="5486400"/>
            <a:ext cx="10106863" cy="841248"/>
          </a:xfrm>
          <a:prstGeom prst="rect">
            <a:avLst/>
          </a:prstGeom>
          <a:noFill/>
          <a:ln/>
        </p:spPr>
        <p:txBody>
          <a:bodyPr wrap="square" lIns="0" tIns="0" rIns="0" bIns="0" rtlCol="0" anchor="ctr"/>
          <a:lstStyle/>
          <a:p>
            <a:pPr indent="0" marL="0">
              <a:lnSpc>
                <a:spcPts val="1800"/>
              </a:lnSpc>
              <a:buNone/>
            </a:pPr>
            <a:r>
              <a:rPr lang="en-US" sz="1300" i="1" dirty="0">
                <a:solidFill>
                  <a:srgbClr val="0F3B34"/>
                </a:solidFill>
                <a:latin typeface="Calibri" pitchFamily="34" charset="0"/>
                <a:ea typeface="Calibri" pitchFamily="34" charset="-122"/>
                <a:cs typeface="Calibri" pitchFamily="34" charset="-120"/>
              </a:rPr>
              <a:t>Значение для темы: инструмент, не являющийся налогом по форме, влияет на трансграничную торговлю сильнее многих налогов — и обходит как правила ВТО о пошлинах, так и налоговые соглашения.</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A34E1E"/>
                </a:solidFill>
                <a:latin typeface="Calibri" pitchFamily="34" charset="0"/>
                <a:ea typeface="Calibri" pitchFamily="34" charset="-122"/>
                <a:cs typeface="Calibri" pitchFamily="34" charset="-120"/>
              </a:rPr>
              <a:t>РОССИЙСКИЙ КОНТУР</a:t>
            </a:r>
            <a:endParaRPr lang="en-US" sz="1100" dirty="0"/>
          </a:p>
        </p:txBody>
      </p:sp>
      <p:sp>
        <p:nvSpPr>
          <p:cNvPr id="3" name="Text 1"/>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0F3B34"/>
                </a:solidFill>
                <a:latin typeface="Cambria" pitchFamily="34" charset="0"/>
                <a:ea typeface="Cambria" pitchFamily="34" charset="-122"/>
                <a:cs typeface="Cambria" pitchFamily="34" charset="-120"/>
              </a:rPr>
              <a:t>Что определяет картину в 2023–2026 годах</a:t>
            </a:r>
            <a:endParaRPr lang="en-US" sz="3200" dirty="0"/>
          </a:p>
        </p:txBody>
      </p:sp>
      <p:sp>
        <p:nvSpPr>
          <p:cNvPr id="4" name="Shape 2"/>
          <p:cNvSpPr/>
          <p:nvPr/>
        </p:nvSpPr>
        <p:spPr>
          <a:xfrm>
            <a:off x="731520" y="1920240"/>
            <a:ext cx="3401568" cy="4160520"/>
          </a:xfrm>
          <a:prstGeom prst="roundRect">
            <a:avLst>
              <a:gd name="adj" fmla="val 2151"/>
            </a:avLst>
          </a:prstGeom>
          <a:solidFill>
            <a:srgbClr val="F1F5F3"/>
          </a:solidFill>
          <a:ln w="12700">
            <a:solidFill>
              <a:srgbClr val="F1F5F3"/>
            </a:solidFill>
            <a:prstDash val="solid"/>
          </a:ln>
        </p:spPr>
      </p:sp>
      <p:sp>
        <p:nvSpPr>
          <p:cNvPr id="5" name="Shape 3"/>
          <p:cNvSpPr/>
          <p:nvPr/>
        </p:nvSpPr>
        <p:spPr>
          <a:xfrm>
            <a:off x="1042416" y="2212848"/>
            <a:ext cx="420624" cy="420624"/>
          </a:xfrm>
          <a:prstGeom prst="ellipse">
            <a:avLst/>
          </a:prstGeom>
          <a:solidFill>
            <a:srgbClr val="0F3B34"/>
          </a:solidFill>
          <a:ln w="12700">
            <a:solidFill>
              <a:srgbClr val="0F3B34"/>
            </a:solidFill>
            <a:prstDash val="solid"/>
          </a:ln>
        </p:spPr>
      </p:sp>
      <p:sp>
        <p:nvSpPr>
          <p:cNvPr id="6" name="Text 4"/>
          <p:cNvSpPr txBox="1"/>
          <p:nvPr/>
        </p:nvSpPr>
        <p:spPr>
          <a:xfrm>
            <a:off x="1042416" y="2212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1042416" y="2798064"/>
            <a:ext cx="2779776" cy="685800"/>
          </a:xfrm>
          <a:prstGeom prst="rect">
            <a:avLst/>
          </a:prstGeom>
          <a:noFill/>
          <a:ln/>
        </p:spPr>
        <p:txBody>
          <a:bodyPr wrap="square" lIns="0" tIns="0" rIns="0" bIns="0" rtlCol="0" anchor="t"/>
          <a:lstStyle/>
          <a:p>
            <a:pPr indent="0" marL="0">
              <a:lnSpc>
                <a:spcPts val="2200"/>
              </a:lnSpc>
              <a:buNone/>
            </a:pPr>
            <a:r>
              <a:rPr lang="en-US" sz="1800" b="1" dirty="0">
                <a:solidFill>
                  <a:srgbClr val="0F3B34"/>
                </a:solidFill>
                <a:latin typeface="Cambria" pitchFamily="34" charset="0"/>
                <a:ea typeface="Cambria" pitchFamily="34" charset="-122"/>
                <a:cs typeface="Cambria" pitchFamily="34" charset="-120"/>
              </a:rPr>
              <a:t>Приостановление соглашений</a:t>
            </a:r>
            <a:endParaRPr lang="en-US" sz="1800" dirty="0"/>
          </a:p>
        </p:txBody>
      </p:sp>
      <p:sp>
        <p:nvSpPr>
          <p:cNvPr id="8" name="Text 6"/>
          <p:cNvSpPr txBox="1"/>
          <p:nvPr/>
        </p:nvSpPr>
        <p:spPr>
          <a:xfrm>
            <a:off x="1042416" y="3566160"/>
            <a:ext cx="2779776" cy="22860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Указ Президента от 08.08.2023 № 585 и ФЗ от 19.12.2023 № 598-ФЗ</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Приостановлены отдельные положения СИДН с 38 государствами</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Применяются национальные ставки: 15% по дивидендам, 25% по процентам и роялти</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Вторая сторона тоже перестаёт устранять двойное налогообложение — проблема стала практической</a:t>
            </a:r>
            <a:endParaRPr lang="en-US" sz="1200" dirty="0"/>
          </a:p>
        </p:txBody>
      </p:sp>
      <p:sp>
        <p:nvSpPr>
          <p:cNvPr id="9" name="Shape 7"/>
          <p:cNvSpPr/>
          <p:nvPr/>
        </p:nvSpPr>
        <p:spPr>
          <a:xfrm>
            <a:off x="4453128" y="1920240"/>
            <a:ext cx="3401568" cy="4160520"/>
          </a:xfrm>
          <a:prstGeom prst="roundRect">
            <a:avLst>
              <a:gd name="adj" fmla="val 2151"/>
            </a:avLst>
          </a:prstGeom>
          <a:solidFill>
            <a:srgbClr val="FBF4EF"/>
          </a:solidFill>
          <a:ln w="12700">
            <a:solidFill>
              <a:srgbClr val="FBF4EF"/>
            </a:solidFill>
            <a:prstDash val="solid"/>
          </a:ln>
        </p:spPr>
      </p:sp>
      <p:sp>
        <p:nvSpPr>
          <p:cNvPr id="10" name="Shape 8"/>
          <p:cNvSpPr/>
          <p:nvPr/>
        </p:nvSpPr>
        <p:spPr>
          <a:xfrm>
            <a:off x="4764024" y="2212848"/>
            <a:ext cx="420624" cy="420624"/>
          </a:xfrm>
          <a:prstGeom prst="ellipse">
            <a:avLst/>
          </a:prstGeom>
          <a:solidFill>
            <a:srgbClr val="C8642B"/>
          </a:solidFill>
          <a:ln w="12700">
            <a:solidFill>
              <a:srgbClr val="C8642B"/>
            </a:solidFill>
            <a:prstDash val="solid"/>
          </a:ln>
        </p:spPr>
      </p:sp>
      <p:sp>
        <p:nvSpPr>
          <p:cNvPr id="11" name="Text 9"/>
          <p:cNvSpPr txBox="1"/>
          <p:nvPr/>
        </p:nvSpPr>
        <p:spPr>
          <a:xfrm>
            <a:off x="4764024" y="2212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txBox="1"/>
          <p:nvPr/>
        </p:nvSpPr>
        <p:spPr>
          <a:xfrm>
            <a:off x="4764024" y="2798064"/>
            <a:ext cx="2779776" cy="685800"/>
          </a:xfrm>
          <a:prstGeom prst="rect">
            <a:avLst/>
          </a:prstGeom>
          <a:noFill/>
          <a:ln/>
        </p:spPr>
        <p:txBody>
          <a:bodyPr wrap="square" lIns="0" tIns="0" rIns="0" bIns="0" rtlCol="0" anchor="t"/>
          <a:lstStyle/>
          <a:p>
            <a:pPr indent="0" marL="0">
              <a:lnSpc>
                <a:spcPts val="2200"/>
              </a:lnSpc>
              <a:buNone/>
            </a:pPr>
            <a:r>
              <a:rPr lang="en-US" sz="1800" b="1" dirty="0">
                <a:solidFill>
                  <a:srgbClr val="A34E1E"/>
                </a:solidFill>
                <a:latin typeface="Cambria" pitchFamily="34" charset="0"/>
                <a:ea typeface="Cambria" pitchFamily="34" charset="-122"/>
                <a:cs typeface="Cambria" pitchFamily="34" charset="-120"/>
              </a:rPr>
              <a:t>Переориентация договорной сети</a:t>
            </a:r>
            <a:endParaRPr lang="en-US" sz="1800" dirty="0"/>
          </a:p>
        </p:txBody>
      </p:sp>
      <p:sp>
        <p:nvSpPr>
          <p:cNvPr id="13" name="Text 11"/>
          <p:cNvSpPr txBox="1"/>
          <p:nvPr/>
        </p:nvSpPr>
        <p:spPr>
          <a:xfrm>
            <a:off x="4764024" y="3566160"/>
            <a:ext cx="2779776" cy="22860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Соглашения заключаются с новыми партнёрами</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СИДН с ОАЭ подписано 17 февраля 2025 года, применяется с 1 января 2026 года</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Единая ставка 10% по дивидендам, процентам и роялти</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ОАЭ исключены из перечня офшорных юрисдикций</a:t>
            </a:r>
            <a:endParaRPr lang="en-US" sz="1200" dirty="0"/>
          </a:p>
        </p:txBody>
      </p:sp>
      <p:sp>
        <p:nvSpPr>
          <p:cNvPr id="14" name="Shape 12"/>
          <p:cNvSpPr/>
          <p:nvPr/>
        </p:nvSpPr>
        <p:spPr>
          <a:xfrm>
            <a:off x="8174736" y="1920240"/>
            <a:ext cx="3401568" cy="4160520"/>
          </a:xfrm>
          <a:prstGeom prst="roundRect">
            <a:avLst>
              <a:gd name="adj" fmla="val 2151"/>
            </a:avLst>
          </a:prstGeom>
          <a:solidFill>
            <a:srgbClr val="F1F5F3"/>
          </a:solidFill>
          <a:ln w="12700">
            <a:solidFill>
              <a:srgbClr val="F1F5F3"/>
            </a:solidFill>
            <a:prstDash val="solid"/>
          </a:ln>
        </p:spPr>
      </p:sp>
      <p:sp>
        <p:nvSpPr>
          <p:cNvPr id="15" name="Shape 13"/>
          <p:cNvSpPr/>
          <p:nvPr/>
        </p:nvSpPr>
        <p:spPr>
          <a:xfrm>
            <a:off x="8485632" y="2212848"/>
            <a:ext cx="420624" cy="420624"/>
          </a:xfrm>
          <a:prstGeom prst="ellipse">
            <a:avLst/>
          </a:prstGeom>
          <a:solidFill>
            <a:srgbClr val="0F3B34"/>
          </a:solidFill>
          <a:ln w="12700">
            <a:solidFill>
              <a:srgbClr val="0F3B34"/>
            </a:solidFill>
            <a:prstDash val="solid"/>
          </a:ln>
        </p:spPr>
      </p:sp>
      <p:sp>
        <p:nvSpPr>
          <p:cNvPr id="16" name="Text 14"/>
          <p:cNvSpPr txBox="1"/>
          <p:nvPr/>
        </p:nvSpPr>
        <p:spPr>
          <a:xfrm>
            <a:off x="8485632" y="22128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txBox="1"/>
          <p:nvPr/>
        </p:nvSpPr>
        <p:spPr>
          <a:xfrm>
            <a:off x="8485632" y="2798064"/>
            <a:ext cx="2779776" cy="685800"/>
          </a:xfrm>
          <a:prstGeom prst="rect">
            <a:avLst/>
          </a:prstGeom>
          <a:noFill/>
          <a:ln/>
        </p:spPr>
        <p:txBody>
          <a:bodyPr wrap="square" lIns="0" tIns="0" rIns="0" bIns="0" rtlCol="0" anchor="t"/>
          <a:lstStyle/>
          <a:p>
            <a:pPr indent="0" marL="0">
              <a:lnSpc>
                <a:spcPts val="2200"/>
              </a:lnSpc>
              <a:buNone/>
            </a:pPr>
            <a:r>
              <a:rPr lang="en-US" sz="1800" b="1" dirty="0">
                <a:solidFill>
                  <a:srgbClr val="0F3B34"/>
                </a:solidFill>
                <a:latin typeface="Cambria" pitchFamily="34" charset="0"/>
                <a:ea typeface="Cambria" pitchFamily="34" charset="-122"/>
                <a:cs typeface="Cambria" pitchFamily="34" charset="-120"/>
              </a:rPr>
              <a:t>Рост косвенной нагрузки</a:t>
            </a:r>
            <a:endParaRPr lang="en-US" sz="1800" dirty="0"/>
          </a:p>
        </p:txBody>
      </p:sp>
      <p:sp>
        <p:nvSpPr>
          <p:cNvPr id="18" name="Text 16"/>
          <p:cNvSpPr txBox="1"/>
          <p:nvPr/>
        </p:nvSpPr>
        <p:spPr>
          <a:xfrm>
            <a:off x="8485632" y="3566160"/>
            <a:ext cx="2779776" cy="2286000"/>
          </a:xfrm>
          <a:prstGeom prst="rect">
            <a:avLst/>
          </a:prstGeom>
          <a:noFill/>
          <a:ln/>
        </p:spPr>
        <p:txBody>
          <a:bodyPr wrap="square" lIns="0" tIns="0" rIns="0" bIns="0" rtlCol="0" anchor="ctr"/>
          <a:lstStyle/>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Основная ставка НДС — 22% с 1 января 2026 года</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Новые правила ЕАЭС по электронной торговле с 1 июля 2026 года</a:t>
            </a:r>
            <a:endParaRPr lang="en-US" sz="1200" dirty="0"/>
          </a:p>
          <a:p>
            <a:pPr marL="342900" indent="-342900">
              <a:lnSpc>
                <a:spcPts val="1800"/>
              </a:lnSpc>
              <a:spcAft>
                <a:spcPts val="700"/>
              </a:spcAft>
              <a:buSzPct val="100000"/>
              <a:buChar char="–"/>
            </a:pPr>
            <a:r>
              <a:rPr lang="en-US" sz="1200" dirty="0">
                <a:solidFill>
                  <a:srgbClr val="17211F"/>
                </a:solidFill>
                <a:latin typeface="Calibri" pitchFamily="34" charset="0"/>
                <a:ea typeface="Calibri" pitchFamily="34" charset="-122"/>
                <a:cs typeface="Calibri" pitchFamily="34" charset="-120"/>
              </a:rPr>
              <a:t>Обязанности всё чаще возлагаются на платформу и налогового агента</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3B34"/>
        </a:solidFill>
      </p:bgPr>
    </p:bg>
    <p:spTree>
      <p:nvGrpSpPr>
        <p:cNvPr id="1" name=""/>
        <p:cNvGrpSpPr/>
        <p:nvPr/>
      </p:nvGrpSpPr>
      <p:grpSpPr>
        <a:xfrm>
          <a:off x="0" y="0"/>
          <a:ext cx="0" cy="0"/>
          <a:chOff x="0" y="0"/>
          <a:chExt cx="0" cy="0"/>
        </a:xfrm>
      </p:grpSpPr>
      <p:sp>
        <p:nvSpPr>
          <p:cNvPr id="2" name="Shape 0"/>
          <p:cNvSpPr/>
          <p:nvPr/>
        </p:nvSpPr>
        <p:spPr>
          <a:xfrm>
            <a:off x="10058400" y="4114800"/>
            <a:ext cx="3840480" cy="3840480"/>
          </a:xfrm>
          <a:prstGeom prst="ellipse">
            <a:avLst/>
          </a:prstGeom>
          <a:solidFill>
            <a:srgbClr val="0F3B34">
              <a:alpha val="0"/>
            </a:srgbClr>
          </a:solidFill>
          <a:ln w="15875">
            <a:solidFill>
              <a:srgbClr val="1C5A4F"/>
            </a:solidFill>
            <a:prstDash val="solid"/>
          </a:ln>
        </p:spPr>
      </p:sp>
      <p:sp>
        <p:nvSpPr>
          <p:cNvPr id="3" name="Text 1"/>
          <p:cNvSpPr txBox="1"/>
          <p:nvPr/>
        </p:nvSpPr>
        <p:spPr>
          <a:xfrm>
            <a:off x="731520" y="475488"/>
            <a:ext cx="10728655" cy="256032"/>
          </a:xfrm>
          <a:prstGeom prst="rect">
            <a:avLst/>
          </a:prstGeom>
          <a:noFill/>
          <a:ln/>
        </p:spPr>
        <p:txBody>
          <a:bodyPr wrap="square" lIns="0" tIns="0" rIns="0" bIns="0" rtlCol="0" anchor="ctr"/>
          <a:lstStyle/>
          <a:p>
            <a:pPr indent="0" marL="0">
              <a:buNone/>
            </a:pPr>
            <a:r>
              <a:rPr lang="en-US" sz="1100" b="1" spc="220" kern="0" dirty="0">
                <a:solidFill>
                  <a:srgbClr val="9FBDB3"/>
                </a:solidFill>
                <a:latin typeface="Calibri" pitchFamily="34" charset="0"/>
                <a:ea typeface="Calibri" pitchFamily="34" charset="-122"/>
                <a:cs typeface="Calibri" pitchFamily="34" charset="-120"/>
              </a:rPr>
              <a:t>ВЫВОДЫ</a:t>
            </a:r>
            <a:endParaRPr lang="en-US" sz="1100" dirty="0"/>
          </a:p>
        </p:txBody>
      </p:sp>
      <p:sp>
        <p:nvSpPr>
          <p:cNvPr id="4" name="Text 2"/>
          <p:cNvSpPr txBox="1"/>
          <p:nvPr/>
        </p:nvSpPr>
        <p:spPr>
          <a:xfrm>
            <a:off x="731520" y="777240"/>
            <a:ext cx="10728655" cy="7772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Четыре тезиса</a:t>
            </a:r>
            <a:endParaRPr lang="en-US" sz="3200" dirty="0"/>
          </a:p>
        </p:txBody>
      </p:sp>
      <p:sp>
        <p:nvSpPr>
          <p:cNvPr id="5" name="Shape 3"/>
          <p:cNvSpPr/>
          <p:nvPr/>
        </p:nvSpPr>
        <p:spPr>
          <a:xfrm>
            <a:off x="731520" y="1892808"/>
            <a:ext cx="420624" cy="420624"/>
          </a:xfrm>
          <a:prstGeom prst="ellipse">
            <a:avLst/>
          </a:prstGeom>
          <a:solidFill>
            <a:srgbClr val="E08A4E"/>
          </a:solidFill>
          <a:ln w="12700">
            <a:solidFill>
              <a:srgbClr val="E08A4E"/>
            </a:solidFill>
            <a:prstDash val="solid"/>
          </a:ln>
        </p:spPr>
      </p:sp>
      <p:sp>
        <p:nvSpPr>
          <p:cNvPr id="6" name="Text 4"/>
          <p:cNvSpPr txBox="1"/>
          <p:nvPr/>
        </p:nvSpPr>
        <p:spPr>
          <a:xfrm>
            <a:off x="731520" y="1892808"/>
            <a:ext cx="420624" cy="420624"/>
          </a:xfrm>
          <a:prstGeom prst="rect">
            <a:avLst/>
          </a:prstGeom>
          <a:noFill/>
          <a:ln/>
        </p:spPr>
        <p:txBody>
          <a:bodyPr wrap="square" lIns="0" tIns="0" rIns="0" bIns="0" rtlCol="0" anchor="ctr"/>
          <a:lstStyle/>
          <a:p>
            <a:pPr algn="ctr" indent="0" marL="0">
              <a:buNone/>
            </a:pPr>
            <a:r>
              <a:rPr lang="en-US" sz="1300" b="1" dirty="0">
                <a:solidFill>
                  <a:srgbClr val="0F3B34"/>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1389888" y="1856232"/>
            <a:ext cx="4663440" cy="685800"/>
          </a:xfrm>
          <a:prstGeom prst="rect">
            <a:avLst/>
          </a:prstGeom>
          <a:noFill/>
          <a:ln/>
        </p:spPr>
        <p:txBody>
          <a:bodyPr wrap="square" lIns="0" tIns="0" rIns="0" bIns="0" rtlCol="0" anchor="t"/>
          <a:lstStyle/>
          <a:p>
            <a:pPr indent="0" marL="0">
              <a:lnSpc>
                <a:spcPts val="2100"/>
              </a:lnSpc>
              <a:buNone/>
            </a:pPr>
            <a:r>
              <a:rPr lang="en-US" sz="1750" b="1" dirty="0">
                <a:solidFill>
                  <a:srgbClr val="FFFFFF"/>
                </a:solidFill>
                <a:latin typeface="Cambria" pitchFamily="34" charset="0"/>
                <a:ea typeface="Cambria" pitchFamily="34" charset="-122"/>
                <a:cs typeface="Cambria" pitchFamily="34" charset="-120"/>
              </a:rPr>
              <a:t>Единого права трансграничной торговли не существует</a:t>
            </a:r>
            <a:endParaRPr lang="en-US" sz="1750" dirty="0"/>
          </a:p>
        </p:txBody>
      </p:sp>
      <p:sp>
        <p:nvSpPr>
          <p:cNvPr id="8" name="Text 6"/>
          <p:cNvSpPr txBox="1"/>
          <p:nvPr/>
        </p:nvSpPr>
        <p:spPr>
          <a:xfrm>
            <a:off x="6263640" y="1874520"/>
            <a:ext cx="5196535" cy="82296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Есть национальные нормы и сеть из более чем трёх тысяч двусторонних соглашений. Устойчивость держится на их согласованности — и опыт приостановления показал, насколько она хрупка.</a:t>
            </a:r>
            <a:endParaRPr lang="en-US" sz="1250" dirty="0"/>
          </a:p>
        </p:txBody>
      </p:sp>
      <p:sp>
        <p:nvSpPr>
          <p:cNvPr id="9" name="Shape 7"/>
          <p:cNvSpPr/>
          <p:nvPr/>
        </p:nvSpPr>
        <p:spPr>
          <a:xfrm>
            <a:off x="731520" y="2770632"/>
            <a:ext cx="10728655" cy="0"/>
          </a:xfrm>
          <a:prstGeom prst="line">
            <a:avLst/>
          </a:prstGeom>
          <a:noFill/>
          <a:ln w="12700">
            <a:solidFill>
              <a:srgbClr val="1C5A4F"/>
            </a:solidFill>
            <a:prstDash val="solid"/>
          </a:ln>
        </p:spPr>
      </p:sp>
      <p:sp>
        <p:nvSpPr>
          <p:cNvPr id="10" name="Shape 8"/>
          <p:cNvSpPr/>
          <p:nvPr/>
        </p:nvSpPr>
        <p:spPr>
          <a:xfrm>
            <a:off x="731520" y="2953512"/>
            <a:ext cx="420624" cy="420624"/>
          </a:xfrm>
          <a:prstGeom prst="ellipse">
            <a:avLst/>
          </a:prstGeom>
          <a:solidFill>
            <a:srgbClr val="2A6A5E"/>
          </a:solidFill>
          <a:ln w="12700">
            <a:solidFill>
              <a:srgbClr val="2A6A5E"/>
            </a:solidFill>
            <a:prstDash val="solid"/>
          </a:ln>
        </p:spPr>
      </p:sp>
      <p:sp>
        <p:nvSpPr>
          <p:cNvPr id="11" name="Text 9"/>
          <p:cNvSpPr txBox="1"/>
          <p:nvPr/>
        </p:nvSpPr>
        <p:spPr>
          <a:xfrm>
            <a:off x="731520" y="2953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txBox="1"/>
          <p:nvPr/>
        </p:nvSpPr>
        <p:spPr>
          <a:xfrm>
            <a:off x="1389888" y="2916936"/>
            <a:ext cx="4663440" cy="685800"/>
          </a:xfrm>
          <a:prstGeom prst="rect">
            <a:avLst/>
          </a:prstGeom>
          <a:noFill/>
          <a:ln/>
        </p:spPr>
        <p:txBody>
          <a:bodyPr wrap="square" lIns="0" tIns="0" rIns="0" bIns="0" rtlCol="0" anchor="t"/>
          <a:lstStyle/>
          <a:p>
            <a:pPr indent="0" marL="0">
              <a:lnSpc>
                <a:spcPts val="2100"/>
              </a:lnSpc>
              <a:buNone/>
            </a:pPr>
            <a:r>
              <a:rPr lang="en-US" sz="1750" b="1" dirty="0">
                <a:solidFill>
                  <a:srgbClr val="FFFFFF"/>
                </a:solidFill>
                <a:latin typeface="Cambria" pitchFamily="34" charset="0"/>
                <a:ea typeface="Cambria" pitchFamily="34" charset="-122"/>
                <a:cs typeface="Cambria" pitchFamily="34" charset="-120"/>
              </a:rPr>
              <a:t>Привязка смещается к рынку сбыта</a:t>
            </a:r>
            <a:endParaRPr lang="en-US" sz="1750" dirty="0"/>
          </a:p>
        </p:txBody>
      </p:sp>
      <p:sp>
        <p:nvSpPr>
          <p:cNvPr id="13" name="Text 11"/>
          <p:cNvSpPr txBox="1"/>
          <p:nvPr/>
        </p:nvSpPr>
        <p:spPr>
          <a:xfrm>
            <a:off x="6263640" y="2935224"/>
            <a:ext cx="5196535" cy="82296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Принцип страны назначения, изначально принадлежавший косвенному налогообложению, распространяется и на прямое.</a:t>
            </a:r>
            <a:endParaRPr lang="en-US" sz="1250" dirty="0"/>
          </a:p>
        </p:txBody>
      </p:sp>
      <p:sp>
        <p:nvSpPr>
          <p:cNvPr id="14" name="Shape 12"/>
          <p:cNvSpPr/>
          <p:nvPr/>
        </p:nvSpPr>
        <p:spPr>
          <a:xfrm>
            <a:off x="731520" y="3831336"/>
            <a:ext cx="10728655" cy="0"/>
          </a:xfrm>
          <a:prstGeom prst="line">
            <a:avLst/>
          </a:prstGeom>
          <a:noFill/>
          <a:ln w="12700">
            <a:solidFill>
              <a:srgbClr val="1C5A4F"/>
            </a:solidFill>
            <a:prstDash val="solid"/>
          </a:ln>
        </p:spPr>
      </p:sp>
      <p:sp>
        <p:nvSpPr>
          <p:cNvPr id="15" name="Shape 13"/>
          <p:cNvSpPr/>
          <p:nvPr/>
        </p:nvSpPr>
        <p:spPr>
          <a:xfrm>
            <a:off x="731520" y="4014216"/>
            <a:ext cx="420624" cy="420624"/>
          </a:xfrm>
          <a:prstGeom prst="ellipse">
            <a:avLst/>
          </a:prstGeom>
          <a:solidFill>
            <a:srgbClr val="E08A4E"/>
          </a:solidFill>
          <a:ln w="12700">
            <a:solidFill>
              <a:srgbClr val="E08A4E"/>
            </a:solidFill>
            <a:prstDash val="solid"/>
          </a:ln>
        </p:spPr>
      </p:sp>
      <p:sp>
        <p:nvSpPr>
          <p:cNvPr id="16" name="Text 14"/>
          <p:cNvSpPr txBox="1"/>
          <p:nvPr/>
        </p:nvSpPr>
        <p:spPr>
          <a:xfrm>
            <a:off x="731520" y="4014216"/>
            <a:ext cx="420624" cy="420624"/>
          </a:xfrm>
          <a:prstGeom prst="rect">
            <a:avLst/>
          </a:prstGeom>
          <a:noFill/>
          <a:ln/>
        </p:spPr>
        <p:txBody>
          <a:bodyPr wrap="square" lIns="0" tIns="0" rIns="0" bIns="0" rtlCol="0" anchor="ctr"/>
          <a:lstStyle/>
          <a:p>
            <a:pPr algn="ctr" indent="0" marL="0">
              <a:buNone/>
            </a:pPr>
            <a:r>
              <a:rPr lang="en-US" sz="1300" b="1" dirty="0">
                <a:solidFill>
                  <a:srgbClr val="0F3B34"/>
                </a:solidFill>
                <a:latin typeface="Calibri" pitchFamily="34" charset="0"/>
                <a:ea typeface="Calibri" pitchFamily="34" charset="-122"/>
                <a:cs typeface="Calibri" pitchFamily="34" charset="-120"/>
              </a:rPr>
              <a:t>03</a:t>
            </a:r>
            <a:endParaRPr lang="en-US" sz="1300" dirty="0"/>
          </a:p>
        </p:txBody>
      </p:sp>
      <p:sp>
        <p:nvSpPr>
          <p:cNvPr id="17" name="Text 15"/>
          <p:cNvSpPr txBox="1"/>
          <p:nvPr/>
        </p:nvSpPr>
        <p:spPr>
          <a:xfrm>
            <a:off x="1389888" y="3977640"/>
            <a:ext cx="4663440" cy="685800"/>
          </a:xfrm>
          <a:prstGeom prst="rect">
            <a:avLst/>
          </a:prstGeom>
          <a:noFill/>
          <a:ln/>
        </p:spPr>
        <p:txBody>
          <a:bodyPr wrap="square" lIns="0" tIns="0" rIns="0" bIns="0" rtlCol="0" anchor="t"/>
          <a:lstStyle/>
          <a:p>
            <a:pPr indent="0" marL="0">
              <a:lnSpc>
                <a:spcPts val="2100"/>
              </a:lnSpc>
              <a:buNone/>
            </a:pPr>
            <a:r>
              <a:rPr lang="en-US" sz="1750" b="1" dirty="0">
                <a:solidFill>
                  <a:srgbClr val="FFFFFF"/>
                </a:solidFill>
                <a:latin typeface="Cambria" pitchFamily="34" charset="0"/>
                <a:ea typeface="Cambria" pitchFamily="34" charset="-122"/>
                <a:cs typeface="Cambria" pitchFamily="34" charset="-120"/>
              </a:rPr>
              <a:t>Обязанным лицом становится посредник</a:t>
            </a:r>
            <a:endParaRPr lang="en-US" sz="1750" dirty="0"/>
          </a:p>
        </p:txBody>
      </p:sp>
      <p:sp>
        <p:nvSpPr>
          <p:cNvPr id="18" name="Text 16"/>
          <p:cNvSpPr txBox="1"/>
          <p:nvPr/>
        </p:nvSpPr>
        <p:spPr>
          <a:xfrm>
            <a:off x="6263640" y="3995928"/>
            <a:ext cx="5196535" cy="82296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Маркетплейс, платформа, банк — вместо самого налогоплательщика. Собираемость растёт, издержки администрирования переходят на бизнес.</a:t>
            </a:r>
            <a:endParaRPr lang="en-US" sz="1250" dirty="0"/>
          </a:p>
        </p:txBody>
      </p:sp>
      <p:sp>
        <p:nvSpPr>
          <p:cNvPr id="19" name="Shape 17"/>
          <p:cNvSpPr/>
          <p:nvPr/>
        </p:nvSpPr>
        <p:spPr>
          <a:xfrm>
            <a:off x="731520" y="4892040"/>
            <a:ext cx="10728655" cy="0"/>
          </a:xfrm>
          <a:prstGeom prst="line">
            <a:avLst/>
          </a:prstGeom>
          <a:noFill/>
          <a:ln w="12700">
            <a:solidFill>
              <a:srgbClr val="1C5A4F"/>
            </a:solidFill>
            <a:prstDash val="solid"/>
          </a:ln>
        </p:spPr>
      </p:sp>
      <p:sp>
        <p:nvSpPr>
          <p:cNvPr id="20" name="Shape 18"/>
          <p:cNvSpPr/>
          <p:nvPr/>
        </p:nvSpPr>
        <p:spPr>
          <a:xfrm>
            <a:off x="731520" y="5074920"/>
            <a:ext cx="420624" cy="420624"/>
          </a:xfrm>
          <a:prstGeom prst="ellipse">
            <a:avLst/>
          </a:prstGeom>
          <a:solidFill>
            <a:srgbClr val="2A6A5E"/>
          </a:solidFill>
          <a:ln w="12700">
            <a:solidFill>
              <a:srgbClr val="2A6A5E"/>
            </a:solidFill>
            <a:prstDash val="solid"/>
          </a:ln>
        </p:spPr>
      </p:sp>
      <p:sp>
        <p:nvSpPr>
          <p:cNvPr id="21" name="Text 19"/>
          <p:cNvSpPr txBox="1"/>
          <p:nvPr/>
        </p:nvSpPr>
        <p:spPr>
          <a:xfrm>
            <a:off x="731520" y="50749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20"/>
          <p:cNvSpPr txBox="1"/>
          <p:nvPr/>
        </p:nvSpPr>
        <p:spPr>
          <a:xfrm>
            <a:off x="1389888" y="5038344"/>
            <a:ext cx="4663440" cy="685800"/>
          </a:xfrm>
          <a:prstGeom prst="rect">
            <a:avLst/>
          </a:prstGeom>
          <a:noFill/>
          <a:ln/>
        </p:spPr>
        <p:txBody>
          <a:bodyPr wrap="square" lIns="0" tIns="0" rIns="0" bIns="0" rtlCol="0" anchor="t"/>
          <a:lstStyle/>
          <a:p>
            <a:pPr indent="0" marL="0">
              <a:lnSpc>
                <a:spcPts val="2100"/>
              </a:lnSpc>
              <a:buNone/>
            </a:pPr>
            <a:r>
              <a:rPr lang="en-US" sz="1750" b="1" dirty="0">
                <a:solidFill>
                  <a:srgbClr val="FFFFFF"/>
                </a:solidFill>
                <a:latin typeface="Cambria" pitchFamily="34" charset="0"/>
                <a:ea typeface="Cambria" pitchFamily="34" charset="-122"/>
                <a:cs typeface="Cambria" pitchFamily="34" charset="-120"/>
              </a:rPr>
              <a:t>Главный риск — не ставка, а доказывание</a:t>
            </a:r>
            <a:endParaRPr lang="en-US" sz="1750" dirty="0"/>
          </a:p>
        </p:txBody>
      </p:sp>
      <p:sp>
        <p:nvSpPr>
          <p:cNvPr id="23" name="Text 21"/>
          <p:cNvSpPr txBox="1"/>
          <p:nvPr/>
        </p:nvSpPr>
        <p:spPr>
          <a:xfrm>
            <a:off x="6263640" y="5056632"/>
            <a:ext cx="5196535" cy="822960"/>
          </a:xfrm>
          <a:prstGeom prst="rect">
            <a:avLst/>
          </a:prstGeom>
          <a:noFill/>
          <a:ln/>
        </p:spPr>
        <p:txBody>
          <a:bodyPr wrap="square" lIns="0" tIns="0" rIns="0" bIns="0" rtlCol="0" anchor="ctr"/>
          <a:lstStyle/>
          <a:p>
            <a:pPr indent="0" marL="0">
              <a:lnSpc>
                <a:spcPts val="1700"/>
              </a:lnSpc>
              <a:buNone/>
            </a:pPr>
            <a:r>
              <a:rPr lang="en-US" sz="1250" dirty="0">
                <a:solidFill>
                  <a:srgbClr val="9FBDB3"/>
                </a:solidFill>
                <a:latin typeface="Calibri" pitchFamily="34" charset="0"/>
                <a:ea typeface="Calibri" pitchFamily="34" charset="-122"/>
                <a:cs typeface="Calibri" pitchFamily="34" charset="-120"/>
              </a:rPr>
              <a:t>Подтверждение нулевой ставки, фактического права на доход, рыночности цены, углеродного следа.</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B34"/>
        </a:solidFill>
      </p:bgPr>
    </p:bg>
    <p:spTree>
      <p:nvGrpSpPr>
        <p:cNvPr id="1" name=""/>
        <p:cNvGrpSpPr/>
        <p:nvPr/>
      </p:nvGrpSpPr>
      <p:grpSpPr>
        <a:xfrm>
          <a:off x="0" y="0"/>
          <a:ext cx="0" cy="0"/>
          <a:chOff x="0" y="0"/>
          <a:chExt cx="0" cy="0"/>
        </a:xfrm>
      </p:grpSpPr>
      <p:sp>
        <p:nvSpPr>
          <p:cNvPr id="2" name="Shape 0"/>
          <p:cNvSpPr/>
          <p:nvPr/>
        </p:nvSpPr>
        <p:spPr>
          <a:xfrm>
            <a:off x="8778240" y="-822960"/>
            <a:ext cx="4572000" cy="4572000"/>
          </a:xfrm>
          <a:prstGeom prst="ellipse">
            <a:avLst/>
          </a:prstGeom>
          <a:solidFill>
            <a:srgbClr val="0F3B34">
              <a:alpha val="0"/>
            </a:srgbClr>
          </a:solidFill>
          <a:ln w="19050">
            <a:solidFill>
              <a:srgbClr val="1C5A4F"/>
            </a:solidFill>
            <a:prstDash val="solid"/>
          </a:ln>
        </p:spPr>
      </p:sp>
      <p:sp>
        <p:nvSpPr>
          <p:cNvPr id="3" name="Shape 1"/>
          <p:cNvSpPr/>
          <p:nvPr/>
        </p:nvSpPr>
        <p:spPr>
          <a:xfrm>
            <a:off x="9509760" y="-91440"/>
            <a:ext cx="3108960" cy="3108960"/>
          </a:xfrm>
          <a:prstGeom prst="ellipse">
            <a:avLst/>
          </a:prstGeom>
          <a:solidFill>
            <a:srgbClr val="0F3B34">
              <a:alpha val="0"/>
            </a:srgbClr>
          </a:solidFill>
          <a:ln w="15875">
            <a:solidFill>
              <a:srgbClr val="E08A4E"/>
            </a:solidFill>
            <a:prstDash val="solid"/>
          </a:ln>
        </p:spPr>
      </p:sp>
      <p:sp>
        <p:nvSpPr>
          <p:cNvPr id="4" name="Text 2"/>
          <p:cNvSpPr txBox="1"/>
          <p:nvPr/>
        </p:nvSpPr>
        <p:spPr>
          <a:xfrm>
            <a:off x="731520" y="1828800"/>
            <a:ext cx="7680960" cy="2194560"/>
          </a:xfrm>
          <a:prstGeom prst="rect">
            <a:avLst/>
          </a:prstGeom>
          <a:noFill/>
          <a:ln/>
        </p:spPr>
        <p:txBody>
          <a:bodyPr wrap="square" lIns="0" tIns="0" rIns="0" bIns="0" rtlCol="0" anchor="ctr"/>
          <a:lstStyle/>
          <a:p>
            <a:pPr indent="0" marL="0">
              <a:lnSpc>
                <a:spcPts val="4000"/>
              </a:lnSpc>
              <a:buNone/>
            </a:pPr>
            <a:r>
              <a:rPr lang="en-US" sz="2700" b="1" dirty="0">
                <a:solidFill>
                  <a:srgbClr val="FFFFFF"/>
                </a:solidFill>
                <a:latin typeface="Cambria" pitchFamily="34" charset="0"/>
                <a:ea typeface="Cambria" pitchFamily="34" charset="-122"/>
                <a:cs typeface="Cambria" pitchFamily="34" charset="-120"/>
              </a:rPr>
              <a:t>«Экономика трансграничной сделки</a:t>
            </a:r>
            <a:endParaRPr lang="en-US" sz="2700" dirty="0"/>
          </a:p>
          <a:p>
            <a:pPr indent="0" marL="0">
              <a:lnSpc>
                <a:spcPts val="4000"/>
              </a:lnSpc>
              <a:buNone/>
            </a:pPr>
            <a:r>
              <a:rPr lang="en-US" sz="2700" b="1" dirty="0">
                <a:solidFill>
                  <a:srgbClr val="FFFFFF"/>
                </a:solidFill>
                <a:latin typeface="Cambria" pitchFamily="34" charset="0"/>
                <a:ea typeface="Cambria" pitchFamily="34" charset="-122"/>
                <a:cs typeface="Cambria" pitchFamily="34" charset="-120"/>
              </a:rPr>
              <a:t>определяется не тем, сколько нужно</a:t>
            </a:r>
            <a:endParaRPr lang="en-US" sz="2700" dirty="0"/>
          </a:p>
          <a:p>
            <a:pPr indent="0" marL="0">
              <a:lnSpc>
                <a:spcPts val="4000"/>
              </a:lnSpc>
              <a:buNone/>
            </a:pPr>
            <a:r>
              <a:rPr lang="en-US" sz="2700" b="1" dirty="0">
                <a:solidFill>
                  <a:srgbClr val="FFFFFF"/>
                </a:solidFill>
                <a:latin typeface="Cambria" pitchFamily="34" charset="0"/>
                <a:ea typeface="Cambria" pitchFamily="34" charset="-122"/>
                <a:cs typeface="Cambria" pitchFamily="34" charset="-120"/>
              </a:rPr>
              <a:t>заплатить, а тем, что удастся доказать»</a:t>
            </a:r>
            <a:endParaRPr lang="en-US" sz="2700" dirty="0"/>
          </a:p>
        </p:txBody>
      </p:sp>
      <p:sp>
        <p:nvSpPr>
          <p:cNvPr id="5" name="Shape 3"/>
          <p:cNvSpPr/>
          <p:nvPr/>
        </p:nvSpPr>
        <p:spPr>
          <a:xfrm>
            <a:off x="731520" y="4343400"/>
            <a:ext cx="3291840" cy="0"/>
          </a:xfrm>
          <a:prstGeom prst="line">
            <a:avLst/>
          </a:prstGeom>
          <a:noFill/>
          <a:ln w="12700">
            <a:solidFill>
              <a:srgbClr val="2A6A5E"/>
            </a:solidFill>
            <a:prstDash val="solid"/>
          </a:ln>
        </p:spPr>
      </p:sp>
      <p:sp>
        <p:nvSpPr>
          <p:cNvPr id="6" name="Text 4"/>
          <p:cNvSpPr txBox="1"/>
          <p:nvPr/>
        </p:nvSpPr>
        <p:spPr>
          <a:xfrm>
            <a:off x="731520" y="4553712"/>
            <a:ext cx="7315200" cy="365760"/>
          </a:xfrm>
          <a:prstGeom prst="rect">
            <a:avLst/>
          </a:prstGeom>
          <a:noFill/>
          <a:ln/>
        </p:spPr>
        <p:txBody>
          <a:bodyPr wrap="square" lIns="0" tIns="0" rIns="0" bIns="0" rtlCol="0" anchor="ctr"/>
          <a:lstStyle/>
          <a:p>
            <a:pPr indent="0" marL="0">
              <a:buNone/>
            </a:pPr>
            <a:r>
              <a:rPr lang="en-US" sz="1500" dirty="0">
                <a:solidFill>
                  <a:srgbClr val="9FBDB3"/>
                </a:solidFill>
                <a:latin typeface="Calibri" pitchFamily="34" charset="0"/>
                <a:ea typeface="Calibri" pitchFamily="34" charset="-122"/>
                <a:cs typeface="Calibri" pitchFamily="34" charset="-120"/>
              </a:rPr>
              <a:t>Спасибо за внимание. Готов ответить на вопросы.</a:t>
            </a:r>
            <a:endParaRPr lang="en-US" sz="1500" dirty="0"/>
          </a:p>
        </p:txBody>
      </p:sp>
      <p:sp>
        <p:nvSpPr>
          <p:cNvPr id="7" name="Text 5"/>
          <p:cNvSpPr txBox="1"/>
          <p:nvPr/>
        </p:nvSpPr>
        <p:spPr>
          <a:xfrm>
            <a:off x="731520" y="5806440"/>
            <a:ext cx="10728655" cy="548640"/>
          </a:xfrm>
          <a:prstGeom prst="rect">
            <a:avLst/>
          </a:prstGeom>
          <a:noFill/>
          <a:ln/>
        </p:spPr>
        <p:txBody>
          <a:bodyPr wrap="square" lIns="0" tIns="0" rIns="0" bIns="0" rtlCol="0" anchor="ctr"/>
          <a:lstStyle/>
          <a:p>
            <a:pPr indent="0" marL="0">
              <a:lnSpc>
                <a:spcPts val="1500"/>
              </a:lnSpc>
              <a:buNone/>
            </a:pPr>
            <a:r>
              <a:rPr lang="en-US" sz="1100" dirty="0">
                <a:solidFill>
                  <a:srgbClr val="6F9188"/>
                </a:solidFill>
                <a:latin typeface="Calibri" pitchFamily="34" charset="0"/>
                <a:ea typeface="Calibri" pitchFamily="34" charset="-122"/>
                <a:cs typeface="Calibri" pitchFamily="34" charset="-120"/>
              </a:rPr>
              <a:t>Нормативная база: НК РФ · Договор о ЕАЭС, Приложение № 18 · Решение Совета ЕЭК № 112 · Модельная конвенция ОЭСР · MLI · GloBE · Регламент (ЕС) 2023/956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Налоговое законодательство при трансграничной торговле</dc:title>
  <dc:subject>PptxGenJS Presentation</dc:subject>
  <dc:creator>Доклад</dc:creator>
  <cp:lastModifiedBy>Доклад</cp:lastModifiedBy>
  <cp:revision>1</cp:revision>
  <dcterms:created xsi:type="dcterms:W3CDTF">2026-09-13T17:16:24Z</dcterms:created>
  <dcterms:modified xsi:type="dcterms:W3CDTF">2026-09-13T17:16:24Z</dcterms:modified>
</cp:coreProperties>
</file>