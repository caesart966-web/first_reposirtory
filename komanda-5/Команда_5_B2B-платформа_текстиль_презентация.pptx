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ab4a345-0e86-cb05-7350-cb424d9ff351}">
          <p14:sldIdLst>
            <p14:sldId id="256"/>
            <p14:sldId id="257"/>
          </p14:sldIdLst>
        </p14:section>
        <p14:section name="Модель Аптека.ру" id="{40828bc2-7460-23ed-1a01-33c3b90a6ec1}">
          <p14:sldIdLst>
            <p14:sldId id="258"/>
            <p14:sldId id="259"/>
          </p14:sldIdLst>
        </p14:section>
        <p14:section name="Рынок" id="{c57133f8-57eb-5e77-989f-994fff5ee262}">
          <p14:sldIdLst>
            <p14:sldId id="260"/>
          </p14:sldIdLst>
        </p14:section>
        <p14:section name="Домен" id="{7e0b8b67-b6fb-a99f-8cc1-c23e5c61d5ed}">
          <p14:sldIdLst>
            <p14:sldId id="261"/>
            <p14:sldId id="262"/>
            <p14:sldId id="263"/>
          </p14:sldIdLst>
        </p14:section>
        <p14:section name="Платформа" id="{aa9f423c-bc95-f1f4-5b3f-32af58f52793}">
          <p14:sldIdLst>
            <p14:sldId id="264"/>
            <p14:sldId id="265"/>
          </p14:sldIdLst>
        </p14:section>
        <p14:section name="Коллаборация" id="{7e59661e-f7cc-8532-d583-3406687e7ece}">
          <p14:sldIdLst>
            <p14:sldId id="266"/>
            <p14:sldId id="267"/>
          </p14:sldIdLst>
        </p14:section>
        <p14:section name="Право и экономика" id="{9b014d14-3dd8-35b3-8fcc-a31f9280178e}">
          <p14:sldIdLst>
            <p14:sldId id="268"/>
            <p14:sldId id="269"/>
          </p14:sldIdLst>
        </p14:section>
        <p14:section name="Запуск и риски" id="{87bcc53d-3d45-9cdb-14b2-2aa45ad3f7cd}">
          <p14:sldIdLst>
            <p14:sldId id="270"/>
            <p14:sldId id="271"/>
          </p14:sldIdLst>
        </p14:section>
        <p14:section name="Итог" id="{c5c276b7-e872-0bee-bd7b-ddf33922bc9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23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2238"/>
                </a:solidFill>
                <a:latin typeface="Calibri"/>
              </a:rPr>
              <a:t>Бюджет первого года, тыс. ₽ (терракотовым — технологии)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тыс. ₽</c:v>
                </c:pt>
              </c:strCache>
            </c:strRef>
          </c:tx>
          <c:spPr>
            <a:solidFill>
              <a:srgbClr val="1722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2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22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22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7223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53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7223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7223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7223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4532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Менеджер, 1 ставка</c:v>
                  </c:pt>
                  <c:pt idx="1">
                    <c:v>Реклама и выставки</c:v>
                  </c:pt>
                  <c:pt idx="2">
                    <c:v>Доработка платформы</c:v>
                  </c:pt>
                  <c:pt idx="3">
                    <c:v>Лицензия CS-Cart</c:v>
                  </c:pt>
                  <c:pt idx="4">
                    <c:v>Юрист</c:v>
                  </c:pt>
                  <c:pt idx="5">
                    <c:v>Сервер в России</c:v>
                  </c:pt>
                  <c:pt idx="6">
                    <c:v>Товарный знак</c:v>
                  </c:pt>
                  <c:pt idx="7">
                    <c:v>Домены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1248</c:v>
                </c:pt>
                <c:pt idx="1">
                  <c:v>600</c:v>
                </c:pt>
                <c:pt idx="2">
                  <c:v>300</c:v>
                </c:pt>
                <c:pt idx="3">
                  <c:v>248</c:v>
                </c:pt>
                <c:pt idx="4">
                  <c:v>100</c:v>
                </c:pt>
                <c:pt idx="5">
                  <c:v>60</c:v>
                </c:pt>
                <c:pt idx="6">
                  <c:v>35</c:v>
                </c:pt>
                <c:pt idx="7">
                  <c:v>28.2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2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E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238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2238"/>
                </a:solidFill>
                <a:latin typeface="Calibri"/>
              </a:rPr>
              <a:t>Безубыточность, тыс. ₽ в месяц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Доход платформы при 7 %</c:v>
                </c:pt>
              </c:strCache>
            </c:strRef>
          </c:tx>
          <c:spPr>
            <a:solidFill>
              <a:srgbClr val="B4532F"/>
            </a:solidFill>
            <a:ln w="38100" cap="flat">
              <a:solidFill>
                <a:srgbClr val="B453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4532F"/>
              </a:solidFill>
              <a:ln w="9525" cap="flat">
                <a:solidFill>
                  <a:srgbClr val="B453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0,5</c:v>
                  </c:pt>
                  <c:pt idx="2">
                    <c:v>1</c:v>
                  </c:pt>
                  <c:pt idx="3">
                    <c:v>1,5</c:v>
                  </c:pt>
                  <c:pt idx="4">
                    <c:v>2</c:v>
                  </c:pt>
                  <c:pt idx="5">
                    <c:v>2,5</c:v>
                  </c:pt>
                  <c:pt idx="6">
                    <c:v>3</c:v>
                  </c:pt>
                  <c:pt idx="7">
                    <c:v>3,5</c:v>
                  </c:pt>
                  <c:pt idx="8">
                    <c:v>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35</c:v>
                </c:pt>
                <c:pt idx="2">
                  <c:v>70</c:v>
                </c:pt>
                <c:pt idx="3">
                  <c:v>105</c:v>
                </c:pt>
                <c:pt idx="4">
                  <c:v>140</c:v>
                </c:pt>
                <c:pt idx="5">
                  <c:v>175</c:v>
                </c:pt>
                <c:pt idx="6">
                  <c:v>210</c:v>
                </c:pt>
                <c:pt idx="7">
                  <c:v>245</c:v>
                </c:pt>
                <c:pt idx="8">
                  <c:v>280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Постоянные расходы</c:v>
                </c:pt>
              </c:strCache>
            </c:strRef>
          </c:tx>
          <c:spPr>
            <a:solidFill>
              <a:srgbClr val="172238"/>
            </a:solidFill>
            <a:ln w="38100" cap="flat">
              <a:solidFill>
                <a:srgbClr val="1722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72238"/>
              </a:solidFill>
              <a:ln w="9525" cap="flat">
                <a:solidFill>
                  <a:srgbClr val="1722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0,5</c:v>
                  </c:pt>
                  <c:pt idx="2">
                    <c:v>1</c:v>
                  </c:pt>
                  <c:pt idx="3">
                    <c:v>1,5</c:v>
                  </c:pt>
                  <c:pt idx="4">
                    <c:v>2</c:v>
                  </c:pt>
                  <c:pt idx="5">
                    <c:v>2,5</c:v>
                  </c:pt>
                  <c:pt idx="6">
                    <c:v>3</c:v>
                  </c:pt>
                  <c:pt idx="7">
                    <c:v>3,5</c:v>
                  </c:pt>
                  <c:pt idx="8">
                    <c:v>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159</c:v>
                </c:pt>
                <c:pt idx="1">
                  <c:v>159</c:v>
                </c:pt>
                <c:pt idx="2">
                  <c:v>159</c:v>
                </c:pt>
                <c:pt idx="3">
                  <c:v>159</c:v>
                </c:pt>
                <c:pt idx="4">
                  <c:v>159</c:v>
                </c:pt>
                <c:pt idx="5">
                  <c:v>159</c:v>
                </c:pt>
                <c:pt idx="6">
                  <c:v>159</c:v>
                </c:pt>
                <c:pt idx="7">
                  <c:v>159</c:v>
                </c:pt>
                <c:pt idx="8">
                  <c:v>159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E6675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E6675"/>
                    </a:solidFill>
                    <a:latin typeface="Calibri"/>
                  </a:rPr>
                  <a:t>оборот партнёров, млн ₽ в месяц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6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9525" cap="flat">
              <a:solidFill>
                <a:srgbClr val="E6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6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2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 5, группа ТД-2541: Багишев Алихан и Тимофеева Александра. Наша задача — оценить, можно ли выкупить сайт или домен на Reg.ru для B2B-платформы, и предложить коллаборацию по образцу Аптека.ру, где платформа сводит поставщиков и покупателей.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ответ: выкуп домена на Reg.ru возможен и недорог. Рекомендуем opttex.ru из Магазина доменов за 27 900 рублей, а платформу строить по модели Аптека.ру: оператор — оптовик со своим товаром, фабрики подключаются партнёрами. Первый год обойдётся примерно в 2,6 млн рублей, безубыточность — при обороте партнёров около 2,3 млн рублей в месяц.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Аптека.ру — не доска объявлений, а платформа оптовика: её запустил дистрибьютор «Катрен», и каждый заказ собирается на его складе. Покупатель видит цены многих аптек в одном окне, аптека получает клиента без своего сайта, дистрибьютор — гарантированный сбыт. Так сервис объединил около 35 тысяч аптек и в 2022 году занял 31 % онлайн-продаж лекарств.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Аптека.ру берём главное: оператор — оптовик со своим товаром, продавцы — партнёры, один каталог с ценами многих продавцов. Но покупатель у нас — организация: отелю нужен не самовывоз, а доставка на объект, платят по счёту, часть заказов шьётся под клиента. Поэтому кроме корзины на платформе будет заявка на расчёт сразу у нескольких фабрик.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 на онлайн-закупки у организаций уже есть: оборот B2B- и B2G-интернет-торговли в 2025 году — около 2 трлн рублей. Но закупщик отеля выбирает между неудобными вариантами: маркетплейсы не шьют под заказ, каталоги дают только контакты, сайты фабрик показывают одну фабрику. Площадки, которая доводила бы заказ от фабрики до объекта, мы не нашли — это наша ниша.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Готовые сайты Reg.ru не продаёт: «выкуп сайта» здесь означает выкуп домена, а платформу строим отдельно. Способов пять, и способ влияет на цену сильнее, чем само имя: от 169 рублей за свободный домен до сотен тысяч за готовое короткое. Наш путь — Магазин доменов: цена фиксирована, Reg.ru выступает гарантом. С 1 сентября 2026 года администратор домена проходит идентификацию через Госуслуги, поэтому оформляем домен на организацию.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Цену проверили на Reg.ru 5 октября 2026 года: лот opttex.ru стоит 27 900 рублей, домен существует с 2007 года. Там же подтвердили, что опттекс.рф и textilehub.ru свободны — по 169 рублей, а textilehub.com занят. Имя короткое и сразу говорит, что площадка оптовая. Перед оплатой — проверка товарных знаков в ФИПС и истории домена.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проверили около ста имён по DNS и сравнили лоты Магазина доменов. Имена «как Аптека.ру» — textil.ru и текстиль.рф — заняты, их можно получить только через брокера по неизвестной цене. Короткие лоты стоят 75–80 тысяч, а имена с «b2b» или «hotel» неудобно диктовать или сужают аудиторию. На этом фоне opttex.ru — лучший баланс цены и имени.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Платформу запускаем в два шага, чтобы не тратить деньги на разработку до того, как подтвердится спрос. Сначала — посадочная страница с каталогом и формой заявки. После десяти оплаченных заказов переходим на готовую коробку CS-Cart Multi-Vendor Plus за 248 тысяч рублей: в ней уже есть кабинеты поставщиков и комиссии. Это дешевле облачной платформы и в разы дешевле разработки с нуля.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Платформа сводит заявку покупателя с предложениями нескольких поставщиков, а товар и деньги идут напрямую. Отель оставляет заявку, фабрики отвечают ценой, отель выбирает. Фабрика отгружает через транспортную компанию, отель платит фабрике сам или с отсрочкой через банк, а мы раз в месяц выставляем фабрике счёт на комиссию 7 %. Собственный товар компании продаётся на той же витрине — как товар «Катрена» на Аптека.ру.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предлагаем союз по образцу Аптека.ру. Фабрики получают заказчиков и загрузку, импортёры — сбыт, дизайнеры — витрину коллекций, покупатели — сравнение поставщиков и один счёт, транспортная компания и банк — постоянный поток. Для покупателя площадка бесплатна. Поставщики первые шесть месяцев работают без комиссии, затем — 7 % с оплаченного заказа; это наше предложение, окончательную цифру проверим в переговорах с первыми фабриками.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Платформа зарабатывает четырьмя способами: комиссия с оплаченного заказа — основной доход, наценка на собственный товар, платный тариф для поставщиков и наценка на сборной логистике. Справа — письмо, которое можно отправлять фабрикам Иваново как есть: в нём всё предложение — бесплатное размещение, полгода без комиссии, затем 7 %.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1 октября 2026 года действует закон о платформенной экономике, и B2B-площадка с партнёрами-продавцами подпадает под него: нужны публичные правила, проверка продавцов, предупреждение об изменении условий и ответ на жалобу за 15 дней. Бельё и полотенца подлежат маркировке «Честный знак». Домен оформляем на организацию через Госуслуги, название регистрируем как товарный знак. Расчёты на старте простые: покупатель платит поставщику, чужие деньги через нас не идут.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год обойдётся примерно в 2,6 млн рублей, причём технологии — домен и лицензия — это лишь 0,28 млн. Основные расходы — менеджер и привлечение клиентов. После запуска постоянные расходы — 159 тысяч в месяц. При комиссии 7 % платформа выходит на безубыточность при обороте партнёров около 2,3 млн рублей в месяц — примерно 15 заказов по 150 тысяч. Средний заказ — допущение, уточним на первых сделках.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 первого рубля на разработку проходит полгода. Осенью 2026 года — проверка и покупка домена, товарный знак, договоры с фабриками. Зимой проверяем спрос вручную: посадочная страница, каталог пяти фабрик и собственного товара. Весной 2027 года — маркетплейс, с лета — комиссия 7 %, отсрочка через банк и новые регионы. Каждый этап открывается только после измеримого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риск любой площадки-посредника — пустой старт: без поставщиков не придут покупатели, без покупателей — поставщики. Аптека.ру решила это складом «Катрена», мы стартуем с собственного ассортимента. Второй риск — сделки в обход платформы: защищает удобство площадки и условие о комиссии с прямых заказов. Риски по домену и закону снимаем заранее — проверкой в ФИПС, запасным доменом и юристом до первого партнёра.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выкупить домен на Reg.ru можно и недорого — opttex.ru за 27 900 рублей, двойники по 169. Платформу строим по модели Аптека.ру: мы — оператор-оптовик со своим товаром, фабрики — партнёры, организации — покупатели. Цену лота и свободные домены мы проверили на Reg.ru 5 октября.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7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6751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94760"/>
            <a:ext cx="6309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9CFDA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Команда 5 · группа ТД-2541 · B2B-платформа для текстиля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HOTO_LE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846320" y="384048"/>
            <a:ext cx="67665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846320" y="676656"/>
            <a:ext cx="67665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484632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</a:rPr>
              <a:t>Команда 5 · группа ТД-2541 · B2B-платформа для текстиля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7A8"/>
                </a:solidFill>
              </a:rPr>
              <a:t>Команда 5 · группа ТД-2541 · B2B-платформа для текстиля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Тканый узор — полотняное переплетени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82296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4532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8229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</a:rPr>
              <a:t>КОМАНДА 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2148840" y="822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8C3A0"/>
                </a:solidFill>
              </a:rPr>
              <a:t>Задания по командам · 5 октября 2026</a:t>
            </a:r>
            <a:endParaRPr lang="en-US" sz="13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1554480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B2B-платформа</a:t>
            </a:r>
            <a:endParaRPr lang="en-US" sz="5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</a:t>
            </a:r>
            <a:pPr algn="l" indent="0" marL="0">
              <a:lnSpc>
                <a:spcPct val="95000"/>
              </a:lnSpc>
              <a:buNone/>
            </a:pPr>
            <a:r>
              <a:rPr lang="en-US" sz="5400" i="1" dirty="0">
                <a:solidFill>
                  <a:srgbClr val="D8C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текстиля</a:t>
            </a:r>
            <a:endParaRPr lang="en-US" sz="5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640080" y="379476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FDA"/>
                </a:solidFill>
              </a:rPr>
              <a:t>Выкуп домена на Reg.ru и коллаборация по модели «Аптека.ру»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8C3A0"/>
                </a:solidFill>
              </a:rPr>
              <a:t>ВЫПОЛНИЛИ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3035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Багишев Алихан · Тимофеева Александра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CFDA"/>
                </a:solidFill>
              </a:rPr>
              <a:t>Группа ТД-2541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ЗАДАНИЕ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Задание и наш ответ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0" cy="4617720"/>
          </a:xfrm>
          <a:prstGeom prst="roundRect">
            <a:avLst>
              <a:gd name="adj" fmla="val 2400"/>
            </a:avLst>
          </a:prstGeom>
          <a:solidFill>
            <a:srgbClr val="1722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8C3A0"/>
                </a:solidFill>
              </a:rPr>
              <a:t>ЗАДАНИЕ КОМАНДЫ 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 создания B2B-платформы рассмотреть возможность выкупа сайта/домена на Рег.ру. Предложить коллаборацию по типу «Аптека.ру» (сведение поставщиков и покупателей).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669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CFDA"/>
                </a:solidFill>
              </a:rPr>
              <a:t>Срок — 5 октября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1554480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6F2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15000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27 900 ₽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234086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домен opttex.ru в Магазине доменов Reg.ru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41080" y="1554480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6F2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15400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248 000 ₽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234086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лицензия маркетплейса CS-Cart Multi-Vendor Plus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3127248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6F2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33284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7 %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39136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комиссия с оплаченного заказа после 6 бесплатных месяцев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41080" y="3127248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6F2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15400" y="33284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 2,6 млн ₽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39136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бюджет первого года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40680" y="4700016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6F2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15000" y="4901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 2,3 млн ₽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54864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оборот партнёров в месяц для безубыточности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41080" y="4700016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6F2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15400" y="4901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 100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54864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675"/>
                </a:solidFill>
              </a:rPr>
              <a:t>доменных имён проверено по DNS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КАК УСТРОЕНА АПТЕКА.РУ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Аптека.ру — платформа оптовика</a:t>
            </a:r>
            <a:endParaRPr lang="en-US" sz="3000" dirty="0"/>
          </a:p>
        </p:txBody>
      </p:sp>
      <p:pic>
        <p:nvPicPr>
          <p:cNvPr id="4" name="Image 0" descr="Аптека под вывеской apteka.r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2514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245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Сервис в апреле 2013 года запустил фармдистрибьютор «Катрен», и каждый заказ проходит через его склад.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83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 35 тыс.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681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аптек-партнёров по всей стране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4983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31 %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546811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онлайн-продаж лекарств в 2022 году — 1-е место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4983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34,2 млрд ₽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54681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товарооборот в 2019 году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238"/>
                </a:solidFill>
              </a:rPr>
              <a:t>Путь заказа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46520" y="2057400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4652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03911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Покупатель выбирает товары и удобную аптеку-партнёр на сайте или в приложении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46520" y="2843784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4652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82549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Заказ уходит заявкой в «Катрен» от имени выбранной аптеки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446520" y="3630168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4652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611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«Катрен» привозит товар в аптеку на следующий рабочий день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446520" y="4416552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4652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39826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Покупатель платит и забирает заказ; продаёт аптека, товар в её собственности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446520" y="5303520"/>
            <a:ext cx="5166360" cy="868680"/>
          </a:xfrm>
          <a:prstGeom prst="roundRect">
            <a:avLst>
              <a:gd name="adj" fmla="val 12632"/>
            </a:avLst>
          </a:prstGeom>
          <a:solidFill>
            <a:srgbClr val="F4E1D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75120" y="537667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Вывод:</a:t>
            </a:r>
            <a:pPr algn="l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 площадку выгоднее строить вокруг оптовика со своим товаром — эту роль берёт наша компания.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ПЕРЕНОС МОДЕЛИ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Переносим модель в текстиль</a:t>
            </a:r>
            <a:endParaRPr lang="en-US" sz="3000" dirty="0"/>
          </a:p>
        </p:txBody>
      </p:sp>
      <p:pic>
        <p:nvPicPr>
          <p:cNvPr id="4" name="Image 0" descr="Логотип apteka.r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572768"/>
            <a:ext cx="131673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0" y="1536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2F"/>
                </a:solidFill>
              </a:rPr>
              <a:t>Текстильная B2B-платформа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8483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6F2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20848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ВЛАДЕЛЕЦ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08483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Дистрибьютор со складом — «Катрен»</a:t>
            </a:r>
            <a:endParaRPr lang="en-US" sz="1350" dirty="0"/>
          </a:p>
        </p:txBody>
      </p:sp>
      <p:pic>
        <p:nvPicPr>
          <p:cNvPr id="9" name="Image 1" descr="Arrow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585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09360" y="20848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238"/>
                </a:solidFill>
              </a:rPr>
              <a:t>Наша компания-оптовик: ткань из Иваново, импорт из Индии и Китая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277063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DD3C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27706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ПРОДАВЦЫ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011680" y="277063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Аптеки-партнёры продают и выдают заказ</a:t>
            </a:r>
            <a:endParaRPr lang="en-US" sz="1350" dirty="0"/>
          </a:p>
        </p:txBody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9443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09360" y="27706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238"/>
                </a:solidFill>
              </a:rPr>
              <a:t>Фабрики Иваново, импортёры, швейные цеха, региональные склады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345643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6F2E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77240" y="34564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ПОКУПАТЕЛЬ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2011680" y="345643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Человек</a:t>
            </a:r>
            <a:endParaRPr lang="en-US" sz="1350" dirty="0"/>
          </a:p>
        </p:txBody>
      </p:sp>
      <p:pic>
        <p:nvPicPr>
          <p:cNvPr id="19" name="Image 3" descr="Arrow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63016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09360" y="34564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238"/>
                </a:solidFill>
              </a:rPr>
              <a:t>Организация: отель, больница, спа-салон, фитнес-клуб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548640" y="414223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DD3C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77240" y="41422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ОПЛАТА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2011680" y="414223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При получении в аптеке</a:t>
            </a:r>
            <a:endParaRPr lang="en-US" sz="1350" dirty="0"/>
          </a:p>
        </p:txBody>
      </p:sp>
      <p:pic>
        <p:nvPicPr>
          <p:cNvPr id="24" name="Image 4" descr="ArrowRigh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315968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09360" y="41422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238"/>
                </a:solidFill>
              </a:rPr>
              <a:t>По счёту с НДС, отсрочка для постоянных клиентов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548640" y="482803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6F2EB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77240" y="482803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ДОСТАВКА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2011680" y="4828032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В аптеку на следующий день</a:t>
            </a:r>
            <a:endParaRPr lang="en-US" sz="1350" dirty="0"/>
          </a:p>
        </p:txBody>
      </p:sp>
      <p:pic>
        <p:nvPicPr>
          <p:cNvPr id="29" name="Image 5" descr="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500176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309360" y="48280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238"/>
                </a:solidFill>
              </a:rPr>
              <a:t>Транспортной компанией прямо на объект</a:t>
            </a:r>
            <a:endParaRPr lang="en-US" sz="1450" dirty="0"/>
          </a:p>
        </p:txBody>
      </p:sp>
      <p:sp>
        <p:nvSpPr>
          <p:cNvPr id="31" name="Shape 23"/>
          <p:cNvSpPr/>
          <p:nvPr/>
        </p:nvSpPr>
        <p:spPr>
          <a:xfrm>
            <a:off x="548640" y="5577840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F4E1D6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777240" y="5577840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238"/>
                </a:solidFill>
              </a:rPr>
              <a:t>Не переносится:</a:t>
            </a:r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 самовывоз и оплата на месте. Часть заказов шьётся под клиента, поэтому кроме корзины нужна заявка на расчёт сразу у нескольких фабрик.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РЫНОК И КОНКУРЕНТЫ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Рынок есть, отраслевой площадки нет</a:t>
            </a:r>
            <a:endParaRPr lang="en-US" sz="3000" dirty="0"/>
          </a:p>
        </p:txBody>
      </p:sp>
      <p:pic>
        <p:nvPicPr>
          <p:cNvPr id="4" name="Image 0" descr="Гостиничный текстиль: полотенца, бельё, халат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12064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622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 2 трлн ₽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оборот B2B- и B2G-интернет-торговли в 2025 году, +11 % к 2024-му (SelSup): организации уже закупают онлайн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5544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238"/>
                </a:solidFill>
              </a:rPr>
              <a:t>Где закупают сейчас — и чего не хватает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72200" y="2103120"/>
            <a:ext cx="512064" cy="51206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9" name="Image 1" descr="ShoppingC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095" y="2226015"/>
            <a:ext cx="266273" cy="2662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0" y="20848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238"/>
                </a:solidFill>
              </a:rPr>
              <a:t>Ozon и Яндекс Маркет для бизнеса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6858000" y="24140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оплата по счёту есть, но нет пошива под заказ и запроса цены у нескольких фабрик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172200" y="3108960"/>
            <a:ext cx="512064" cy="51206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13" name="Image 2" descr="Lay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095" y="323185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58000" y="30906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238"/>
                </a:solidFill>
              </a:rPr>
              <a:t>Каталоги производителей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0" y="341985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только список фабрик и контакты — сделка уходит в переписку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72200" y="4114800"/>
            <a:ext cx="512064" cy="51206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17" name="Image 3" descr="Fac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095" y="4237695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0" y="4096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238"/>
                </a:solidFill>
              </a:rPr>
              <a:t>Сайты фабрик Иваново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6858000" y="44256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цены производителя, но ассортимент одной фабрики — сравнить не с чем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172200" y="5120640"/>
            <a:ext cx="512064" cy="51206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21" name="Image 4" descr="Gav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095" y="5243535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58000" y="5102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238"/>
                </a:solidFill>
              </a:rPr>
              <a:t>ЕИС и B2B-Center</a:t>
            </a:r>
            <a:endParaRPr lang="en-US" sz="1550" dirty="0"/>
          </a:p>
        </p:txBody>
      </p:sp>
      <p:sp>
        <p:nvSpPr>
          <p:cNvPr id="23" name="Text 16"/>
          <p:cNvSpPr txBox="1"/>
          <p:nvPr/>
        </p:nvSpPr>
        <p:spPr>
          <a:xfrm>
            <a:off x="6858000" y="543153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675"/>
                </a:solidFill>
              </a:rPr>
              <a:t>торги по 44-ФЗ и 223-ФЗ, а не подбор товара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ДОМЕН НА REG.RU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способов получить домен</a:t>
            </a:r>
            <a:endParaRPr lang="en-US" sz="3000" dirty="0"/>
          </a:p>
        </p:txBody>
      </p:sp>
      <p:pic>
        <p:nvPicPr>
          <p:cNvPr id="4" name="Image 0" descr="Логотип Reg.ru на стене офис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931920" cy="1691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4290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F4E1D6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3657600"/>
            <a:ext cx="502920" cy="502920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7" name="Image 1" descr="IdC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3" y="377830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4279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С 1 сентября 2026 — через Госуслуги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46634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Администратор домена .ru и .рф проходит идентификацию в ЕСИА — и при покупке у продавца. Поэтому домен оформляем на организацию проекта, а не на частное лицо.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800600" y="1554480"/>
            <a:ext cx="6812280" cy="841248"/>
          </a:xfrm>
          <a:prstGeom prst="roundRect">
            <a:avLst>
              <a:gd name="adj" fmla="val 13043"/>
            </a:avLst>
          </a:prstGeom>
          <a:solidFill>
            <a:srgbClr val="F6F2EB"/>
          </a:solidFill>
          <a:ln/>
        </p:spPr>
      </p:sp>
      <p:sp>
        <p:nvSpPr>
          <p:cNvPr id="11" name="Shape 7"/>
          <p:cNvSpPr/>
          <p:nvPr/>
        </p:nvSpPr>
        <p:spPr>
          <a:xfrm>
            <a:off x="4983480" y="1737360"/>
            <a:ext cx="475488" cy="475488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12" name="Image 2" descr="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597" y="1851477"/>
            <a:ext cx="247254" cy="247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623560" y="16642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Регистрация свободного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623560" y="19842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имя никем не занято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909828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169 ₽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9098280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минуты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00600" y="2487168"/>
            <a:ext cx="6812280" cy="841248"/>
          </a:xfrm>
          <a:prstGeom prst="roundRect">
            <a:avLst>
              <a:gd name="adj" fmla="val 13043"/>
            </a:avLst>
          </a:prstGeom>
          <a:solidFill>
            <a:srgbClr val="F4E1D6"/>
          </a:solidFill>
          <a:ln w="9525">
            <a:solidFill>
              <a:srgbClr val="B4532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983480" y="2670048"/>
            <a:ext cx="475488" cy="475488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19" name="Image 3" descr="St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597" y="2784165"/>
            <a:ext cx="247254" cy="24725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23560" y="25968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Магазин доменов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7360920" y="2624328"/>
            <a:ext cx="960120" cy="246888"/>
          </a:xfrm>
          <a:prstGeom prst="roundRect">
            <a:avLst>
              <a:gd name="adj" fmla="val 50000"/>
            </a:avLst>
          </a:prstGeom>
          <a:solidFill>
            <a:srgbClr val="B4532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360920" y="26243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НАШ ПУТЬ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29169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фиксированная цена; Reg.ru — гарант сделки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9098280" y="2578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27 900 ₽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098280" y="2962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от минут до дней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00600" y="3419856"/>
            <a:ext cx="6812280" cy="841248"/>
          </a:xfrm>
          <a:prstGeom prst="roundRect">
            <a:avLst>
              <a:gd name="adj" fmla="val 13043"/>
            </a:avLst>
          </a:prstGeom>
          <a:solidFill>
            <a:srgbClr val="F6F2EB"/>
          </a:solidFill>
          <a:ln/>
        </p:spPr>
      </p:sp>
      <p:sp>
        <p:nvSpPr>
          <p:cNvPr id="27" name="Shape 21"/>
          <p:cNvSpPr/>
          <p:nvPr/>
        </p:nvSpPr>
        <p:spPr>
          <a:xfrm>
            <a:off x="4983480" y="3602736"/>
            <a:ext cx="475488" cy="475488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28" name="Image 4" descr="Handshak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597" y="3716853"/>
            <a:ext cx="247254" cy="24725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623560" y="35295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Доменный брокер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623560" y="38496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домен занят и не продаётся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9098280" y="35112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999 ₽ + цена владельца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098280" y="38953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дни и недели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800600" y="4352544"/>
            <a:ext cx="6812280" cy="841248"/>
          </a:xfrm>
          <a:prstGeom prst="roundRect">
            <a:avLst>
              <a:gd name="adj" fmla="val 13043"/>
            </a:avLst>
          </a:prstGeom>
          <a:solidFill>
            <a:srgbClr val="F6F2EB"/>
          </a:solidFill>
          <a:ln/>
        </p:spPr>
      </p:sp>
      <p:sp>
        <p:nvSpPr>
          <p:cNvPr id="34" name="Shape 27"/>
          <p:cNvSpPr/>
          <p:nvPr/>
        </p:nvSpPr>
        <p:spPr>
          <a:xfrm>
            <a:off x="4983480" y="4535424"/>
            <a:ext cx="475488" cy="475488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35" name="Image 5" descr="Tim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597" y="4649541"/>
            <a:ext cx="247254" cy="24725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623560" y="4462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Аукцион освобождающихся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5623560" y="4782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владелец не продлил домен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9098280" y="44439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ставка</a:t>
            </a:r>
            <a:endParaRPr lang="en-US" sz="1800" dirty="0"/>
          </a:p>
        </p:txBody>
      </p:sp>
      <p:sp>
        <p:nvSpPr>
          <p:cNvPr id="39" name="Text 31"/>
          <p:cNvSpPr txBox="1"/>
          <p:nvPr/>
        </p:nvSpPr>
        <p:spPr>
          <a:xfrm>
            <a:off x="9098280" y="4828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после 30 дней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4800600" y="5285232"/>
            <a:ext cx="6812280" cy="841248"/>
          </a:xfrm>
          <a:prstGeom prst="roundRect">
            <a:avLst>
              <a:gd name="adj" fmla="val 13043"/>
            </a:avLst>
          </a:prstGeom>
          <a:solidFill>
            <a:srgbClr val="F6F2EB"/>
          </a:solidFill>
          <a:ln/>
        </p:spPr>
      </p:sp>
      <p:sp>
        <p:nvSpPr>
          <p:cNvPr id="41" name="Shape 33"/>
          <p:cNvSpPr/>
          <p:nvPr/>
        </p:nvSpPr>
        <p:spPr>
          <a:xfrm>
            <a:off x="4983480" y="5468112"/>
            <a:ext cx="475488" cy="475488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42" name="Image 6" descr="Ba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7597" y="5582229"/>
            <a:ext cx="247254" cy="24725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5623560" y="53949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Аренда домена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5623560" y="57150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E6675"/>
                </a:solidFill>
              </a:rPr>
              <a:t>домен остаётся чужим — нам не подходит</a:t>
            </a:r>
            <a:endParaRPr lang="en-US" sz="1250" dirty="0"/>
          </a:p>
        </p:txBody>
      </p:sp>
      <p:sp>
        <p:nvSpPr>
          <p:cNvPr id="45" name="Text 36"/>
          <p:cNvSpPr txBox="1"/>
          <p:nvPr/>
        </p:nvSpPr>
        <p:spPr>
          <a:xfrm>
            <a:off x="9098280" y="5376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договорная</a:t>
            </a:r>
            <a:endParaRPr lang="en-US" sz="1800" dirty="0"/>
          </a:p>
        </p:txBody>
      </p:sp>
      <p:sp>
        <p:nvSpPr>
          <p:cNvPr id="46" name="Text 37"/>
          <p:cNvSpPr txBox="1"/>
          <p:nvPr/>
        </p:nvSpPr>
        <p:spPr>
          <a:xfrm>
            <a:off x="9098280" y="5760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дни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ПРОВЕРКА НА REG.RU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opttex.ru — 27 900 ₽ в Магазине доменов</a:t>
            </a:r>
            <a:endParaRPr lang="en-US" sz="3000" dirty="0"/>
          </a:p>
        </p:txBody>
      </p:sp>
      <p:pic>
        <p:nvPicPr>
          <p:cNvPr id="4" name="Image 0" descr="Логотип Reg.r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713232"/>
            <a:ext cx="1353312" cy="301752"/>
          </a:xfrm>
          <a:prstGeom prst="rect">
            <a:avLst/>
          </a:prstGeom>
        </p:spPr>
      </p:pic>
      <p:pic>
        <p:nvPicPr>
          <p:cNvPr id="5" name="Image 1" descr="Страница лота opttex.ru на Reg.ru и результаты поиска свободных доменов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223760" cy="33284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102352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Страница лота на Reg.ru, 5 октября 2026: цена фиксирована, домен существует с 2007 года, на продаже с 10.11.2019. Ниже — свободные имена из поиска Reg.ru в тот же день.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183880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238"/>
                </a:solidFill>
              </a:rPr>
              <a:t>Почему opttex.ru</a:t>
            </a:r>
            <a:endParaRPr lang="en-US" sz="1700" dirty="0"/>
          </a:p>
        </p:txBody>
      </p:sp>
      <p:pic>
        <p:nvPicPr>
          <p:cNvPr id="8" name="Image 2" descr="Circl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02996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95360" y="201168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короткий и читается как «оптовый текстиль»</a:t>
            </a:r>
            <a:endParaRPr lang="en-US" sz="1400" dirty="0"/>
          </a:p>
        </p:txBody>
      </p:sp>
      <p:pic>
        <p:nvPicPr>
          <p:cNvPr id="10" name="Image 3" descr="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59689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595360" y="25786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сразу говорит, что площадка для бизнеса</a:t>
            </a:r>
            <a:endParaRPr lang="en-US" sz="1400" dirty="0"/>
          </a:p>
        </p:txBody>
      </p:sp>
      <p:pic>
        <p:nvPicPr>
          <p:cNvPr id="12" name="Image 4" descr="Circle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3163824"/>
            <a:ext cx="292608" cy="29260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595360" y="314553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2230"/>
                </a:solidFill>
              </a:rPr>
              <a:t>цена фиксирована, Reg.ru — гарант сделки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8183880" y="3840480"/>
            <a:ext cx="3429000" cy="1024128"/>
          </a:xfrm>
          <a:prstGeom prst="roundRect">
            <a:avLst>
              <a:gd name="adj" fmla="val 10714"/>
            </a:avLst>
          </a:prstGeom>
          <a:solidFill>
            <a:srgbClr val="F6F2EB"/>
          </a:solidFill>
          <a:ln/>
        </p:spPr>
      </p:sp>
      <p:sp>
        <p:nvSpPr>
          <p:cNvPr id="15" name="Text 8"/>
          <p:cNvSpPr txBox="1"/>
          <p:nvPr/>
        </p:nvSpPr>
        <p:spPr>
          <a:xfrm>
            <a:off x="8412480" y="39593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Запасной вариант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8412480" y="42793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textilehub.ru + текстильхаб.рф — свободны, по 169 ₽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8183880" y="502920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4E1D6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8412480" y="5138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До оплаты — две проверки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8412480" y="54589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знаки «OPTTEX» и «ОПТТЕКС» в ФИПС и история домена в веб-архиве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КАНДИДАТЫ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Сравнили около 100 имён</a:t>
            </a:r>
            <a:endParaRPr lang="en-US" sz="3000" dirty="0"/>
          </a:p>
        </p:txBody>
      </p:sp>
      <p:pic>
        <p:nvPicPr>
          <p:cNvPr id="4" name="Image 0" descr="Логотип Reg.r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68" y="713232"/>
            <a:ext cx="1353312" cy="30175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2103120"/>
                <a:gridCol w="42062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получить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Вывод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opttex.ru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Магазин доменов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27 900 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лучший: короткий, понятный, цена фиксирована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1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опттекс.рф, opttex.com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регистрация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 ₽ за .рф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защита имени, кириллица для рекламы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textilehub.ru, текстильхаб.рф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регистрация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 ₽ каждый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запасной: «хаб» — место встречи поставщиков и покупателей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textil.ru, текстиль.рф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доменный брокер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 ₽ + цена владельца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идеал «как Аптека.ру», но исход переговоров неизвестен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prof-tekstil.ru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Магазин доменов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29 990 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дефис теряют при наборе на слух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protekstil.ru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Магазин доменов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75 000 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хорошее имя, но почти втрое дороже opttex.ru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teksti.ru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Магазин доменов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80 000 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читается как опечатка в «текстиль»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design-textile.ru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Магазин доменов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250 000 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дорого и про дизайн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hoteltextile.ru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регистрация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45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 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узко: отсекает больницы и фитнес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E6675"/>
                </a:solidFill>
              </a:rPr>
              <a:t>Занятость — по DNS 4 октября 2026. Цена opttex.ru и свободность опттекс.рф и textilehub.ru подтверждены на Reg.ru 5 октября 2026; цену лота перед оплатой сверяем на его странице.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САЙТ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Сайт — в два шага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617720"/>
          </a:xfrm>
          <a:prstGeom prst="roundRect">
            <a:avLst>
              <a:gd name="adj" fmla="val 2376"/>
            </a:avLst>
          </a:prstGeom>
          <a:solidFill>
            <a:srgbClr val="F6F2EB"/>
          </a:solidFill>
          <a:ln/>
        </p:spPr>
      </p:sp>
      <p:pic>
        <p:nvPicPr>
          <p:cNvPr id="5" name="Image 0" descr="Пример интерфейса маркетплейса: панель продавца и витрина покупател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01952"/>
            <a:ext cx="4663440" cy="39227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55448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DD3C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7190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ШАГ 1 · ПРОВЕРКА СПРОСА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238"/>
                </a:solidFill>
              </a:rPr>
              <a:t>Посадочная страница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Каталог и форма заявки на конструкторе Reg.ru; заявки распределяем по фабрикам вручную.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3154680"/>
            <a:ext cx="5303520" cy="1645920"/>
          </a:xfrm>
          <a:prstGeom prst="roundRect">
            <a:avLst>
              <a:gd name="adj" fmla="val 6667"/>
            </a:avLst>
          </a:prstGeom>
          <a:solidFill>
            <a:srgbClr val="F4E1D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0" y="33192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ШАГ 2 · ПОСЛЕ 10 ОПЛАЧЕННЫХ ЗАКАЗОВ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593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238"/>
                </a:solidFill>
              </a:rPr>
              <a:t>CS-Cart Multi-Vendor Plus — 248 000 ₽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39959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Готовый маркетплейс: кабинеты поставщиков, комиссии и тарифы для продавцов. Разработчик российский.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50109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5E6675"/>
                </a:solidFill>
              </a:rPr>
              <a:t>ДЛЯ СРАВНЕНИЯ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5340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 50 000 ₽/мес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5715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SaaS-платформа AGORA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01584" y="5340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 0,7 млн ₽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101584" y="5715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1С-Битрикс с доработкой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893808" y="5340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1,5–8 млн ₽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9893808" y="57150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разработка с нуля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КАК РАБОТАЕТ ПЛАТФОРМА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Товар и деньги идут напрямую</a:t>
            </a:r>
            <a:endParaRPr lang="en-US" sz="3000" dirty="0"/>
          </a:p>
        </p:txBody>
      </p:sp>
      <p:pic>
        <p:nvPicPr>
          <p:cNvPr id="4" name="Image 0" descr="Схема: поставщики, платформа, покупатели, перевозчик и бан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7223760" cy="45171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83880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238"/>
                </a:solidFill>
              </a:rPr>
              <a:t>Путь одного заказа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183880" y="2029968"/>
            <a:ext cx="347472" cy="347472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8388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68512" y="2002536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Отель оставляет заявку — платформа рассылает её подходящим фабрикам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183880" y="2880360"/>
            <a:ext cx="347472" cy="347472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8388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68512" y="2852928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Отель выбирает лучшее предложение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183880" y="3730752"/>
            <a:ext cx="347472" cy="347472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8388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68512" y="370332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Фабрика шьёт и отгружает через транспортную компанию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83880" y="4581144"/>
            <a:ext cx="347472" cy="347472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83880" y="4581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68512" y="4553712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Отель платит фабрике напрямую или с отсрочкой через банк; раз в месяц платформа выставляет фабрике счёт на 7 %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5623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E6675"/>
                </a:solidFill>
              </a:rPr>
              <a:t>Свой склад и приём чужих платежей на старте не нужны.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Швейный це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589788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172238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5897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Фабрики, которые шьют бельё и полотенца под заказ, — главные партнёры-продавцы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body" hasCustomPrompt="1"/>
          </p:nvPr>
        </p:nvSpPr>
        <p:spPr>
          <a:xfrm>
            <a:off x="4846320" y="3840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ПРЕДЛОЖЕНИЕ О КОЛЛАБОРАЦИИ</a:t>
            </a:r>
            <a:endParaRPr lang="en-US" sz="1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846320" y="67665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Союз по образцу Аптека.ру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4630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C2230"/>
                </a:solidFill>
              </a:rPr>
              <a:t>Каждый участник получает то, чего не добьётся в одиночку. Мы — оператор платформы и сам крупный продавец.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846320" y="2148840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F6F2EB"/>
          </a:solidFill>
          <a:ln/>
        </p:spPr>
      </p:sp>
      <p:sp>
        <p:nvSpPr>
          <p:cNvPr id="9" name="Shape 6"/>
          <p:cNvSpPr/>
          <p:nvPr/>
        </p:nvSpPr>
        <p:spPr>
          <a:xfrm>
            <a:off x="5010912" y="2331720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10" name="Image 1" descr="Fac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862" y="243267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Фабрики Иваново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254203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заказчики, которых не нашли бы сами, и загрузка пошивом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21040" y="2148840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F6F2EB"/>
          </a:solidFill>
          <a:ln/>
        </p:spPr>
      </p:sp>
      <p:sp>
        <p:nvSpPr>
          <p:cNvPr id="14" name="Shape 10"/>
          <p:cNvSpPr/>
          <p:nvPr/>
        </p:nvSpPr>
        <p:spPr>
          <a:xfrm>
            <a:off x="8485632" y="2331720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15" name="Image 2" descr="S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82" y="243267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2258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Импортёры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9052560" y="254203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сбыт уже растаможенного товара из Индии и Китая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46320" y="3172968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F6F2EB"/>
          </a:solidFill>
          <a:ln/>
        </p:spPr>
      </p:sp>
      <p:sp>
        <p:nvSpPr>
          <p:cNvPr id="19" name="Shape 14"/>
          <p:cNvSpPr/>
          <p:nvPr/>
        </p:nvSpPr>
        <p:spPr>
          <a:xfrm>
            <a:off x="5010912" y="3355848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20" name="Image 3" descr="Pale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862" y="345679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Дизайнеры текстиля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5661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витрина коллекций для отелей и спа, роялти с партии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321040" y="3172968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F6F2EB"/>
          </a:solidFill>
          <a:ln/>
        </p:spPr>
      </p:sp>
      <p:sp>
        <p:nvSpPr>
          <p:cNvPr id="24" name="Shape 18"/>
          <p:cNvSpPr/>
          <p:nvPr/>
        </p:nvSpPr>
        <p:spPr>
          <a:xfrm>
            <a:off x="8485632" y="3355848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25" name="Image 4" descr="Hot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582" y="3456798"/>
            <a:ext cx="218724" cy="2187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52560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Покупатели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9052560" y="35661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отели, больницы, спа, фитнес: сравнение и один счёт — бесплатно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846320" y="4197096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F6F2EB"/>
          </a:solidFill>
          <a:ln/>
        </p:spPr>
      </p:sp>
      <p:sp>
        <p:nvSpPr>
          <p:cNvPr id="29" name="Shape 22"/>
          <p:cNvSpPr/>
          <p:nvPr/>
        </p:nvSpPr>
        <p:spPr>
          <a:xfrm>
            <a:off x="5010912" y="4379976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30" name="Image 5" descr="Tru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862" y="4480926"/>
            <a:ext cx="218724" cy="2187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77840" y="4306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Транспортная компания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5577840" y="4590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постоянный поток отправок по партнёрскому тарифу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8321040" y="4197096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F6F2EB"/>
          </a:solidFill>
          <a:ln/>
        </p:spPr>
      </p:sp>
      <p:sp>
        <p:nvSpPr>
          <p:cNvPr id="34" name="Shape 26"/>
          <p:cNvSpPr/>
          <p:nvPr/>
        </p:nvSpPr>
        <p:spPr>
          <a:xfrm>
            <a:off x="8485632" y="4379976"/>
            <a:ext cx="420624" cy="420624"/>
          </a:xfrm>
          <a:prstGeom prst="ellipse">
            <a:avLst/>
          </a:prstGeom>
          <a:solidFill>
            <a:srgbClr val="172238"/>
          </a:solidFill>
          <a:ln/>
        </p:spPr>
      </p:sp>
      <p:pic>
        <p:nvPicPr>
          <p:cNvPr id="35" name="Image 6" descr="Landmar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6582" y="4480926"/>
            <a:ext cx="218724" cy="21872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052560" y="4306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238"/>
                </a:solidFill>
              </a:rPr>
              <a:t>Банк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9052560" y="45902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675"/>
                </a:solidFill>
              </a:rPr>
              <a:t>клиенты для факторинга: покупатель платит с отсрочкой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846320" y="5257800"/>
            <a:ext cx="6766560" cy="914400"/>
          </a:xfrm>
          <a:prstGeom prst="roundRect">
            <a:avLst>
              <a:gd name="adj" fmla="val 12000"/>
            </a:avLst>
          </a:prstGeom>
          <a:solidFill>
            <a:srgbClr val="172238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5074920" y="52578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D8C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7 %</a:t>
            </a:r>
            <a:endParaRPr lang="en-US" sz="3400" dirty="0"/>
          </a:p>
        </p:txBody>
      </p:sp>
      <p:sp>
        <p:nvSpPr>
          <p:cNvPr id="40" name="Text 31"/>
          <p:cNvSpPr txBox="1"/>
          <p:nvPr/>
        </p:nvSpPr>
        <p:spPr>
          <a:xfrm>
            <a:off x="6446520" y="52578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Поставщикам — шесть месяцев без комиссии, затем 7 % с оплаченного заказа. На Ozon в отдельных категориях — до 55 %.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ДОХОД И ПИСЬМО ПОСТАВЩИКУ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платформа зарабатывает</a:t>
            </a:r>
            <a:endParaRPr lang="en-US" sz="3000" dirty="0"/>
          </a:p>
        </p:txBody>
      </p:sp>
      <p:pic>
        <p:nvPicPr>
          <p:cNvPr id="4" name="Image 0" descr="Иллюстрация B2B: партнёрство компани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846320" cy="25237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2519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6F2EB"/>
          </a:solidFill>
          <a:ln/>
        </p:spPr>
      </p:sp>
      <p:sp>
        <p:nvSpPr>
          <p:cNvPr id="6" name="Shape 3"/>
          <p:cNvSpPr/>
          <p:nvPr/>
        </p:nvSpPr>
        <p:spPr>
          <a:xfrm>
            <a:off x="713232" y="4416552"/>
            <a:ext cx="329184" cy="329184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3232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436168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Комиссия 7 % с оплаченного заказа — основной доход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63240" y="42519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6F2EB"/>
          </a:solidFill>
          <a:ln/>
        </p:spPr>
      </p:sp>
      <p:sp>
        <p:nvSpPr>
          <p:cNvPr id="10" name="Shape 7"/>
          <p:cNvSpPr/>
          <p:nvPr/>
        </p:nvSpPr>
        <p:spPr>
          <a:xfrm>
            <a:off x="3227832" y="4416552"/>
            <a:ext cx="329184" cy="329184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227832" y="4416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85032" y="436168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Наценка на собственный товар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25780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6F2EB"/>
          </a:solidFill>
          <a:ln/>
        </p:spPr>
      </p:sp>
      <p:sp>
        <p:nvSpPr>
          <p:cNvPr id="14" name="Shape 11"/>
          <p:cNvSpPr/>
          <p:nvPr/>
        </p:nvSpPr>
        <p:spPr>
          <a:xfrm>
            <a:off x="713232" y="5422392"/>
            <a:ext cx="329184" cy="329184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3232" y="5422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53675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Платный тариф для поставщиков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063240" y="525780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6F2EB"/>
          </a:solidFill>
          <a:ln/>
        </p:spPr>
      </p:sp>
      <p:sp>
        <p:nvSpPr>
          <p:cNvPr id="18" name="Shape 15"/>
          <p:cNvSpPr/>
          <p:nvPr/>
        </p:nvSpPr>
        <p:spPr>
          <a:xfrm>
            <a:off x="3227832" y="5422392"/>
            <a:ext cx="329184" cy="329184"/>
          </a:xfrm>
          <a:prstGeom prst="ellipse">
            <a:avLst/>
          </a:prstGeom>
          <a:solidFill>
            <a:srgbClr val="B4532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227832" y="5422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685032" y="53675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230"/>
                </a:solidFill>
              </a:rPr>
              <a:t>Наценка на сборной доставке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760720" y="1554480"/>
            <a:ext cx="5852160" cy="4617720"/>
          </a:xfrm>
          <a:prstGeom prst="roundRect">
            <a:avLst>
              <a:gd name="adj" fmla="val 2376"/>
            </a:avLst>
          </a:prstGeom>
          <a:solidFill>
            <a:srgbClr val="17223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126480" y="18105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D8C3A0"/>
                </a:solidFill>
              </a:rPr>
              <a:t>ПИСЬМО ПОСТАВЩИКУ — МОЖНО ОТПРАВЛЯТЬ КАК ЕСТЬ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08076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</a:t>
            </a:r>
            <a:endParaRPr lang="en-US" sz="480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2761488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Здравствуйте! Мы запускаем B2B-площадку текстиля для отелей, клиник, спа и фитнес-клубов — по образцу Аптека.ру: покупатель видит каталоги нескольких фабрик и заказывает по одному счёту. Приглашаем вашу фабрику в число первых поставщиков: размещение бесплатное, первые шесть месяцев без комиссии, затем 7 % только с оплаченных заказов. От вас — каталог с оптовыми ценами, сроки пошива и контакт менеджера. Можем созвониться на этой неделе?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ЮРИДИЧЕСКАЯ СТОРОНА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требует закон с первого 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6F2E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12064" cy="512064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6" name="Image 0" descr="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2880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Закон о платформах (289-ФЗ)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С 1 октября 2026 года: публичные правила площадки, проверка продавцов по ЕГРЮЛ и ЕГРИП, предупреждение о смене условий, ответ на жалобу — за 15 дней. В обязательный реестр не попадаем.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6F2EB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828800"/>
            <a:ext cx="512064" cy="512064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11" name="Image 1" descr="ScanBar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415" y="195169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8288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Маркировка «Честный знак»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5146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Бельё и полотенца (ТН ВЭД 6302) — только с маркировкой: в каталог пускаем только маркированный товар.</a:t>
            </a:r>
            <a:endParaRPr lang="en-US" sz="1500" dirty="0"/>
          </a:p>
        </p:txBody>
      </p:sp>
      <p:pic>
        <p:nvPicPr>
          <p:cNvPr id="14" name="Image 2" descr="Маркировка текстиля «Честный знак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1828800"/>
            <a:ext cx="1143000" cy="1143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" y="3913632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6F2EB"/>
          </a:solidFill>
          <a:ln/>
        </p:spPr>
      </p:sp>
      <p:sp>
        <p:nvSpPr>
          <p:cNvPr id="16" name="Shape 11"/>
          <p:cNvSpPr/>
          <p:nvPr/>
        </p:nvSpPr>
        <p:spPr>
          <a:xfrm>
            <a:off x="822960" y="4187952"/>
            <a:ext cx="512064" cy="512064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17" name="Image 3" descr="IdC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4310847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18795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Домен — на организацию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487375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С 1 сентября 2026 года администратор домена .ru проходит идентификацию через Госуслуги. Домен оформляем на ООО или ИП проекта.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172200" y="3913632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F6F2EB"/>
          </a:solidFill>
          <a:ln/>
        </p:spPr>
      </p:sp>
      <p:sp>
        <p:nvSpPr>
          <p:cNvPr id="21" name="Shape 15"/>
          <p:cNvSpPr/>
          <p:nvPr/>
        </p:nvSpPr>
        <p:spPr>
          <a:xfrm>
            <a:off x="6446520" y="4187952"/>
            <a:ext cx="512064" cy="512064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22" name="Image 4" descr="Shiel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415" y="4310847"/>
            <a:ext cx="266273" cy="26627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418795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238"/>
                </a:solidFill>
              </a:rPr>
              <a:t>Товарный знак и данные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6446520" y="487375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230"/>
                </a:solidFill>
              </a:rPr>
              <a:t>Знак в Роспатенте по классам 35 и 24 (около 35 000 ₽ пошлин, оценка). Политика данных, уведомление в Роскомнадзор, сервер в России.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· ЭКОНОМИКА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Экономика первого года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577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55080" y="1508760"/>
          <a:ext cx="52578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03520"/>
            <a:ext cx="3566160" cy="896112"/>
          </a:xfrm>
          <a:prstGeom prst="roundRect">
            <a:avLst>
              <a:gd name="adj" fmla="val 12245"/>
            </a:avLst>
          </a:prstGeom>
          <a:solidFill>
            <a:srgbClr val="F6F2E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77240" y="53583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2 619 238 ₽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7424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E6675"/>
                </a:solidFill>
              </a:rPr>
              <a:t>итого первый год; около 70 % — люди и привлечение клиентов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297680" y="5303520"/>
            <a:ext cx="3566160" cy="896112"/>
          </a:xfrm>
          <a:prstGeom prst="roundRect">
            <a:avLst>
              <a:gd name="adj" fmla="val 12245"/>
            </a:avLst>
          </a:prstGeom>
          <a:solidFill>
            <a:srgbClr val="F6F2E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526280" y="53583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159 тыс. ₽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57424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E6675"/>
                </a:solidFill>
              </a:rPr>
              <a:t>постоянные расходы в месяц после запуска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5303520"/>
            <a:ext cx="3566160" cy="896112"/>
          </a:xfrm>
          <a:prstGeom prst="roundRect">
            <a:avLst>
              <a:gd name="adj" fmla="val 12245"/>
            </a:avLst>
          </a:prstGeom>
          <a:solidFill>
            <a:srgbClr val="F6F2E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75320" y="53583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B45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 2,3 млн ₽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8275320" y="57424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E6675"/>
                </a:solidFill>
              </a:rPr>
              <a:t>оборот партнёров в месяц для безубыточности — около 15 заказов по 150 тыс. ₽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ПЛАН ЗАПУСКА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Каждый этап — после измеримого результата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E1D6"/>
          </a:solidFill>
          <a:ln w="9525">
            <a:solidFill>
              <a:srgbClr val="B453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ЭТАП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737360"/>
            <a:ext cx="841248" cy="246888"/>
          </a:xfrm>
          <a:prstGeom prst="roundRect">
            <a:avLst>
              <a:gd name="adj" fmla="val 50000"/>
            </a:avLst>
          </a:prstGeom>
          <a:solidFill>
            <a:srgbClr val="B453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7373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СЕЙЧАС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482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B6B"/>
                </a:solidFill>
              </a:rPr>
              <a:t>окт. – нояб. 2026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5292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проверка в ФИПС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покупка opttex.ru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домен на ООО (ЕСИА)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заявка в Роспатент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договоры с фабриками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55848" y="1572768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6F2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84448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ЭТАП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0482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Проверка спроса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584448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B6B"/>
                </a:solidFill>
              </a:rPr>
              <a:t>дек. 2026 – фев. 2027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285292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посадочная страница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каталог 5 фабрик и свой товар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заявки — вручную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выставки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63056" y="1572768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6F2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91656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ЭТАП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91656" y="20482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Маркетплейс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391656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B6B"/>
                </a:solidFill>
              </a:rPr>
              <a:t>март – май 2027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85292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CS-Cart Multi-Vendor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кабинеты поставщиков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запрос цены, ЭДО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правила по 289-ФЗ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70264" y="1572768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6F2E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98864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B4532F"/>
                </a:solidFill>
              </a:rPr>
              <a:t>ЭТАП 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98864" y="20482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7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Рост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6B6B"/>
                </a:solidFill>
              </a:rPr>
              <a:t>с июня 2027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171432" y="285292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комиссия 7 %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отсрочка через банк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больницы и торги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</a:rPr>
              <a:t>новые регионы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138928"/>
            <a:ext cx="11064240" cy="0"/>
          </a:xfrm>
          <a:prstGeom prst="line">
            <a:avLst/>
          </a:prstGeom>
          <a:noFill/>
          <a:ln w="19050">
            <a:solidFill>
              <a:srgbClr val="1722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22676" y="4983480"/>
            <a:ext cx="310896" cy="310896"/>
          </a:xfrm>
          <a:prstGeom prst="diamond">
            <a:avLst/>
          </a:prstGeom>
          <a:solidFill>
            <a:srgbClr val="B453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89404" y="5394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238"/>
                </a:solidFill>
              </a:rPr>
              <a:t>5 фабрик подписали договор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29884" y="4983480"/>
            <a:ext cx="310896" cy="310896"/>
          </a:xfrm>
          <a:prstGeom prst="diamond">
            <a:avLst/>
          </a:prstGeom>
          <a:solidFill>
            <a:srgbClr val="B453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6612" y="5394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238"/>
                </a:solidFill>
              </a:rPr>
              <a:t>10 оплаченных заказов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737092" y="4983480"/>
            <a:ext cx="310896" cy="310896"/>
          </a:xfrm>
          <a:prstGeom prst="diamond">
            <a:avLst/>
          </a:prstGeom>
          <a:solidFill>
            <a:srgbClr val="B453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03820" y="5394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238"/>
                </a:solidFill>
              </a:rPr>
              <a:t>оборот партнёров 2,3 млн ₽ в месяц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810512" y="5074920"/>
            <a:ext cx="128016" cy="128016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34" name="Shape 32"/>
          <p:cNvSpPr/>
          <p:nvPr/>
        </p:nvSpPr>
        <p:spPr>
          <a:xfrm>
            <a:off x="4617720" y="5074920"/>
            <a:ext cx="128016" cy="128016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35" name="Shape 33"/>
          <p:cNvSpPr/>
          <p:nvPr/>
        </p:nvSpPr>
        <p:spPr>
          <a:xfrm>
            <a:off x="7424928" y="5074920"/>
            <a:ext cx="128016" cy="128016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32136" y="5074920"/>
            <a:ext cx="128016" cy="128016"/>
          </a:xfrm>
          <a:prstGeom prst="ellipse">
            <a:avLst/>
          </a:prstGeom>
          <a:solidFill>
            <a:srgbClr val="17223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E6675"/>
                </a:solidFill>
              </a:rPr>
              <a:t>◆ — условие перехода к следующему этапу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РИСКИ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Главные риски и что мы делаем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2212848"/>
          </a:xfrm>
          <a:prstGeom prst="roundRect">
            <a:avLst>
              <a:gd name="adj" fmla="val 4959"/>
            </a:avLst>
          </a:prstGeom>
          <a:solidFill>
            <a:srgbClr val="F6F2EB"/>
          </a:solidFill>
          <a:ln/>
        </p:spPr>
      </p:sp>
      <p:pic>
        <p:nvPicPr>
          <p:cNvPr id="5" name="Image 0" descr="Triangle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783080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Пустой каталог на старте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6B"/>
                </a:solidFill>
              </a:rPr>
              <a:t>ЧТО ДЕЛАЕМ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7063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Свой товар (импорт, пошив) плюс пять фабрик Иваново, подписанных до открытия.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554480"/>
            <a:ext cx="3657600" cy="2212848"/>
          </a:xfrm>
          <a:prstGeom prst="roundRect">
            <a:avLst>
              <a:gd name="adj" fmla="val 4959"/>
            </a:avLst>
          </a:prstGeom>
          <a:solidFill>
            <a:srgbClr val="F6F2EB"/>
          </a:solidFill>
          <a:ln/>
        </p:spPr>
      </p:sp>
      <p:pic>
        <p:nvPicPr>
          <p:cNvPr id="10" name="Image 1" descr="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470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38928" y="1783080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Сделки в обход платформы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514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6B"/>
                </a:solidFill>
              </a:rPr>
              <a:t>ЧТО ДЕЛАЕМ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77063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Повтор заказа в один клик, отсрочка, сборная доставка; в договоре — комиссия и с прямых заказов клиента 12 месяцев.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3657600" cy="2212848"/>
          </a:xfrm>
          <a:prstGeom prst="roundRect">
            <a:avLst>
              <a:gd name="adj" fmla="val 4959"/>
            </a:avLst>
          </a:prstGeom>
          <a:solidFill>
            <a:srgbClr val="F6F2EB"/>
          </a:solidFill>
          <a:ln/>
        </p:spPr>
      </p:sp>
      <p:pic>
        <p:nvPicPr>
          <p:cNvPr id="15" name="Image 2" descr="Triangle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788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98448" y="4114800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Лот продадут или имя упрётся в чужой знак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846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6B"/>
                </a:solidFill>
              </a:rPr>
              <a:t>ЧТО ДЕЛАЕМ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1023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До оплаты — проверка в ФИПС; запасное имя textilehub.ru за 169 ₽.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389120" y="3886200"/>
            <a:ext cx="3657600" cy="2212848"/>
          </a:xfrm>
          <a:prstGeom prst="roundRect">
            <a:avLst>
              <a:gd name="adj" fmla="val 4959"/>
            </a:avLst>
          </a:prstGeom>
          <a:solidFill>
            <a:srgbClr val="F6F2EB"/>
          </a:solidFill>
          <a:ln/>
        </p:spPr>
      </p:sp>
      <p:pic>
        <p:nvPicPr>
          <p:cNvPr id="20" name="Image 3" descr="TriangleAle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1788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38928" y="4114800"/>
            <a:ext cx="2724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238"/>
                </a:solidFill>
              </a:rPr>
              <a:t>Немаркированный товар или брак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663440" y="4846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B6B"/>
                </a:solidFill>
              </a:rPr>
              <a:t>ЧТО ДЕЛАЕМ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51023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230"/>
                </a:solidFill>
              </a:rPr>
              <a:t>Карточка — только с декларацией и маркировкой; образцы до подключения, рейтинг поставщиков.</a:t>
            </a:r>
            <a:endParaRPr lang="en-US" sz="1350" dirty="0"/>
          </a:p>
        </p:txBody>
      </p:sp>
      <p:pic>
        <p:nvPicPr>
          <p:cNvPr id="24" name="Image 4" descr="Иллюстрация B2B: сделки между компаниям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554480"/>
            <a:ext cx="3383280" cy="237744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8229600" y="4069080"/>
            <a:ext cx="3383280" cy="2029968"/>
          </a:xfrm>
          <a:prstGeom prst="roundRect">
            <a:avLst>
              <a:gd name="adj" fmla="val 5405"/>
            </a:avLst>
          </a:prstGeom>
          <a:solidFill>
            <a:srgbClr val="172238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485632" y="4069080"/>
            <a:ext cx="29260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Главный риск площадки-посредника — пустой старт. Аптека.ру решила его складом «Катрена», мы — собственным ассортиментом.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Тканый узор — полотняное переплетени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84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ИТОГ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76656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Выкуп домена возможен — строим по модели Аптека.ру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475488" cy="475488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6" name="Image 1" descr="Glo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7" y="2262957"/>
            <a:ext cx="247254" cy="247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2093976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Домен: opttex.ru за 27 900 ₽, двойники — по 169 ₽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548640" y="2935224"/>
            <a:ext cx="475488" cy="475488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9" name="Image 2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3049341"/>
            <a:ext cx="247254" cy="24725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880360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Модель: мы — оператор-оптовик, фабрики — партнёры, организации — покупатели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548640" y="3721608"/>
            <a:ext cx="475488" cy="475488"/>
          </a:xfrm>
          <a:prstGeom prst="ellipse">
            <a:avLst/>
          </a:prstGeom>
          <a:solidFill>
            <a:srgbClr val="B4532F"/>
          </a:solidFill>
          <a:ln/>
        </p:spPr>
      </p:sp>
      <p:pic>
        <p:nvPicPr>
          <p:cNvPr id="12" name="Image 3" descr="Trending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3835725"/>
            <a:ext cx="247254" cy="24725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88720" y="3666744"/>
            <a:ext cx="5394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Старт со своего товара: полгода без комиссии, затем 7 %</a:t>
            </a:r>
            <a:endParaRPr lang="en-US" sz="155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4754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 внимание!</a:t>
            </a:r>
            <a:endParaRPr lang="en-US" sz="28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5376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CFDA"/>
                </a:solidFill>
              </a:rPr>
              <a:t>Команда 5 · Багишев Алихан, Тимофеева Александра · группа ТД-2541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ttex Textile">
  <a:themeElements>
    <a:clrScheme name="Opttex Textile">
      <a:dk1>
        <a:srgbClr val="1C2230"/>
      </a:dk1>
      <a:lt1>
        <a:srgbClr val="FFFFFF"/>
      </a:lt1>
      <a:dk2>
        <a:srgbClr val="172238"/>
      </a:dk2>
      <a:lt2>
        <a:srgbClr val="F6F2EB"/>
      </a:lt2>
      <a:accent1>
        <a:srgbClr val="B4532F"/>
      </a:accent1>
      <a:accent2>
        <a:srgbClr val="2F6B6B"/>
      </a:accent2>
      <a:accent3>
        <a:srgbClr val="D8C3A0"/>
      </a:accent3>
      <a:accent4>
        <a:srgbClr val="5E6675"/>
      </a:accent4>
      <a:accent5>
        <a:srgbClr val="2E7D4F"/>
      </a:accent5>
      <a:accent6>
        <a:srgbClr val="DDD3C3"/>
      </a:accent6>
      <a:hlink>
        <a:srgbClr val="1F4A7A"/>
      </a:hlink>
      <a:folHlink>
        <a:srgbClr val="5E6675"/>
      </a:folHlink>
    </a:clrScheme>
    <a:fontScheme name="Opttex Textil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Команда 5, группа ТД-2541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 5. B2B-платформа для текстиля</dc:title>
  <dc:subject>Выкуп домена на Reg.ru и коллаборация по модели «Аптека.ру»</dc:subject>
  <dc:creator>Багишев Алихан, Тимофеева Александра</dc:creator>
  <cp:lastModifiedBy>Багишев Алихан, Тимофеева Александра</cp:lastModifiedBy>
  <cp:revision>1</cp:revision>
  <dcterms:created xsi:type="dcterms:W3CDTF">2026-10-05T08:29:52Z</dcterms:created>
  <dcterms:modified xsi:type="dcterms:W3CDTF">2026-10-05T08:29:52Z</dcterms:modified>
</cp:coreProperties>
</file>