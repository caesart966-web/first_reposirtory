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67a4ecc0-977e-fd39-e01e-44f6ab65b461}">
          <p14:sldIdLst>
            <p14:sldId id="256"/>
            <p14:sldId id="257"/>
          </p14:sldIdLst>
        </p14:section>
        <p14:section name="Конкуренты" id="{ee156a2c-fa5d-6a66-ce28-0cf567ff1093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Банки" id="{0f917a96-4105-31be-8fd7-22cc9c76e200}">
          <p14:sldIdLst>
            <p14:sldId id="265"/>
            <p14:sldId id="266"/>
            <p14:sldId id="267"/>
            <p14:sldId id="268"/>
          </p14:sldIdLst>
        </p14:section>
        <p14:section name="Итог" id="{64dd6d0d-ae3d-b3ef-f09a-de672a5b8e4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Покупатели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DD3C3"/>
              </a:solidFill>
              <a:effectLst/>
            </c:spPr>
          </c:dPt>
          <c:dPt>
            <c:idx val="1"/>
            <c:bubble3D val="0"/>
            <c:spPr>
              <a:solidFill>
                <a:srgbClr val="B4532F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23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23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Домохозяйства</c:v>
                </c:pt>
                <c:pt idx="1">
                  <c:v>Организации: гостиницы, медицина и др.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68.5</c:v>
                </c:pt>
                <c:pt idx="1">
                  <c:v>31.5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2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23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2238"/>
                </a:solidFill>
                <a:latin typeface="Calibri"/>
              </a:rPr>
              <a:t>Ставки, % годовых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72238"/>
            </a:solidFill>
            <a:effectLst/>
          </c:spPr>
          <c:invertIfNegative val="0"/>
          <c:dLbls>
            <c:numFmt formatCode="0.0#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2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22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53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53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6B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Ключевая ставка ЦБ</c:v>
                  </c:pt>
                  <c:pt idx="1">
                    <c:v>Кредит МСП до 1 года</c:v>
                  </c:pt>
                  <c:pt idx="2">
                    <c:v>Кредит МСП свыше 1 года</c:v>
                  </c:pt>
                  <c:pt idx="3">
                    <c:v>Депозиты организаций</c:v>
                  </c:pt>
                  <c:pt idx="4">
                    <c:v>Депозит ВТБ, до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17.9</c:v>
                </c:pt>
                <c:pt idx="2">
                  <c:v>14.7</c:v>
                </c:pt>
                <c:pt idx="3">
                  <c:v>12.9</c:v>
                </c:pt>
                <c:pt idx="4">
                  <c:v>12.75</c:v>
                </c:pt>
              </c:numCache>
            </c:numRef>
          </c:val>
        </c:ser>
        <c:dLbls>
          <c:numFmt formatCode="0.0#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22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2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Алихан: Добрый день! Мы команда 5, Алихан Багишев и Александра Тимофеева. Сегодня покажем две вещи: кто уже продает текстиль организациям, то есть с кем будет конкурировать наша B2B-площадка, и через какие банки компании выгоднее платить поставщикам в Индии.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Алихан: Задание к 19 октября было из двух частей. Первая – анализ конкурентов: прямые сетевые, прямые несетевые и непрямые, по всей России с акцентом на Петербург и Москву. Нужно было понять, какую долю рынка они занимают и у кого мы будем забирать клиентов. Вторая часть – анализ банков, которые работают с иностранными компаниями, минимум Сбербанк и ВТБ, с таблицей ставок. Всего мы разобрали 34 компании в трех группах и 7 банков. Данные брали из отчетности компаний и отраслевых СМИ, Росстата, Банка России и открытых тарифов банков. Сразу оговорюсь: сети не публикуют продажи текстиля отдельно, поэтому точную долю каждой сети в текстиле не знает никто. Вместо нее мы показываем масштаб: выручку, число магазинов и бизнес-клиентов.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Алихан: Рынок домашнего текстиля в России в 2025 году оценивают в 350–400 млрд рублей, в этом году ждут рост на 5–10 %. Около трети рынка, 31,5 %, приходится не на домохозяйства, а на организации: гостиницы, медицину и другие. Это примерно 110 млрд рублей, и это наш целевой рынок. Еще две цифры. Треть продаж уже идет онлайн, почти все – через маркетплейсы. А импорт растет быстрее собственного производства: за девять месяцев 2025 года ввезли 110 млн единиц, на 14 % больше, чем годом раньше, а в России выпустили 101 млн. Импортный текстиль, как у нашего заказчика, рынку привычен. Покупателей в столицах много: в Москве 1 864 средства размещения на 102 тыс. номеров, в Петербурге почти 400 гостиниц от трех до пяти звезд. Каждой из них постоянно нужны белье и полотенца.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Алихан: Чтобы увидеть всех конкурентов сразу, мы разложили их на карте. По горизонтали – сегмент, от бюджета до премиума. По вертикали – насколько компания умеет работать с бизнесом: счет, документы, доставка, пошив под заказ. Большинство оказалось внизу: это розница, которая продает частным покупателям. Наверху – METRO, ивановские фабрики и компании, которые сдают белье в аренду. Но каждый из них закрывает одну задачу. Компании, которая дает и бюджет, и премиум с полным сервисом для организации, на карте нет. Это место мы и предлагаем занять площадке OPTTEX.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Алихан: Первая группа – прямые сетевые конкуренты. Главные в B2B – METRO и «Лента PRO». У METRO 93 центра в 51 регионе и отдельный сервис для гостиниц и ресторанов: доставка, отсрочка, личный менеджер. У «Ленты» 269 гипермаркетов и программа PRO, в которой больше 200 тыс. бизнес-клиентов, пятая часть из них – гостиницы и рестораны. В Петербурге «Лента» особенно сильна. Ашан тоже развивает B2B и хочет утроить этот оборот. Askona с прошлого года запустила программу для отелей, но у нее в основном подушки и одеяла. Togas, Cozy Home, Fix Price, Familia, Hoff и «Лемана ПРО» работают только с частными покупателями. Общая слабость сетей одна: текстиль у них побочный товар. Гостиничных параметров – плотности, точных размеров, повторной поставки той же партии – там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Александра: Спасибо, Алихан. Вторая группа – прямые несетевые конкуренты. Главные здесь – ивановские фабрики: Престиж Текстиль, Ив-текстиль, Мактекс, СонТекс и другие. Они уже шьют для гостиниц и больниц, дают цену производителя и шьют по размерам. Но у каждой только свой ассортимент, сайты сделаны как визитки, а заказ идет через звонки и переписку, без личного кабинета и электронного документооборота. Есть компании, которые оснащают отели под ключ, например ГК «Атмосфера» и «Прооттель», и поставщики медицинского текстиля с опытом тендеров. В премиуме – бутики Frette и Sofi de Marko. Они задают планку для отелей пяти звезд, но работают в рознице и в маленьком масштабе.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Александра: Третья группа – непрямые конкуренты, и они растут быстрее всех. Wildberries с июня 2025 года продает компаниям с оплатой со счета и ценами с НДС. Ozon развивает B2B-витрину: в начале 2025 года заказы от компаний у него выросли на 65 %. Обороты у обоих – больше 4 трлн рублей в год. Слабость маркетплейсов для гостиницы в том, что там продают сотни разных продавцов. Найти белье нужной плотности и через полгода докупить ту же партию сложно. Отдельно стоит аренда белья вместе со стиркой. Например, Lindaily обслуживает больше 33 тыс. клиентов. В России аренду выбирают пока 3–5 % отелей, в Европе – до 95 %. Если эта модель приживется, часть гостиниц перестанет покупать белье вообще, поэтому мы считаем ее второй по силе угрозой после маркетплейсов.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Александра: Здесь мы сравнили группы конкурентов по тому, что важно закупщику. Оплата по счету есть у сетей, маркетплейсов и фабрик. Пошив с логотипом и гостиничные параметры – в основном у фабрик. Бюджет и премиум сразу – у маркетплейсов. Уникальное у нас одно – прямые поставки из Индии без посредников. Все остальное по отдельности у кого-то уже есть, но в одном месте не собрано. На этом и строится наше преимущество.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Александра: Теперь главный вопрос задания: у кого мы будем забирать клиентов. Первые – малые и средние гостиницы и апарт-отели. Сейчас они покупают на маркетплейсах, в METRO, «Ленте PRO» или у ивановских фабрик. Забираем их гостиничными параметрами, повтором той же партии, оплатой по счету и документами через ЭДО. Вторые – спа-салоны и фитнес-клубы, которые сейчас берут полотенца и халаты в рознице. Третьи – частные клиники: им удобен один счет на весь мягкий инвентарь. Отели четырех и пяти звезд – следующий этап, для них нужны премиальная линейка и дизайнерские коллекции. Государственные больницы без участия в торгах не забрать, туда мы выходим позже, после запуска площадки.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Алихан: Вторая часть – банки. Сначала о том, как вообще проходит платеж в Индию. Рупии нельзя свободно вывозить из Индии, поэтому расчеты идут через специальные рупиевые счета востро. Компания платит в рублях, российский банк меняет их на рупии и проводит валютный контроль, дальше деньги идут через счет востро или собственный филиал банка в Индии и попадают в банк поставщика. У Сбера и ВТБ есть свои филиалы в Индии, поэтому платеж не ждет банков-посредников. Еще важно: если импортный контракт больше 3 млн рублей, его ставят на учет в банке. Доллары и юани остаются запасным путем: Индия не поощряет расчеты в юанях, а платежи в долларах часто возвращаются.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Алихан: В таблице – условия банков по открытым тарифам. Сбербанк: базовое обслуживание бесплатно, переводы в рупиях без комиссии по акции до конца 2026 года, валютный контроль – 0,15 %, деньги приходят за день. ВТБ: перевод в рупиях – 0,27 %, валютный контроль с опцией ВЭД – 0,1 %, есть депозиты в рупиях. Т-Банк и Точка тоже платят в рупиях, у Т-Банка открытые тарифы – 0,15–0,2 % за перевод. Коммерческий Индо Банк – дочерний банк индийского SBI в Москве, он специализируется на торговле с Индией, но тарифы дает только по запросу. Газпромбанк и Альфа-Банк работают с рупиями, но открытых тарифов по ним мы не нашли. Вывод по таблице: Сбер и ВТБ, через которые компания платит сейчас, и сегодня лучшие по условиям для рупий.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Александра: Теперь ставки. Ключевая ставка Банка России – 14 %, следующее решение ЦБ примет 23 октября. Кредиты малому и среднему бизнесу в июле стоили в среднем 17,9 % на срок до года и 14,7 % на срок больше года. Депозиты организаций – около 13 %. Кредиты заказчик не берет, поэтому для него важнее стоимость самого платежа. Мы посчитали пример: платеж поставщику на 20 тыс. долларов. В Сбере перевод бесплатный, валютный контроль – 30 долларов, но при конвертации банк берет курс ЦБ плюс 0,5 %, а это около 100 долларов. В ВТБ перевод – 54 доллара, валютный контроль – 20, плюс опция за 2 890 рублей в месяц, а курс конвертации банк не публикует. Получается, что главная скрытая цена – курс, а не комиссия.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Александра: Наша рекомендация – держать два канала и один запасной. Сбербанк – основной: свой филиал, бесплатные переводы в рупиях до конца года и зачисление за день. ВТБ – второй канал на случай задержек. Т-Банк или Точка – запасной вариант для небольших платежей. И три риска. Оба крупных банка под санкциями США, а их индийские подразделения – под ограничениями ЕС, поэтому платежи могут задерживаться. Акция Сбера закончится 31 декабря, условия на 2027 год пока неизвестны. И банк поставщика должен работать с рупиевыми счетами востро – это лучше согласовать с поставщиком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Алихан: Подведем итог. Конкурентов много: сети, ивановские фабрики, маркетплейсы и аренда белья, но каждый закрывает одну задачу, а площадки, которая обслуживает организацию целиком, нет. Клиентов будем забирать в первую очередь у маркетплейсов, сетей и фабрик: это малые гостиницы, спа, фитнес и частные клиники. Главная угроза – B2B-витрины Wildberries и Ozon. По банкам: основной – Сбербанк, второй – ВТБ, запасной – Т-Банк или Точка. Спасибо за внимание,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7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6751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94760"/>
            <a:ext cx="6309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9CFDA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Команда 5 · группа ТД-2541 · конкуренты и банки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HOTO_LE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846320" y="384048"/>
            <a:ext cx="6766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846320" y="676656"/>
            <a:ext cx="67665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48463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Команда 5 · группа ТД-2541 · конкуренты и банки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7A8"/>
                </a:solidFill>
              </a:rPr>
              <a:t>Команда 5 · группа ТД-2541 · конкуренты и банки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Тканый узор – полотняное переплетени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8229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4532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8229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КОМАНДА 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2148840" y="822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8C3A0"/>
                </a:solidFill>
              </a:rPr>
              <a:t>Задание к 19 октября 2026</a:t>
            </a:r>
            <a:endParaRPr lang="en-US" sz="13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55448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</a:t>
            </a:r>
            <a:endParaRPr lang="en-US" sz="5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</a:t>
            </a:r>
            <a:pPr algn="l" indent="0" marL="0">
              <a:lnSpc>
                <a:spcPct val="95000"/>
              </a:lnSpc>
              <a:buNone/>
            </a:pPr>
            <a:r>
              <a:rPr lang="en-US" sz="5400" i="1" dirty="0">
                <a:solidFill>
                  <a:srgbClr val="D8C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банки</a:t>
            </a:r>
            <a:endParaRPr lang="en-US" sz="5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40080" y="37947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FDA"/>
                </a:solidFill>
              </a:rPr>
              <a:t>Кто уже продает текстиль организациям и через какие банки платить поставщикам в Индии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8C3A0"/>
                </a:solidFill>
              </a:rPr>
              <a:t>ВЫПОЛНИЛИ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3035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Багишев Алихан · Тимофеева Александра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CFDA"/>
                </a:solidFill>
              </a:rPr>
              <a:t>Группа ТД-2541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ЗАДАНИЕ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нужно было сделать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617720"/>
          </a:xfrm>
          <a:prstGeom prst="roundRect">
            <a:avLst>
              <a:gd name="adj" fmla="val 2376"/>
            </a:avLst>
          </a:prstGeom>
          <a:solidFill>
            <a:srgbClr val="1722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8C3A0"/>
                </a:solidFill>
              </a:rPr>
              <a:t>ЗАДАНИЕ К 19.10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конкурентов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CFDA"/>
                </a:solidFill>
              </a:rPr>
              <a:t>Прямые сетевые, прямые несетевые и непрямые. Вся Россия с акцентом на Петербург и Москву. Какую долю рынка они занимают и у кого мы будем забирать клиентов.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банков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262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CFDA"/>
                </a:solidFill>
              </a:rPr>
              <a:t>Какие банки работают с иностранными компаниями и на каких условиях. Минимум – Сбербанк и ВТБ. Таблица со ставками.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554480"/>
            <a:ext cx="2743200" cy="1444752"/>
          </a:xfrm>
          <a:prstGeom prst="roundRect">
            <a:avLst>
              <a:gd name="adj" fmla="val 7595"/>
            </a:avLst>
          </a:prstGeom>
          <a:solidFill>
            <a:srgbClr val="F6F2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62472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62472" y="23408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компании в трех группах конкурентов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2520" y="1554480"/>
            <a:ext cx="2743200" cy="1444752"/>
          </a:xfrm>
          <a:prstGeom prst="roundRect">
            <a:avLst>
              <a:gd name="adj" fmla="val 7595"/>
            </a:avLst>
          </a:prstGeom>
          <a:solidFill>
            <a:srgbClr val="F6F2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88552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988552" y="23408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банков, через которые можно платить в Индию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06440" y="3127248"/>
            <a:ext cx="2743200" cy="1444752"/>
          </a:xfrm>
          <a:prstGeom prst="roundRect">
            <a:avLst>
              <a:gd name="adj" fmla="val 7595"/>
            </a:avLst>
          </a:prstGeom>
          <a:solidFill>
            <a:srgbClr val="F6F2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62472" y="3310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14 %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062472" y="39136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ключевая ставка Банка России на 19.10.2026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3127248"/>
            <a:ext cx="2743200" cy="1444752"/>
          </a:xfrm>
          <a:prstGeom prst="roundRect">
            <a:avLst>
              <a:gd name="adj" fmla="val 7595"/>
            </a:avLst>
          </a:prstGeom>
          <a:solidFill>
            <a:srgbClr val="F6F2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88552" y="3310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988552" y="39136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города в фокусе: Петербург и Москва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06440" y="4754880"/>
            <a:ext cx="5806440" cy="1417320"/>
          </a:xfrm>
          <a:prstGeom prst="roundRect">
            <a:avLst>
              <a:gd name="adj" fmla="val 7742"/>
            </a:avLst>
          </a:prstGeom>
          <a:solidFill>
            <a:srgbClr val="F4E1D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0" y="475488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238"/>
                </a:solidFill>
              </a:rPr>
              <a:t>Откуда данные: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 отчеты компаний и отраслевые СМИ, Росстат, Банк России, открытые тарифы банков. Сетевики не раскрывают продажи текстиля отдельно, поэтому вместо долей по каждой сети даем масштаб: выручку, число магазинов и бизнес-клиентов.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РЫНОК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Рынок большой, треть – покупатели-организации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350–400 млрд ₽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214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объем рынка домашнего текстиля в России в 2025 году, в 2026-м ожидают рост на 5–10 %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2788920"/>
          <a:ext cx="40233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84632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 110 млрд ₽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2011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приходится на организации (оценка по доле 31,5 %)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5786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34 %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0358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продаж уже идет онлайн, почти все – через маркетплейсы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6027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 млн шт.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405993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ввезено за 9 месяцев 2025 года (+14 %), выпущено в России – 101 млн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15544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7223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6676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8C3A0"/>
                </a:solidFill>
              </a:rPr>
              <a:t>ПОКУПАТЕЛИ В СТОЛИЦАХ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1 864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2715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FDA"/>
                </a:solidFill>
              </a:rPr>
              <a:t>средства размещения в Москве, 102 тыс. номеров (конец 2023)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3429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397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39959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FDA"/>
                </a:solidFill>
              </a:rPr>
              <a:t>гостиниц 3–5 звезд в Петербурге, около 27 тыс. номеров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Каждой нужны белье и полотенца с регулярной заменой.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846320" y="4754880"/>
            <a:ext cx="3017520" cy="960120"/>
          </a:xfrm>
          <a:prstGeom prst="roundRect">
            <a:avLst>
              <a:gd name="adj" fmla="val 11429"/>
            </a:avLst>
          </a:prstGeom>
          <a:solidFill>
            <a:srgbClr val="F4E1D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0" y="47548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230"/>
                </a:solidFill>
              </a:rPr>
              <a:t>Долю гостиничного и медицинского текстиля отдельно никто не публикует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Источники: Profile.ru (07.2026), Mordor Intelligence, «Честный знак» и Росстат через Profile.ru, Мосстат, Администрация Санкт-Петербурга. Доля организаций – оценка аналитиков.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КАРТА КОНКУРЕНТОВ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Сервис для бизнеса есть у немногих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1600200"/>
            <a:ext cx="731520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3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600200"/>
            <a:ext cx="0" cy="4251960"/>
          </a:xfrm>
          <a:prstGeom prst="line">
            <a:avLst/>
          </a:prstGeom>
          <a:noFill/>
          <a:ln w="9525">
            <a:solidFill>
              <a:srgbClr val="DDD3C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05840" y="3726180"/>
            <a:ext cx="7315200" cy="0"/>
          </a:xfrm>
          <a:prstGeom prst="line">
            <a:avLst/>
          </a:prstGeom>
          <a:noFill/>
          <a:ln w="9525">
            <a:solidFill>
              <a:srgbClr val="DDD3C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005840" y="5907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675"/>
                </a:solidFill>
              </a:rPr>
              <a:t>бюджет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5907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675"/>
                </a:solidFill>
              </a:rPr>
              <a:t>премиум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5907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E6675"/>
                </a:solidFill>
              </a:rPr>
              <a:t>СЕГМЕНТ 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 rot="16200000">
            <a:off x="-502920" y="35433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E6675"/>
                </a:solidFill>
              </a:rPr>
              <a:t>СЕРВИС ДЛЯ БИЗНЕСА 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1764792"/>
            <a:ext cx="6675120" cy="457200"/>
          </a:xfrm>
          <a:prstGeom prst="roundRect">
            <a:avLst>
              <a:gd name="adj" fmla="val 50000"/>
            </a:avLst>
          </a:prstGeom>
          <a:solidFill>
            <a:srgbClr val="B453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17647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OPTTEX: бюджет и премиум, счет, ЭДО, пошив, доставка на объект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613916" y="5255971"/>
            <a:ext cx="201168" cy="201168"/>
          </a:xfrm>
          <a:prstGeom prst="ellipse">
            <a:avLst/>
          </a:prstGeom>
          <a:solidFill>
            <a:srgbClr val="17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60804" y="5210251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Fix Price, Familia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05456" y="4321454"/>
            <a:ext cx="201168" cy="201168"/>
          </a:xfrm>
          <a:prstGeom prst="ellipse">
            <a:avLst/>
          </a:prstGeom>
          <a:solidFill>
            <a:srgbClr val="17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52344" y="427573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Ашан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56816" y="3687318"/>
            <a:ext cx="201168" cy="201168"/>
          </a:xfrm>
          <a:prstGeom prst="ellipse">
            <a:avLst/>
          </a:prstGeom>
          <a:solidFill>
            <a:srgbClr val="17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03704" y="364159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Лента PRO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91256" y="3320186"/>
            <a:ext cx="201168" cy="201168"/>
          </a:xfrm>
          <a:prstGeom prst="ellipse">
            <a:avLst/>
          </a:prstGeom>
          <a:solidFill>
            <a:srgbClr val="17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38144" y="327446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METRO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77056" y="4855464"/>
            <a:ext cx="201168" cy="201168"/>
          </a:xfrm>
          <a:prstGeom prst="ellipse">
            <a:avLst/>
          </a:prstGeom>
          <a:solidFill>
            <a:srgbClr val="17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23944" y="4809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Hoff, Лемана ПРО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05756" y="5189220"/>
            <a:ext cx="201168" cy="201168"/>
          </a:xfrm>
          <a:prstGeom prst="ellipse">
            <a:avLst/>
          </a:prstGeom>
          <a:solidFill>
            <a:srgbClr val="17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52644" y="51435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Cozy Home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48656" y="3787445"/>
            <a:ext cx="201168" cy="201168"/>
          </a:xfrm>
          <a:prstGeom prst="ellipse">
            <a:avLst/>
          </a:prstGeom>
          <a:solidFill>
            <a:srgbClr val="17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95544" y="3741725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Askona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25996" y="5089093"/>
            <a:ext cx="201168" cy="201168"/>
          </a:xfrm>
          <a:prstGeom prst="ellipse">
            <a:avLst/>
          </a:prstGeom>
          <a:solidFill>
            <a:srgbClr val="1722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60620" y="504337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Togas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16936" y="2852928"/>
            <a:ext cx="201168" cy="201168"/>
          </a:xfrm>
          <a:prstGeom prst="ellipse">
            <a:avLst/>
          </a:prstGeom>
          <a:solidFill>
            <a:srgbClr val="2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63824" y="2807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Фабрики Иваново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45336" y="3119933"/>
            <a:ext cx="201168" cy="201168"/>
          </a:xfrm>
          <a:prstGeom prst="ellipse">
            <a:avLst/>
          </a:prstGeom>
          <a:solidFill>
            <a:srgbClr val="2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92224" y="307421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Медтекстиль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57116" y="2852928"/>
            <a:ext cx="201168" cy="201168"/>
          </a:xfrm>
          <a:prstGeom prst="ellipse">
            <a:avLst/>
          </a:prstGeom>
          <a:solidFill>
            <a:srgbClr val="2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04004" y="2807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«Атмосфера», «Прооттель»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31736" y="4388206"/>
            <a:ext cx="201168" cy="201168"/>
          </a:xfrm>
          <a:prstGeom prst="ellipse">
            <a:avLst/>
          </a:prstGeom>
          <a:solidFill>
            <a:srgbClr val="2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66360" y="434248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Frette, Sofi de Marko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39896" y="4021074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86784" y="397535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WB, Ozon, Я.Маркет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34456" y="3320186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81344" y="327446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Аренда белья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99716" y="4688586"/>
            <a:ext cx="201168" cy="201168"/>
          </a:xfrm>
          <a:prstGeom prst="ellipse">
            <a:avLst/>
          </a:prstGeom>
          <a:solidFill>
            <a:srgbClr val="C08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546604" y="464286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230"/>
                </a:solidFill>
              </a:rPr>
              <a:t>Оптовые центры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732520" y="1700784"/>
            <a:ext cx="201168" cy="201168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052560" y="16459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Прямые сетевые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732520" y="2084832"/>
            <a:ext cx="201168" cy="201168"/>
          </a:xfrm>
          <a:prstGeom prst="ellipse">
            <a:avLst/>
          </a:prstGeom>
          <a:solidFill>
            <a:srgbClr val="2F6B6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052560" y="20299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Прямые несетевые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732520" y="2468880"/>
            <a:ext cx="201168" cy="20116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52560" y="24140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Непрямые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641080" y="2971800"/>
            <a:ext cx="2971800" cy="2880360"/>
          </a:xfrm>
          <a:prstGeom prst="roundRect">
            <a:avLst>
              <a:gd name="adj" fmla="val 3810"/>
            </a:avLst>
          </a:prstGeom>
          <a:solidFill>
            <a:srgbClr val="F6F2E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823960" y="3063240"/>
            <a:ext cx="2651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238"/>
                </a:solidFill>
              </a:rPr>
              <a:t>Наверху почти пусто.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 С организациями умеют работать METRO, ивановские фабрики и аренда белья, но каждый закрывает одну задачу. Сразу бюджет и премиум со счетом, пошивом и доставкой не дает никто.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1630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Положение на карте – оценка команды по ассортименту и условиям для бизнеса, без учета размера компании.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ПРЯМЫЕ СЕТЕВЫЕ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Сети: охват есть, гостиничного ассортимента нет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874520"/>
                <a:gridCol w="2148840"/>
                <a:gridCol w="1600200"/>
                <a:gridCol w="1965960"/>
                <a:gridCol w="17830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и сегмент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 бизнеса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Петербург и Москва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Масштаб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Слабое место для закупщика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C&amp;C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мелкий опт, средний и бюджет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доставка, отсрочка, менеджер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 столицы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центра в 51 регионе; 260 млрд 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гостиничных спецификаций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Лента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гипермаркеты, бюджет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 тыс. бизнес-клиентов, 20 % – HoReCa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сильна в Петербурге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 гипермаркетов; 1,1 трлн 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текстиль – побочный ассортимент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Ашан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гипермаркеты, бюджет и средний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B2B-доставка, цель – утроить B2B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 столицы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непродовольственные – 13–15 % продаж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непрод. ассортимент сокращается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товары для сна, средний+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программа для отелей с 2025 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 столицы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 860 салонов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подушки и одеяла, мало белья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бутики, премиум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розница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Москва, Петербург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более 68 магазинов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розничные цены, нет счета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Cozy Home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монобренд, средний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розница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магазинов в Петербурге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 115 магазинов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предложения для бизнеса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Price, Familia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бюджет, off-price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 столицы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7 818 и 495 магазинов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случайный ассортимент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Hoff, Лемана ПРО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товары для дома и ремонта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данных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 столицы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и ≈ 112 магазинов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текстиль второстепенен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«Ивановский текстиль» и др.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фабричный текстиль, бюджет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 опт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 3–8 магазинов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мелкие сети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документов для юрлиц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Выручка – за 2025 год (METRO, «Лента»). Источники: отчетность и пресс-релизы компаний, Retail.ru, New Retail, 2ГИС, Zoon. Розовым – главные сетевые конкуренты в B2B.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ПРЯМЫЕ НЕСЕТЕВЫЕ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Фабрики и бутики: специализация без удобства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234440"/>
                <a:gridCol w="2011680"/>
                <a:gridCol w="1783080"/>
                <a:gridCol w="1554480"/>
                <a:gridCol w="16916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Конкурент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 бизнеса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География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Сильная сторона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Слабая сторона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Фабрики Иваново: Престиж Текстиль, Ив-текстиль, Мактекс и др.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бюджет, средний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пошив по размерам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Иваново, доставка по РФ и СНГ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производителя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сайты-визитки, нет кабинета и ЭДО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ГК «Атмосфера»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оснащение гостиниц, заказ от 45 тыс. 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вся Россия и СНГ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комплексная поставка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заявленный масштаб не подтверждается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«Прооттель»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комплектация отелей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Москва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 для отеля в одном месте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текстиль – не основное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Медтекстиль: СтильБ, СаНата-Текстиль, Cotton-Line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в том числе госзакупки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Иваново, Москва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опыт тендеров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узкий сегмент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люкс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данных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корнер в ЦУМ, Москва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эталон для 5 звезд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цена, импорт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Sofi de Marko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премиум, средний+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данных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магазина в Москве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узнаваемый бренд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маленький масштаб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4E1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238"/>
                </a:solidFill>
              </a:rPr>
              <a:t>Главный прямой конкурент – ивановские фабрики:</a:t>
            </a:r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 они уже шьют для гостиниц и больниц. Но у каждой только свой ассортимент, а заказ идет через звонки и переписку.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Источники: сайты компаний, productcenter.ru, ЦУМ, sofidemarko.ru. Долей по этим компаниям в открытом доступе нет.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НЕПРЯМЫЕ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Маркетплейсы и аренда белья растут быстрее всех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88920"/>
                <a:gridCol w="1828800"/>
                <a:gridCol w="1691640"/>
                <a:gridCol w="219456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Конкурент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предлагает бизнесу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Масштаб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Сильная сторона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Слабая сторона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Wildberries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 06.2025 B2B для всех компаний: оплата со счета, цены с НДС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оборот 6,1 трлн ₽ (2025)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ассортимент, логистика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гостиничных спецификаций, трудно повторить партию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B2B-витрина: заказы компаний +65 % (I кв. 2025), отсрочка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оборот 4,16 трлн ₽ (2025)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НДС, отсрочка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 же: товар продавцов, а не поставщик под объект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Яндекс Маркет для бизнеса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ЭДО, оплата по счету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данных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документы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 текстиле слабее WB и Ozon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Аренда белья с прачечной: Lindaily, «Первая прачечная для бизнеса», АКМА-Групп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белье в аренду вместе со стиркой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Lindaily – более 33 тыс. клиентов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отелю не нужно покупать белье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пользуются 3–5 % отелей, но спрос растет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Оптовые центры: «Текстиль-Профи», Сима-ленд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опт со склада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данных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и наличие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сервиса под гостиницы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17223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303520"/>
            <a:ext cx="457200" cy="45720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7" name="Image 0" descr="Triangle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54132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5120640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C3A0"/>
                </a:solidFill>
              </a:rPr>
              <a:t>Главная угроза – B2B-витрины Wildberries и Ozon: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число бизнес-покупателей у них растет в разы. Вторая – аренда белья: в Европе ею пользуются до 95 % отелей, у нас пока 3–5 %.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Источники: Retail.ru, «Коммерсантъ», корпоративный сайт Ozon, Hotel.Report, Lindaily (РБК Компании).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СРАВНЕНИЕ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мы отличаемся от каждой группы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99616"/>
                <a:gridCol w="1499616"/>
                <a:gridCol w="1499616"/>
                <a:gridCol w="1499616"/>
                <a:gridCol w="149961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важно закупщику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METRO, Лента PRO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WB, Ozon (B2B)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Фабрики Иваново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Премиум-бутики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OPTTEX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Оплата по счету с НДС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Гостиничные параметры: плотность, размеры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C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Пошив с логотипом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C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Повтор той же партии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C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C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Прямые поставки из Индии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 и премиум сразу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C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0B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Доставка на объект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C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C0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7D4F"/>
                </a:solidFill>
              </a:rPr>
              <a:t>● </a:t>
            </a:r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есть   </a:t>
            </a:r>
            <a:pPr algn="l" indent="0" marL="0">
              <a:buNone/>
            </a:pPr>
            <a:r>
              <a:rPr lang="en-US" sz="1200" dirty="0">
                <a:solidFill>
                  <a:srgbClr val="C08A2E"/>
                </a:solidFill>
              </a:rPr>
              <a:t>◐ </a:t>
            </a:r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частично   </a:t>
            </a:r>
            <a:pPr algn="l" indent="0" marL="0">
              <a:buNone/>
            </a:pPr>
            <a:r>
              <a:rPr lang="en-US" sz="1200" dirty="0">
                <a:solidFill>
                  <a:srgbClr val="B0B4BC"/>
                </a:solidFill>
              </a:rPr>
              <a:t>○ </a:t>
            </a:r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нет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5440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9"/>
                </a:solidFill>
              </a:rPr>
              <a:t>Оценка команды по открытым условиям компаний. OPTTEX – планируемые возможности площадки.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779008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4E1D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7790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238"/>
                </a:solidFill>
              </a:rPr>
              <a:t>Уникальное у нас одно – прямые поставки из Индии без посредников.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 Остальное по отдельности есть у других, но не в одном месте.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ВЫВОД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 кого будем забирать клиентов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F4E1D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6" name="Image 0" descr="Hot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037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7556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Малые и средние гостиницы, апарт-отели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44752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2F"/>
                </a:solidFill>
              </a:rPr>
              <a:t>Забираем 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у маркетплейсов, METRO, «Ленты PRO» и ивановских фабрик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444752" y="27249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B6B"/>
                </a:solidFill>
              </a:rPr>
              <a:t>Чем: 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гостиничные параметры, повтор партии, счет и ЭДО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F4E1D6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12" name="Image 1" descr="Dumb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190378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7556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Спа-салоны и фитнес-клубы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68312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2F"/>
                </a:solidFill>
              </a:rPr>
              <a:t>Забираем 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у розницы и маркетплейсов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068312" y="27249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B6B"/>
                </a:solidFill>
              </a:rPr>
              <a:t>Чем: 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полотенца и халаты оптом, логотип, регулярные поставки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3375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F4E1D6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18" name="Image 2" descr="Steth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68686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44752" y="35387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Частные клиники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444752" y="4114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2F"/>
                </a:solidFill>
              </a:rPr>
              <a:t>Забираем 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у поставщиков медицинского текстиля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444752" y="45079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B6B"/>
                </a:solidFill>
              </a:rPr>
              <a:t>Чем: 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один счет на весь мягкий инвентарь, доставка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3375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F6F2EB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0800" y="3566160"/>
            <a:ext cx="502920" cy="502920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24" name="Image 3" descr="G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368686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68312" y="35387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Отели 4–5 звезд – следующий этап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068312" y="4114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2F"/>
                </a:solidFill>
              </a:rPr>
              <a:t>Забираем 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у Frette, Askona и поставщиков сетей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068312" y="45079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B6B"/>
                </a:solidFill>
              </a:rPr>
              <a:t>Чем: </a:t>
            </a:r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премиальная линейка из Индии, дизайнерские коллекции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72238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7724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C3A0"/>
                </a:solidFill>
              </a:rPr>
              <a:t>Государственные больницы не забрать без торгов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по 44-ФЗ и 223-ФЗ – туда выходим после запуска площадки. Чтобы не проиграть маркетплейсам и аренде белья, держимся специализации: подбор под требования объекта, пошив с логотипом, регулярные поставки.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КАК ПЛАТЯТ В ИНДИЮ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Платеж поставщику идет в рупиях через спецсчета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6F2E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548640" cy="548640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6" name="Image 0" descr="Building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421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Компания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35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платит в рублях или с валютного счета</a:t>
            </a:r>
            <a:endParaRPr lang="en-US" sz="1250" dirty="0"/>
          </a:p>
        </p:txBody>
      </p:sp>
      <p:pic>
        <p:nvPicPr>
          <p:cNvPr id="9" name="Image 1" descr="Chevron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542032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160020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6F2EB"/>
          </a:solidFill>
          <a:ln/>
        </p:spPr>
      </p:sp>
      <p:sp>
        <p:nvSpPr>
          <p:cNvPr id="11" name="Shape 7"/>
          <p:cNvSpPr/>
          <p:nvPr/>
        </p:nvSpPr>
        <p:spPr>
          <a:xfrm>
            <a:off x="3611880" y="1810512"/>
            <a:ext cx="548640" cy="548640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12" name="Image 2" descr="Land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554" y="1942186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1188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Российский банк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611880" y="3035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меняет рубли на рупии, проводит валютный контроль</a:t>
            </a:r>
            <a:endParaRPr lang="en-US" sz="1250" dirty="0"/>
          </a:p>
        </p:txBody>
      </p:sp>
      <p:pic>
        <p:nvPicPr>
          <p:cNvPr id="15" name="Image 3" descr="Chevron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542032"/>
            <a:ext cx="228600" cy="228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160020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4E1D6"/>
          </a:solidFill>
          <a:ln/>
        </p:spPr>
      </p:sp>
      <p:sp>
        <p:nvSpPr>
          <p:cNvPr id="17" name="Shape 11"/>
          <p:cNvSpPr/>
          <p:nvPr/>
        </p:nvSpPr>
        <p:spPr>
          <a:xfrm>
            <a:off x="6446520" y="1810512"/>
            <a:ext cx="548640" cy="54864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18" name="Image 4" descr="ArrowLeftRigh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94" y="1942186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4652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Счет востро или филиал в Индии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6446520" y="3035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у Сбера и ВТБ – свои, у других – через индийские банки</a:t>
            </a:r>
            <a:endParaRPr lang="en-US" sz="1250" dirty="0"/>
          </a:p>
        </p:txBody>
      </p:sp>
      <p:pic>
        <p:nvPicPr>
          <p:cNvPr id="21" name="Image 5" descr="Chevron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2542032"/>
            <a:ext cx="228600" cy="2286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52560" y="160020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6F2EB"/>
          </a:solidFill>
          <a:ln/>
        </p:spPr>
      </p:sp>
      <p:sp>
        <p:nvSpPr>
          <p:cNvPr id="23" name="Shape 15"/>
          <p:cNvSpPr/>
          <p:nvPr/>
        </p:nvSpPr>
        <p:spPr>
          <a:xfrm>
            <a:off x="9281160" y="1810512"/>
            <a:ext cx="548640" cy="548640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24" name="Image 6" descr="Fac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2834" y="1942186"/>
            <a:ext cx="285293" cy="285293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28116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Банк поставщика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9281160" y="3035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нужны IFSC и код назначения платежа</a:t>
            </a:r>
            <a:endParaRPr lang="en-US" sz="1250" dirty="0"/>
          </a:p>
        </p:txBody>
      </p:sp>
      <p:sp>
        <p:nvSpPr>
          <p:cNvPr id="27" name="Text 18"/>
          <p:cNvSpPr txBox="1"/>
          <p:nvPr/>
        </p:nvSpPr>
        <p:spPr>
          <a:xfrm>
            <a:off x="548640" y="40690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2F"/>
                </a:solidFill>
              </a:rPr>
              <a:t>Рупии нельзя вывезти из Индии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548640" y="43982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поэтому расчеты идут через специальные рупиевые счета востро; первые девять открыты в 2022 году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6172200" y="40690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2F"/>
                </a:solidFill>
              </a:rPr>
              <a:t>Свои филиалы в Индии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6172200" y="43982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есть у Сбера (с 2010 года) и ВТБ (Нью-Дели) – платеж не ждет банков-посредников</a:t>
            </a:r>
            <a:endParaRPr lang="en-US" sz="125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50292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2F"/>
                </a:solidFill>
              </a:rPr>
              <a:t>Контракт от 3 млн ₽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53583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импортный контракт ставится на учет в банке (Инструкция Банка России № 181-И)</a:t>
            </a:r>
            <a:endParaRPr lang="en-US" sz="1250" dirty="0"/>
          </a:p>
        </p:txBody>
      </p:sp>
      <p:sp>
        <p:nvSpPr>
          <p:cNvPr id="33" name="Text 24"/>
          <p:cNvSpPr txBox="1"/>
          <p:nvPr/>
        </p:nvSpPr>
        <p:spPr>
          <a:xfrm>
            <a:off x="6172200" y="50292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2F"/>
                </a:solidFill>
              </a:rPr>
              <a:t>Доллары и юани – запасной путь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6172200" y="53583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Индия не поощряет расчеты в юанях, а платежи в долларах часто возвращаются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Источники: Сбербанк, ВТБ, Точка (страницы о платежах в Индию), Business Standard (11.2022), Национальная бухгалтерская служба (памятка по валютному контролю).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· БАНКИ И ТАРИФЫ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Условия банков для импортера из Индии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057400"/>
                <a:gridCol w="1965960"/>
                <a:gridCol w="1828800"/>
                <a:gridCol w="2057400"/>
                <a:gridCol w="15544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Банк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платит в Индию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Счет в месяц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Валютный контроль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 в рупиях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Особенности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Сбербанк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филиал, счет в рупиях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базовый «Бизнес Прайм» – 0 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0,15 %, мин. 10 $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 ₽ по акции до 31.12.2026; курс ЦБ + 0,5 %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зачисление за 1 день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ВТБ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филиал в Нью-Дели, счет в рупиях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0–490 ₽ на старте; 3 000 ₽ «Все включено»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0,1 % с опцией ВЭД (10–2 000 $), без нее 0,15 %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0,27 % (40–250 $); опция «ВЭД.Валюта» 2 890 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депозиты в рупиях с 2025 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Т-Банк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счет в рупиях, банки-партнеры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 / 1 990 / 4 990 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0,15–0,2 %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0,15–0,2 %, мин. 2 500–4 100 рупий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тарифы с 15.09.2026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своя лицензия на рупии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 тарифу, данные расходятся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 тарифу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 рублевого счета с конвертацией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 1–10 рабочих дней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Коммерческий Индо Банк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дочерний банк SBI в Москве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 запросу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 запросу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 запросу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специализация – торговля с Индией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Газпромбанк, Альфа-Банк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счет востро в UCO Bank; рупии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данных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данных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данных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 санкциями США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4E1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238"/>
                </a:solidFill>
              </a:rPr>
              <a:t>Сбер и ВТБ, через которые компания платит сейчас, остаются лучшими по условиям для рупий.</a:t>
            </a:r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 Т-Банк и Точка дают прозрачные тарифы и подходят как запасной канал.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Открытые тарифы банков на 19.10.2026 (sberbank.ru, vtb.ru, tbank.ru, tochka.com), Interfax, Business Standard. Перед открытием счета тарифы уточняются в банке.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СТАВКИ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Ставки на рынке и цена одного платежа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675"/>
                </a:solidFill>
              </a:rPr>
              <a:t>Ключевая – с 27.07.2026, следующее заседание ЦБ 23.10.2026. Кредиты МСП – июль 2026, депозиты организаций – июнь 2026 (средние по банкам).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15544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Пример: платеж поставщику на 20 000 $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011680"/>
          <a:ext cx="50749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1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Сбербанк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ВТБ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 в рупиях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0 $ (акция)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54 $ (0,27 %)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Валютный контроль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30 $ (0,15 %)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20 $ (0,1 %)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Конвертация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 100 $ (курс ЦБ + 0,5 %)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банка не опубликован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Абонентская плата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2 890 ₽ в месяц за опцию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537960" y="4434840"/>
            <a:ext cx="5074920" cy="1508760"/>
          </a:xfrm>
          <a:prstGeom prst="roundRect">
            <a:avLst>
              <a:gd name="adj" fmla="val 7273"/>
            </a:avLst>
          </a:prstGeom>
          <a:solidFill>
            <a:srgbClr val="17223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766560" y="443484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8C3A0"/>
                </a:solidFill>
              </a:rPr>
              <a:t>Кредиты компании не нужны,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 поэтому главное для нее – стоимость платежа и курс. Скрытая цена у Сбера – наценка 0,5 % к курсу, она больше любой комиссии за перевод. Свободные деньги можно держать на депозите под 12–13 %.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Источники: Банк России (решения по ключевой ставке, статистика ставок), тарифы Сбербанка и ВТБ. Расчет примера – команда, по открытым тарифам.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ВЫВОД ПО БАНКАМ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Два канала платежей и запасной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6F2E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28800"/>
            <a:ext cx="502920" cy="502920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Сбербанк – основной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0779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Свой филиал в Индии, перевод в рупиях без комиссии до конца 2026 года, зачисление за день. Учитываем наценку 0,5 % к курсу.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6F2EB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1828800"/>
            <a:ext cx="502920" cy="502920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ВТБ – второй канал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90779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Филиал в Нью-Дели и счет в рупиях. Перевод 0,27 %, валютный контроль 0,1 %. Нужен на случай задержек в Сбере.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6F2E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2752" y="1828800"/>
            <a:ext cx="502920" cy="502920"/>
          </a:xfrm>
          <a:prstGeom prst="ellipse">
            <a:avLst/>
          </a:prstGeom>
          <a:solidFill>
            <a:srgbClr val="2F6B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Т-Банк или Точка – запасной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90779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Прозрачные тарифы на рупии, без привязки к санкционным филиалам. Удобны для небольших платежей.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Риски, о которых нужно помнить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21" name="Image 0" descr="Shield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910328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43000" y="473659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Санкции: Сбер и ВТБ под санкциями США, их индийские подразделения – под ограничениями ЕС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297680" y="4800600"/>
            <a:ext cx="457200" cy="45720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24" name="Image 1" descr="Calendar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4910328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892040" y="473659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Акция Сбера на рупии действует до 31.12.2026, условия на 2027 год неизвестны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046720" y="4800600"/>
            <a:ext cx="457200" cy="45720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27" name="Image 2" descr="Fil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491032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641080" y="473659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C2230"/>
                </a:solidFill>
              </a:rPr>
              <a:t>Банк поставщика должен работать с рупиевыми счетами востро – согласовать заранее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Санкционный статус – по данным OFAC и сообщениям о 21-м пакете ЕС (август 2026). Рекомендация – оценка команды.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Тканый узор – полотняное переплетени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ИТОГ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76656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Конкурентов много, но площадки под организации нет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475488" cy="475488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6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2262957"/>
            <a:ext cx="247254" cy="247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2057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Конкуренты: сети, ивановские фабрики, маркетплейсы и аренда белья. Каждый закрывает одну задачу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" y="3017520"/>
            <a:ext cx="475488" cy="475488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9" name="Image 2" descr="Targ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131637"/>
            <a:ext cx="247254" cy="24725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9260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Забираем малые гостиницы, спа, фитнес и частные клиники. Главная угроза – B2B-витрины WB и Ozon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48640" y="3886200"/>
            <a:ext cx="475488" cy="475488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12" name="Image 3" descr="Land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4000317"/>
            <a:ext cx="247254" cy="24725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88720" y="37947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Банки: Сбербанк – основной, ВТБ – второй, Т-Банк или Точка – запасной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 внимание!</a:t>
            </a:r>
            <a:endParaRPr lang="en-US" sz="28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4864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CFDA"/>
                </a:solidFill>
              </a:rPr>
              <a:t>Команда 5 · Багишев Алихан, Тимофеева Александра · группа ТД-2541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ttex Textile">
  <a:themeElements>
    <a:clrScheme name="Opttex Textile">
      <a:dk1>
        <a:srgbClr val="1C2230"/>
      </a:dk1>
      <a:lt1>
        <a:srgbClr val="FFFFFF"/>
      </a:lt1>
      <a:dk2>
        <a:srgbClr val="172238"/>
      </a:dk2>
      <a:lt2>
        <a:srgbClr val="F6F2EB"/>
      </a:lt2>
      <a:accent1>
        <a:srgbClr val="B4532F"/>
      </a:accent1>
      <a:accent2>
        <a:srgbClr val="2F6B6B"/>
      </a:accent2>
      <a:accent3>
        <a:srgbClr val="D8C3A0"/>
      </a:accent3>
      <a:accent4>
        <a:srgbClr val="5E6675"/>
      </a:accent4>
      <a:accent5>
        <a:srgbClr val="2E7D4F"/>
      </a:accent5>
      <a:accent6>
        <a:srgbClr val="DDD3C3"/>
      </a:accent6>
      <a:hlink>
        <a:srgbClr val="1F4A7A"/>
      </a:hlink>
      <a:folHlink>
        <a:srgbClr val="5E6675"/>
      </a:folHlink>
    </a:clrScheme>
    <a:fontScheme name="Opttex Textil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Команда 5, группа ТД-2541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 5. Анализ конкурентов и банков</dc:title>
  <dc:subject>Конкуренты B2B-платформы текстиля и банки для расчетов с Индией</dc:subject>
  <dc:creator>Багишев Алихан, Тимофеева Александра</dc:creator>
  <cp:lastModifiedBy>Багишев Алихан, Тимофеева Александра</cp:lastModifiedBy>
  <cp:revision>1</cp:revision>
  <dcterms:created xsi:type="dcterms:W3CDTF">2026-10-19T16:05:05Z</dcterms:created>
  <dcterms:modified xsi:type="dcterms:W3CDTF">2026-10-19T16:05:05Z</dcterms:modified>
</cp:coreProperties>
</file>