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62626"/>
                </a:solidFill>
                <a:latin typeface="Calibri"/>
              </a:defRPr>
            </a:pPr>
            <a:r>
              <a:rPr sz="1500" b="0" i="0" u="none" strike="noStrike">
                <a:solidFill>
                  <a:srgbClr val="262626"/>
                </a:solidFill>
                <a:latin typeface="Calibri"/>
              </a:rPr>
              <a:t>Кто покупает домашний текстиль</a:t>
            </a:r>
          </a:p>
        </c:rich>
      </c:tx>
      <c:layout/>
      <c:overlay val="0"/>
    </c:title>
    <c:autoTitleDeleted val="0"/>
    <c:plotArea>
      <c:layout/>
      <c:doughnutChart>
        <c:varyColors val="1"/>
        <c:ser>
          <c:idx val="0"/>
          <c:order val="0"/>
          <c:tx>
            <c:strRef>
              <c:f>Sheet1!$B$1</c:f>
              <c:strCache>
                <c:ptCount val="1"/>
                <c:pt idx="0">
                  <c:v>Покупатели</c:v>
                </c:pt>
              </c:strCache>
            </c:strRef>
          </c:tx>
          <c:spPr>
            <a:solidFill>
              <a:schemeClr val="accent1"/>
            </a:solidFill>
            <a:ln w="9525" cap="flat">
              <a:solidFill>
                <a:srgbClr val="F9F9F9"/>
              </a:solidFill>
              <a:prstDash val="solid"/>
              <a:round/>
            </a:ln>
            <a:effectLst/>
          </c:spPr>
          <c:dPt>
            <c:idx val="0"/>
            <c:bubble3D val="0"/>
            <c:spPr>
              <a:solidFill>
                <a:srgbClr val="2F5597"/>
              </a:solidFill>
              <a:effectLst/>
            </c:spPr>
          </c:dPt>
          <c:dPt>
            <c:idx val="1"/>
            <c:bubble3D val="0"/>
            <c:spPr>
              <a:solidFill>
                <a:srgbClr val="ED7D31"/>
              </a:solidFill>
              <a:effectLst/>
            </c:spPr>
          </c:dPt>
          <c:dLbls>
            <c:dLbl>
              <c:idx val="0"/>
              <c:numFmt formatCode="0.0%" sourceLinked="0"/>
              <c:spPr/>
              <c:txPr>
                <a:bodyPr/>
                <a:lstStyle/>
                <a:p>
                  <a:pPr>
                    <a:defRPr sz="1300" b="0" i="0" u="none" strike="noStrike">
                      <a:solidFill>
                        <a:srgbClr val="FFFFFF"/>
                      </a:solidFill>
                      <a:latin typeface="Calibri"/>
                    </a:defRPr>
                  </a:pPr>
                </a:p>
              </c:txPr>
              <c:showLegendKey val="0"/>
              <c:showVal val="0"/>
              <c:showCatName val="0"/>
              <c:showSerName val="0"/>
              <c:showPercent val="1"/>
              <c:showBubbleSize val="0"/>
            </c:dLbl>
            <c:dLbl>
              <c:idx val="1"/>
              <c:numFmt formatCode="0.0%" sourceLinked="0"/>
              <c:spPr/>
              <c:txPr>
                <a:bodyPr/>
                <a:lstStyle/>
                <a:p>
                  <a:pPr>
                    <a:defRPr sz="1300" b="0" i="0" u="none" strike="noStrike">
                      <a:solidFill>
                        <a:srgbClr val="FFFFFF"/>
                      </a:solidFill>
                      <a:latin typeface="Calibri"/>
                    </a:defRPr>
                  </a:pPr>
                </a:p>
              </c:txPr>
              <c:showLegendKey val="0"/>
              <c:showVal val="0"/>
              <c:showCatName val="0"/>
              <c:showSerName val="0"/>
              <c:showPercent val="1"/>
              <c:showBubbleSize val="0"/>
            </c:dLbl>
            <c:numFmt formatCode="0.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Частные покупатели</c:v>
                </c:pt>
                <c:pt idx="1">
                  <c:v>Организации</c:v>
                </c:pt>
              </c:strCache>
            </c:strRef>
          </c:cat>
          <c:val>
            <c:numRef>
              <c:f>Sheet1!$B$2:$B$3</c:f>
              <c:numCache>
                <c:ptCount val="2"/>
                <c:pt idx="0">
                  <c:v>68.5</c:v>
                </c:pt>
                <c:pt idx="1">
                  <c:v>31.5</c:v>
                </c:pt>
              </c:numCache>
            </c:numRef>
          </c:val>
        </c:ser>
        <c:firstSliceAng val="0"/>
        <c:holeSize val="50"/>
      </c:doughnutChart>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62626"/>
                </a:solidFill>
                <a:latin typeface="Calibri"/>
              </a:defRPr>
            </a:pPr>
            <a:r>
              <a:rPr sz="1500" b="0" i="0" u="none" strike="noStrike">
                <a:solidFill>
                  <a:srgbClr val="262626"/>
                </a:solidFill>
                <a:latin typeface="Calibri"/>
              </a:rPr>
              <a:t>Ставки в России, % годовых</a:t>
            </a:r>
          </a:p>
        </c:rich>
      </c:tx>
      <c:layout/>
      <c:overlay val="0"/>
    </c:title>
    <c:autoTitleDeleted val="0"/>
    <c:plotArea>
      <c:layout/>
      <c:barChart>
        <c:barDir val="col"/>
        <c:grouping val="clustered"/>
        <c:varyColors val="0"/>
        <c:ser>
          <c:idx val="0"/>
          <c:order val="0"/>
          <c:tx>
            <c:strRef>
              <c:f>Sheet1!$B$1</c:f>
              <c:strCache>
                <c:ptCount val="1"/>
                <c:pt idx="0">
                  <c:v>Ставка, %</c:v>
                </c:pt>
              </c:strCache>
            </c:strRef>
          </c:tx>
          <c:spPr>
            <a:solidFill>
              <a:srgbClr val="2F5597"/>
            </a:solidFill>
            <a:effectLst/>
          </c:spPr>
          <c:invertIfNegative val="0"/>
          <c:dLbls>
            <c:numFmt formatCode="0.0" sourceLinked="0"/>
            <c:txPr>
              <a:bodyPr/>
              <a:lstStyle/>
              <a:p>
                <a:pPr>
                  <a:defRPr b="0"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Ключевая ставка ЦБ</c:v>
                  </c:pt>
                  <c:pt idx="1">
                    <c:v>Кредит для бизнеса до 1 года</c:v>
                  </c:pt>
                  <c:pt idx="2">
                    <c:v>Кредит для бизнеса больше 1 года</c:v>
                  </c:pt>
                  <c:pt idx="3">
                    <c:v>Депозиты компаний</c:v>
                  </c:pt>
                </c:lvl>
              </c:multiLvlStrCache>
            </c:multiLvlStrRef>
          </c:cat>
          <c:val>
            <c:numRef>
              <c:f>Sheet1!$B$2:$B$5</c:f>
              <c:numCache>
                <c:formatCode>General</c:formatCode>
                <c:ptCount val="4"/>
                <c:pt idx="0">
                  <c:v>14</c:v>
                </c:pt>
                <c:pt idx="1">
                  <c:v>17.9</c:v>
                </c:pt>
                <c:pt idx="2">
                  <c:v>14.7</c:v>
                </c:pt>
                <c:pt idx="3">
                  <c:v>12.9</c:v>
                </c:pt>
              </c:numCache>
            </c:numRef>
          </c:val>
        </c:ser>
        <c:dLbls>
          <c:numFmt formatCode="0.0" sourceLinked="0"/>
          <c:txPr>
            <a:bodyPr/>
            <a:lstStyle/>
            <a:p>
              <a:pPr>
                <a:defRPr b="0"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Алихан: Здравствуйте! Мы команда 5, я Алихан Багишев, и со мной Александра Тимофеева. Сегодня мы расскажем, с кем будет конкурировать наша B2B-площадка для текстиля и через какие банки компании удобнее платить поставщикам в Индии.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Алихан: Задание у нас было из двух частей. В первой нужно было найти конкурентов трех видов: прямых сетевых, прямых несетевых и непрямых. Смотрели всю Россию, но подробнее Петербург и Москву. Еще нужно было понять, какую долю рынка они занимают и у кого мы сможем забрать клиентов. Во второй части мы разбирали банки, которые работают с иностранными компаниями. Информацию искали в новостях и отчетах компаний, у Росстата, на сайте Центробанка и на сайтах самих банков. Одну вещь скажу сразу. Сети не публикуют, сколько они продают именно текстиля, поэтому точную долю каждой сети посчитать нельзя. Поэтому мы показываем, насколько компания большая: какая у нее выручка и сколько магазинов.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Алихан: Начнем с рынка. В 2025 году домашнего текстиля в России продали на 350–400 миллиардов рублей, и в этом году ждут рост еще на 5–10 процентов. Как видно на диаграмме, примерно треть покупок делают организации: гостиницы, больницы и другие. Это около 110 миллиардов рублей, и как раз на эту часть рынка рассчитана наша площадка. Треть всех продаж уже идет через интернет, в основном через маркетплейсы. И еще интересный момент: импорт растет быстрее, чем производство в России. За девять месяцев 2025 года ввезли 110 миллионов изделий, а у нас произвели 101 миллион. То есть к импортному текстилю покупатели уже привыкли. В Москве почти 1 900 гостиниц и других мест размещения, в Петербурге около 400 гостиниц от трех до пяти звезд. Всем им постоянно нужны белье и полотенца.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Алихан: Чтобы было проще сравнить конкурентов, мы нарисовали такую карту. По горизонтали цена: слева дешевле, справа дороже. По вертикали то, насколько компании удобно работать с организациями: выставить счет, дать документы, привезти товар, сшить под заказ. Видно, что почти все компании находятся внизу, это обычные магазины для частных покупателей. Наверху совсем немного: METRO, фабрики Иваново и прачечные, которые сдают белье в аренду. И у каждой из них есть только часть того, что нужно гостинице. Звездочкой мы отметили, где хотим быть мы: и дешевый, и дорогой текстиль, и при этом полный сервис для бизнеса.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Алихан: Теперь подробнее по группам. Первая группа – сетевые магазины. Для нас самые серьезные из них METRO и «Лента» с программой Лента PRO. У METRO 93 центра по стране, они возят товар бизнесу, дают отсрочку и личного менеджера. У «Ленты» 269 гипермаркетов и больше 200 тысяч бизнес-клиентов, из них пятая часть – гостиницы и рестораны. В Петербурге «Лента» особенно сильная. Ашан тоже начал работать с бизнесом, а Askona в прошлом году запустила программу для отелей, но у нее в основном подушки и одеяла. Остальные сети, например Togas, Cozy Home, Fix Price и Hoff, продают только обычным покупателям. Общий минус у всех сетей один: текстиль для них не главный товар. Белья под гостиничные требования, нужной плотности и размеров, у них нет, и потом докупить такое же бывает сложно. На этом я передаю слово Александре.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Александра: Спасибо, Алихан. Вторая группа – отдельные компании, которые не являются сетями. Здесь главные конкуренты для нас фабрики Иваново, например Престиж Текстиль, Ив-текстиль и Мактекс. Они уже шьют для гостиниц и больниц, у них цены производителя, и они могут сшить по нужным размерам. Но у каждой фабрики только свой ассортимент, а заказывать приходится по телефону и почте, личного кабинета у них нет. Еще есть компании, которые оснащают гостиницы под ключ, например «Атмосфера» и «Прооттель», и поставщики текстиля для больниц, которые умеют работать с тендерами. А в премиуме это Frette и Sofi de Marko. На них ориентируются дорогие отели, но это розничные магазины, и их очень мало.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Александра: Третья группа – непрямые конкуренты. Сюда мы отнесли маркетплейсы, аренду белья и оптовые склады. Маркетплейсы сейчас активно идут к бизнесу. Wildberries с прошлого года продает компаниям с оплатой со счета и ценами с НДС, у Ozon заказы от компаний выросли на 65 процентов. Обороты у них огромные, у каждого больше 4 триллионов рублей. Но для гостиницы у маркетплейса есть минус. Там тысячи продавцов, и найти белье нужной плотности, а через полгода докупить точно такое же, довольно сложно. Аренда белья работает так: прачечная сама привозит чистое белье и забирает грязное, и гостинице вообще не нужно его покупать. В России так делают пока только 3–5 процентов гостиниц, а в Европе до 95. Мы думаем, что этот рынок будет расти, поэтому тоже считаем его угрозой.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Александра: В этой таблице мы сравнили группы конкурентов по тому, что обычно важно закупщику гостиницы или клиники. Плюс значит, что это есть, минус – что нет, плюс-минус – что есть частично. Получилось, что прямых поставок из Индии нет ни у кого, это наше главное отличие. Все остальное у конкурентов встречается, но по отдельности. Например, у фабрик есть пошив, но нет премиума, а у маркетплейсов есть выбор, но нет гостиничных требований. Наша площадка как раз собирает это в одном месте.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Александра: Отсюда понятно, у кого мы будем забирать клиентов. В первую очередь это небольшие и средние гостиницы и апарт-отели. Сейчас они покупают на маркетплейсах, в METRO, в «Ленте» или напрямую у фабрик. Им мы предложим белье по гостиничным требованиям, возможность повторить заказ, оплату по счету и документы. Дальше спа-салоны и фитнес-клубы, которым нужны полотенца и халаты, и частные клиники, где удобно получить один счет на весь текстиль. Дорогие отели мы оставляем на потом, для них нужна отдельная премиальная линейка. Государственные больницы сразу забрать не получится, потому что они закупают через торги. А главными угрозами для нас остаются маркетплейсы и аренда белья.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Алихан: Теперь вторая часть, про банки. Сначала коротко о том, как вообще платят поставщику в Индии. Компания платит в рублях, банк меняет их на рупии и проверяет документы, дальше деньги идут через специальный счет или филиал банка в Индии, и поставщик получает рупии у себя. Почему так сложно? Рупии нельзя свободно вывозить из Индии, поэтому платят через специальные рупиевые счета, их называют счетами востро. У Сбербанка и ВТБ есть свои филиалы в Индии, поэтому у них платеж идет без посредников. И еще одна деталь: если контракт больше 3 миллионов рублей, его нужно поставить на учет в банке.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Алихан: Мы сравнили шесть вариантов. В Сбербанке базовый тариф бесплатный, переводы в рупиях до конца года тоже бесплатные по акции, а за валютный контроль берут 0,15 процента. В ВТБ перевод в рупиях стоит 0,27 процента, валютный контроль 0,1 процента, но нужно подключить опцию за 2 890 рублей в месяц. Т-Банк и Точка тоже умеют платить в рупиях, и тарифы у них понятные. Коммерческий Индо Банк в Москве принадлежит индийскому банку SBI и как раз специализируется на торговле с Индией, но тарифы дает только по запросу. По Газпромбанку и Альфа-Банку открытых тарифов мы не нашли. В итоге Сбербанк и ВТБ, через которые компания платит сейчас, по условиям действительно лучшие. На этом передаю слово Александре.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Александра: В задании нужно было показать ставки. Ключевая ставка Центробанка сейчас 14 процентов, следующее заседание будет 23 октября. Кредиты для бизнеса в июле стоили в среднем 17,9 процента на срок до года и 14,7 процента на больший срок. По депозитам компании получали около 13 процентов. Но кредиты компания не берет, поэтому мы решили посчитать, сколько стоит сам платеж. Например, платим поставщику 20 тысяч долларов. В Сбербанке сам перевод бесплатный, но при обмене рублей на рупии банк берет курс ЦБ плюс 0,5 процента, а это около 100 долларов. Плюс 30 долларов за валютный контроль. В ВТБ перевод стоит 54 доллара и еще 20 за валютный контроль, но курс обмена банк не публикует, поэтому точно сравнить нельзя.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Александра: Мы советуем оставить Сбербанк основным банком. У него свой филиал в Индии, переводы бесплатные до конца года, и деньги доходят за день. ВТБ стоит держать запасным, если в Сбере будут задержки. А для небольших платежей можно открыть счет в Т-Банке или Точке. Но есть и риски. Оба крупных банка под санкциями, и с августа под ограничениями ЕС оказались их индийские подразделения, поэтому платежи могут задерживаться. Акция Сбербанка заканчивается 31 декабря, и что будет дальше, пока неизвестно. И еще важно заранее договориться с поставщиком, чтобы его банк принимал такие платежи.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Алихан: Подведем итоги. Конкурентов у площадки много, но каждый закрывает только часть того, что нужно гостинице или клинике. Самые сильные из них METRO, «Лента», фабрики Иваново и маркетплейсы. Клиентов мы будем забирать именно у них, прежде всего небольшие гостиницы, спа, фитнес-клубы и частные клиники. Больше всего нас беспокоят маркетплейсы и аренда белья. По банкам вывод такой: основным оставить Сбербанк, ВТБ держать запасным, а для небольших платежей подключить Т-Банк или Точку.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Алихан: Спасибо за внимание! Будем рады ответить на ваши вопросы.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eck/a/weave.jpg">    </p:cNvPr>
          <p:cNvPicPr>
            <a:picLocks noChangeAspect="1"/>
          </p:cNvPicPr>
          <p:nvPr/>
        </p:nvPicPr>
        <p:blipFill>
          <a:blip r:embed="rId1"/>
          <a:srcRect l="0" r="0" t="0" b="0"/>
          <a:stretch/>
        </p:blipFill>
        <p:spPr>
          <a:xfrm>
            <a:off x="7863840" y="0"/>
            <a:ext cx="4327855" cy="6858000"/>
          </a:xfrm>
          <a:prstGeom prst="rect">
            <a:avLst/>
          </a:prstGeom>
        </p:spPr>
      </p:pic>
      <p:sp>
        <p:nvSpPr>
          <p:cNvPr id="3" name="Text 0"/>
          <p:cNvSpPr/>
          <p:nvPr/>
        </p:nvSpPr>
        <p:spPr>
          <a:xfrm>
            <a:off x="640080" y="731520"/>
            <a:ext cx="6400800" cy="365760"/>
          </a:xfrm>
          <a:prstGeom prst="rect">
            <a:avLst/>
          </a:prstGeom>
          <a:noFill/>
          <a:ln/>
        </p:spPr>
        <p:txBody>
          <a:bodyPr wrap="square" lIns="0" tIns="0" rIns="0" bIns="0" rtlCol="0" anchor="t"/>
          <a:lstStyle/>
          <a:p>
            <a:pPr algn="l" indent="0" marL="0">
              <a:lnSpc>
                <a:spcPct val="105000"/>
              </a:lnSpc>
              <a:buNone/>
            </a:pPr>
            <a:r>
              <a:rPr lang="en-US" sz="1600" dirty="0">
                <a:solidFill>
                  <a:srgbClr val="7F7F7F"/>
                </a:solidFill>
                <a:latin typeface="Calibri" pitchFamily="34" charset="0"/>
                <a:ea typeface="Calibri" pitchFamily="34" charset="-122"/>
                <a:cs typeface="Calibri" pitchFamily="34" charset="-120"/>
              </a:rPr>
              <a:t>Команда 5</a:t>
            </a:r>
            <a:endParaRPr lang="en-US" sz="1600" dirty="0"/>
          </a:p>
        </p:txBody>
      </p:sp>
      <p:sp>
        <p:nvSpPr>
          <p:cNvPr id="4" name="Text 1"/>
          <p:cNvSpPr/>
          <p:nvPr/>
        </p:nvSpPr>
        <p:spPr>
          <a:xfrm>
            <a:off x="640080" y="1828800"/>
            <a:ext cx="6949440" cy="1371600"/>
          </a:xfrm>
          <a:prstGeom prst="rect">
            <a:avLst/>
          </a:prstGeom>
          <a:noFill/>
          <a:ln/>
        </p:spPr>
        <p:txBody>
          <a:bodyPr wrap="square" lIns="0" tIns="0" rIns="0" bIns="0" rtlCol="0" anchor="t"/>
          <a:lstStyle/>
          <a:p>
            <a:pPr algn="l" indent="0" marL="0">
              <a:lnSpc>
                <a:spcPct val="105000"/>
              </a:lnSpc>
              <a:buNone/>
            </a:pPr>
            <a:r>
              <a:rPr lang="en-US" sz="4000" b="1" dirty="0">
                <a:solidFill>
                  <a:srgbClr val="1F3864"/>
                </a:solidFill>
                <a:latin typeface="Calibri" pitchFamily="34" charset="0"/>
                <a:ea typeface="Calibri" pitchFamily="34" charset="-122"/>
                <a:cs typeface="Calibri" pitchFamily="34" charset="-120"/>
              </a:rPr>
              <a:t>Анализ конкурентов и банков</a:t>
            </a:r>
            <a:endParaRPr lang="en-US" sz="4000" dirty="0"/>
          </a:p>
        </p:txBody>
      </p:sp>
      <p:sp>
        <p:nvSpPr>
          <p:cNvPr id="5" name="Text 2"/>
          <p:cNvSpPr/>
          <p:nvPr/>
        </p:nvSpPr>
        <p:spPr>
          <a:xfrm>
            <a:off x="640080" y="3246120"/>
            <a:ext cx="6949440" cy="457200"/>
          </a:xfrm>
          <a:prstGeom prst="rect">
            <a:avLst/>
          </a:prstGeom>
          <a:noFill/>
          <a:ln/>
        </p:spPr>
        <p:txBody>
          <a:bodyPr wrap="square" lIns="0" tIns="0" rIns="0" bIns="0" rtlCol="0" anchor="t"/>
          <a:lstStyle/>
          <a:p>
            <a:pPr algn="l" indent="0" marL="0">
              <a:lnSpc>
                <a:spcPct val="105000"/>
              </a:lnSpc>
              <a:buNone/>
            </a:pPr>
            <a:r>
              <a:rPr lang="en-US" sz="2000" dirty="0">
                <a:solidFill>
                  <a:srgbClr val="2F5597"/>
                </a:solidFill>
                <a:latin typeface="Calibri" pitchFamily="34" charset="0"/>
                <a:ea typeface="Calibri" pitchFamily="34" charset="-122"/>
                <a:cs typeface="Calibri" pitchFamily="34" charset="-120"/>
              </a:rPr>
              <a:t>Проект B2B-площадки для оптовых продаж текстиля</a:t>
            </a:r>
            <a:endParaRPr lang="en-US" sz="2000" dirty="0"/>
          </a:p>
        </p:txBody>
      </p:sp>
      <p:sp>
        <p:nvSpPr>
          <p:cNvPr id="6" name="Text 3"/>
          <p:cNvSpPr/>
          <p:nvPr/>
        </p:nvSpPr>
        <p:spPr>
          <a:xfrm>
            <a:off x="640080" y="4846320"/>
            <a:ext cx="6949440" cy="1097280"/>
          </a:xfrm>
          <a:prstGeom prst="rect">
            <a:avLst/>
          </a:prstGeom>
          <a:noFill/>
          <a:ln/>
        </p:spPr>
        <p:txBody>
          <a:bodyPr wrap="square" lIns="0" tIns="0" rIns="0" bIns="0" rtlCol="0" anchor="t"/>
          <a:lstStyle/>
          <a:p>
            <a:pPr algn="l" indent="0" marL="0">
              <a:lnSpc>
                <a:spcPct val="120000"/>
              </a:lnSpc>
              <a:buNone/>
            </a:pPr>
            <a:r>
              <a:rPr lang="en-US" sz="1600" b="1" dirty="0">
                <a:solidFill>
                  <a:srgbClr val="262626"/>
                </a:solidFill>
                <a:latin typeface="Calibri" pitchFamily="34" charset="0"/>
                <a:ea typeface="Calibri" pitchFamily="34" charset="-122"/>
                <a:cs typeface="Calibri" pitchFamily="34" charset="-120"/>
              </a:rPr>
              <a:t>Выполнили: </a:t>
            </a:r>
            <a:pPr algn="l" indent="0" marL="0">
              <a:lnSpc>
                <a:spcPct val="120000"/>
              </a:lnSpc>
              <a:buNone/>
            </a:pPr>
            <a:r>
              <a:rPr lang="en-US" sz="1600" dirty="0">
                <a:solidFill>
                  <a:srgbClr val="262626"/>
                </a:solidFill>
                <a:latin typeface="Calibri" pitchFamily="34" charset="0"/>
                <a:ea typeface="Calibri" pitchFamily="34" charset="-122"/>
                <a:cs typeface="Calibri" pitchFamily="34" charset="-120"/>
              </a:rPr>
              <a:t>Багишев Алихан, Тимофеева Александра</a:t>
            </a:r>
            <a:endParaRPr lang="en-US" sz="1600" dirty="0"/>
          </a:p>
          <a:p>
            <a:pPr algn="l" indent="0" marL="0">
              <a:lnSpc>
                <a:spcPct val="120000"/>
              </a:lnSpc>
              <a:buNone/>
            </a:pPr>
            <a:r>
              <a:rPr lang="en-US" sz="1600" dirty="0">
                <a:solidFill>
                  <a:srgbClr val="262626"/>
                </a:solidFill>
                <a:latin typeface="Calibri" pitchFamily="34" charset="0"/>
                <a:ea typeface="Calibri" pitchFamily="34" charset="-122"/>
                <a:cs typeface="Calibri" pitchFamily="34" charset="-120"/>
              </a:rPr>
              <a:t>Группа ТД-2541</a:t>
            </a:r>
            <a:endParaRPr lang="en-US" sz="1600" dirty="0"/>
          </a:p>
          <a:p>
            <a:pPr algn="l" indent="0" marL="0">
              <a:lnSpc>
                <a:spcPct val="120000"/>
              </a:lnSpc>
              <a:buNone/>
            </a:pPr>
            <a:r>
              <a:rPr lang="en-US" sz="1600" dirty="0">
                <a:solidFill>
                  <a:srgbClr val="262626"/>
                </a:solidFill>
                <a:latin typeface="Calibri" pitchFamily="34" charset="0"/>
                <a:ea typeface="Calibri" pitchFamily="34" charset="-122"/>
                <a:cs typeface="Calibri" pitchFamily="34" charset="-120"/>
              </a:rPr>
              <a:t>Санкт-Петербург,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Задание</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sp>
        <p:nvSpPr>
          <p:cNvPr id="4" name="Text 2"/>
          <p:cNvSpPr/>
          <p:nvPr/>
        </p:nvSpPr>
        <p:spPr>
          <a:xfrm>
            <a:off x="457200" y="1280160"/>
            <a:ext cx="5669280" cy="365760"/>
          </a:xfrm>
          <a:prstGeom prst="rect">
            <a:avLst/>
          </a:prstGeom>
          <a:noFill/>
          <a:ln/>
        </p:spPr>
        <p:txBody>
          <a:bodyPr wrap="square" lIns="0" tIns="0" rIns="0" bIns="0" rtlCol="0" anchor="t"/>
          <a:lstStyle/>
          <a:p>
            <a:pPr algn="l" indent="0" marL="0">
              <a:lnSpc>
                <a:spcPct val="105000"/>
              </a:lnSpc>
              <a:buNone/>
            </a:pPr>
            <a:r>
              <a:rPr lang="en-US" sz="1800" b="1" dirty="0">
                <a:solidFill>
                  <a:srgbClr val="2F5597"/>
                </a:solidFill>
                <a:latin typeface="Calibri" pitchFamily="34" charset="0"/>
                <a:ea typeface="Calibri" pitchFamily="34" charset="-122"/>
                <a:cs typeface="Calibri" pitchFamily="34" charset="-120"/>
              </a:rPr>
              <a:t>Что нужно было сделать</a:t>
            </a:r>
            <a:endParaRPr lang="en-US" sz="1800" dirty="0"/>
          </a:p>
        </p:txBody>
      </p:sp>
      <p:sp>
        <p:nvSpPr>
          <p:cNvPr id="5" name="Text 3"/>
          <p:cNvSpPr/>
          <p:nvPr/>
        </p:nvSpPr>
        <p:spPr>
          <a:xfrm>
            <a:off x="457200" y="1737360"/>
            <a:ext cx="5577840" cy="384048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Найти конкурентов трех видов: прямые сетевые, прямые несетевые и непрямые</a:t>
            </a:r>
            <a:endParaRPr lang="en-US" sz="1600" dirty="0"/>
          </a:p>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Посмотреть всю Россию, но подробнее Петербург и Москву</a:t>
            </a:r>
            <a:endParaRPr lang="en-US" sz="1600" dirty="0"/>
          </a:p>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Понять, какую долю рынка они занимают и у кого мы сможем забрать клиентов</a:t>
            </a:r>
            <a:endParaRPr lang="en-US" sz="1600" dirty="0"/>
          </a:p>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Разобрать банки, которые работают с иностранными компаниями, и сравнить их условия (обязательно Сбербанк и ВТБ)</a:t>
            </a:r>
            <a:endParaRPr lang="en-US" sz="1600" dirty="0"/>
          </a:p>
        </p:txBody>
      </p:sp>
      <p:sp>
        <p:nvSpPr>
          <p:cNvPr id="6" name="Text 4"/>
          <p:cNvSpPr/>
          <p:nvPr/>
        </p:nvSpPr>
        <p:spPr>
          <a:xfrm>
            <a:off x="6492240" y="1280160"/>
            <a:ext cx="5212080" cy="365760"/>
          </a:xfrm>
          <a:prstGeom prst="rect">
            <a:avLst/>
          </a:prstGeom>
          <a:noFill/>
          <a:ln/>
        </p:spPr>
        <p:txBody>
          <a:bodyPr wrap="square" lIns="0" tIns="0" rIns="0" bIns="0" rtlCol="0" anchor="t"/>
          <a:lstStyle/>
          <a:p>
            <a:pPr algn="l" indent="0" marL="0">
              <a:lnSpc>
                <a:spcPct val="105000"/>
              </a:lnSpc>
              <a:buNone/>
            </a:pPr>
            <a:r>
              <a:rPr lang="en-US" sz="1800" b="1" dirty="0">
                <a:solidFill>
                  <a:srgbClr val="2F5597"/>
                </a:solidFill>
                <a:latin typeface="Calibri" pitchFamily="34" charset="0"/>
                <a:ea typeface="Calibri" pitchFamily="34" charset="-122"/>
                <a:cs typeface="Calibri" pitchFamily="34" charset="-120"/>
              </a:rPr>
              <a:t>Где искали информацию</a:t>
            </a:r>
            <a:endParaRPr lang="en-US" sz="1800" dirty="0"/>
          </a:p>
        </p:txBody>
      </p:sp>
      <p:sp>
        <p:nvSpPr>
          <p:cNvPr id="7" name="Text 5"/>
          <p:cNvSpPr/>
          <p:nvPr/>
        </p:nvSpPr>
        <p:spPr>
          <a:xfrm>
            <a:off x="6492240" y="1737360"/>
            <a:ext cx="5212080" cy="274320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новости и отчеты компаний (Retail.ru, «Коммерсантъ», РБК)</a:t>
            </a:r>
            <a:endParaRPr lang="en-US" sz="1600" dirty="0"/>
          </a:p>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Росстат и Мосстат</a:t>
            </a:r>
            <a:endParaRPr lang="en-US" sz="1600" dirty="0"/>
          </a:p>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сайт Банка России</a:t>
            </a:r>
            <a:endParaRPr lang="en-US" sz="1600" dirty="0"/>
          </a:p>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тарифы на сайтах банков</a:t>
            </a:r>
            <a:endParaRPr lang="en-US" sz="1600" dirty="0"/>
          </a:p>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сайты самих конкурентов</a:t>
            </a:r>
            <a:endParaRPr lang="en-US" sz="1600" dirty="0"/>
          </a:p>
        </p:txBody>
      </p:sp>
      <p:sp>
        <p:nvSpPr>
          <p:cNvPr id="8" name="Shape 6"/>
          <p:cNvSpPr/>
          <p:nvPr/>
        </p:nvSpPr>
        <p:spPr>
          <a:xfrm>
            <a:off x="457200" y="4983480"/>
            <a:ext cx="11274552" cy="914400"/>
          </a:xfrm>
          <a:prstGeom prst="rect">
            <a:avLst/>
          </a:prstGeom>
          <a:solidFill>
            <a:srgbClr val="DAE3F3"/>
          </a:solidFill>
          <a:ln/>
        </p:spPr>
      </p:sp>
      <p:sp>
        <p:nvSpPr>
          <p:cNvPr id="9" name="Text 7"/>
          <p:cNvSpPr/>
          <p:nvPr/>
        </p:nvSpPr>
        <p:spPr>
          <a:xfrm>
            <a:off x="685800" y="4983480"/>
            <a:ext cx="10881360" cy="914400"/>
          </a:xfrm>
          <a:prstGeom prst="rect">
            <a:avLst/>
          </a:prstGeom>
          <a:noFill/>
          <a:ln/>
        </p:spPr>
        <p:txBody>
          <a:bodyPr wrap="square" lIns="0" tIns="0" rIns="0" bIns="0" rtlCol="0" anchor="ctr"/>
          <a:lstStyle/>
          <a:p>
            <a:pPr algn="l" indent="0" marL="0">
              <a:lnSpc>
                <a:spcPct val="105000"/>
              </a:lnSpc>
              <a:buNone/>
            </a:pPr>
            <a:r>
              <a:rPr lang="en-US" sz="1500" dirty="0">
                <a:solidFill>
                  <a:srgbClr val="262626"/>
                </a:solidFill>
                <a:latin typeface="Calibri" pitchFamily="34" charset="0"/>
                <a:ea typeface="Calibri" pitchFamily="34" charset="-122"/>
                <a:cs typeface="Calibri" pitchFamily="34" charset="-120"/>
              </a:rPr>
              <a:t>Сети не публикуют, сколько они продают именно текстиля, поэтому точную долю каждой посчитать нельзя. Вместо этого мы показываем размер компании: выручку и количество магазинов.</a:t>
            </a:r>
            <a:endParaRPr lang="en-US" sz="15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Рынок домашнего текстиля в России</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sp>
        <p:nvSpPr>
          <p:cNvPr id="4" name="Text 2"/>
          <p:cNvSpPr/>
          <p:nvPr/>
        </p:nvSpPr>
        <p:spPr>
          <a:xfrm>
            <a:off x="457200" y="1325880"/>
            <a:ext cx="6400800" cy="44805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Объем рынка в 2025 году – 350–400 млрд ₽, в 2026 году ожидают рост на 5–10 %</a:t>
            </a:r>
            <a:endParaRPr lang="en-US" sz="1600" dirty="0"/>
          </a:p>
          <a:p>
            <a:pPr marL="342900" indent="-342900">
              <a:lnSpc>
                <a:spcPct val="105000"/>
              </a:lnSpc>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Около трети покупок делают организации (гостиницы, больницы и др.), это примерно 110 млрд ₽</a:t>
            </a:r>
            <a:endParaRPr lang="en-US" sz="1600" dirty="0"/>
          </a:p>
          <a:p>
            <a:pPr marL="342900" indent="-342900">
              <a:lnSpc>
                <a:spcPct val="105000"/>
              </a:lnSpc>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Треть продаж уже идет через интернет, в основном через маркетплейсы</a:t>
            </a:r>
            <a:endParaRPr lang="en-US" sz="1600" dirty="0"/>
          </a:p>
          <a:p>
            <a:pPr marL="342900" indent="-342900">
              <a:lnSpc>
                <a:spcPct val="105000"/>
              </a:lnSpc>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Импорт растет: за 9 месяцев 2025 года ввезли 110 млн изделий (+14 %), а в России произвели 101 млн</a:t>
            </a:r>
            <a:endParaRPr lang="en-US" sz="1600" dirty="0"/>
          </a:p>
          <a:p>
            <a:pPr marL="342900" indent="-342900">
              <a:lnSpc>
                <a:spcPct val="105000"/>
              </a:lnSpc>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В Москве 1 864 гостиницы и других мест размещения, в Петербурге почти 400 гостиниц 3–5 звезд</a:t>
            </a:r>
            <a:endParaRPr lang="en-US" sz="1600" dirty="0"/>
          </a:p>
        </p:txBody>
      </p:sp>
      <p:graphicFrame>
        <p:nvGraphicFramePr>
          <p:cNvPr id="5" name="Chart 0" descr=""/>
          <p:cNvGraphicFramePr/>
          <p:nvPr/>
        </p:nvGraphicFramePr>
        <p:xfrm>
          <a:off x="7132320" y="1234440"/>
          <a:ext cx="4572000" cy="42062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457200" y="5897880"/>
            <a:ext cx="11274552" cy="320040"/>
          </a:xfrm>
          <a:prstGeom prst="rect">
            <a:avLst/>
          </a:prstGeom>
          <a:noFill/>
          <a:ln/>
        </p:spPr>
        <p:txBody>
          <a:bodyPr wrap="square" lIns="0" tIns="0" rIns="0" bIns="0" rtlCol="0" anchor="t"/>
          <a:lstStyle/>
          <a:p>
            <a:pPr algn="l" indent="0" marL="0">
              <a:lnSpc>
                <a:spcPct val="105000"/>
              </a:lnSpc>
              <a:buNone/>
            </a:pPr>
            <a:r>
              <a:rPr lang="en-US" sz="1100" i="1" dirty="0">
                <a:solidFill>
                  <a:srgbClr val="7F7F7F"/>
                </a:solidFill>
                <a:latin typeface="Calibri" pitchFamily="34" charset="0"/>
                <a:ea typeface="Calibri" pitchFamily="34" charset="-122"/>
                <a:cs typeface="Calibri" pitchFamily="34" charset="-120"/>
              </a:rPr>
              <a:t>Источники: Profile.ru, Mordor Intelligence, «Честный знак», Мосстат, Администрация Санкт-Петербурга</a:t>
            </a:r>
            <a:endParaRPr lang="en-US" sz="11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Карта конкурентов</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sp>
        <p:nvSpPr>
          <p:cNvPr id="4" name="Shape 2"/>
          <p:cNvSpPr/>
          <p:nvPr/>
        </p:nvSpPr>
        <p:spPr>
          <a:xfrm>
            <a:off x="1097280" y="5577840"/>
            <a:ext cx="7223760" cy="0"/>
          </a:xfrm>
          <a:prstGeom prst="line">
            <a:avLst/>
          </a:prstGeom>
          <a:noFill/>
          <a:ln w="19050">
            <a:solidFill>
              <a:srgbClr val="7F7F7F"/>
            </a:solidFill>
            <a:prstDash val="solid"/>
            <a:tailEnd type="triangle"/>
          </a:ln>
        </p:spPr>
      </p:sp>
      <p:sp>
        <p:nvSpPr>
          <p:cNvPr id="5" name="Shape 3"/>
          <p:cNvSpPr/>
          <p:nvPr/>
        </p:nvSpPr>
        <p:spPr>
          <a:xfrm>
            <a:off x="1097280" y="1371600"/>
            <a:ext cx="0" cy="4206240"/>
          </a:xfrm>
          <a:prstGeom prst="line">
            <a:avLst/>
          </a:prstGeom>
          <a:noFill/>
          <a:ln w="19050">
            <a:solidFill>
              <a:srgbClr val="7F7F7F"/>
            </a:solidFill>
            <a:prstDash val="solid"/>
            <a:headEnd type="triangle"/>
          </a:ln>
        </p:spPr>
      </p:sp>
      <p:sp>
        <p:nvSpPr>
          <p:cNvPr id="6" name="Text 4"/>
          <p:cNvSpPr/>
          <p:nvPr/>
        </p:nvSpPr>
        <p:spPr>
          <a:xfrm>
            <a:off x="1097280" y="5650992"/>
            <a:ext cx="1371600" cy="274320"/>
          </a:xfrm>
          <a:prstGeom prst="rect">
            <a:avLst/>
          </a:prstGeom>
          <a:noFill/>
          <a:ln/>
        </p:spPr>
        <p:txBody>
          <a:bodyPr wrap="square" lIns="0" tIns="0" rIns="0" bIns="0" rtlCol="0" anchor="t"/>
          <a:lstStyle/>
          <a:p>
            <a:pPr algn="l" indent="0" marL="0">
              <a:lnSpc>
                <a:spcPct val="105000"/>
              </a:lnSpc>
              <a:buNone/>
            </a:pPr>
            <a:r>
              <a:rPr lang="en-US" sz="1200" dirty="0">
                <a:solidFill>
                  <a:srgbClr val="7F7F7F"/>
                </a:solidFill>
                <a:latin typeface="Calibri" pitchFamily="34" charset="0"/>
                <a:ea typeface="Calibri" pitchFamily="34" charset="-122"/>
                <a:cs typeface="Calibri" pitchFamily="34" charset="-120"/>
              </a:rPr>
              <a:t>дешевле</a:t>
            </a:r>
            <a:endParaRPr lang="en-US" sz="1200" dirty="0"/>
          </a:p>
        </p:txBody>
      </p:sp>
      <p:sp>
        <p:nvSpPr>
          <p:cNvPr id="7" name="Text 5"/>
          <p:cNvSpPr/>
          <p:nvPr/>
        </p:nvSpPr>
        <p:spPr>
          <a:xfrm>
            <a:off x="6949440" y="5650992"/>
            <a:ext cx="1371600" cy="274320"/>
          </a:xfrm>
          <a:prstGeom prst="rect">
            <a:avLst/>
          </a:prstGeom>
          <a:noFill/>
          <a:ln/>
        </p:spPr>
        <p:txBody>
          <a:bodyPr wrap="square" lIns="0" tIns="0" rIns="0" bIns="0" rtlCol="0" anchor="t"/>
          <a:lstStyle/>
          <a:p>
            <a:pPr algn="r" indent="0" marL="0">
              <a:lnSpc>
                <a:spcPct val="105000"/>
              </a:lnSpc>
              <a:buNone/>
            </a:pPr>
            <a:r>
              <a:rPr lang="en-US" sz="1200" dirty="0">
                <a:solidFill>
                  <a:srgbClr val="7F7F7F"/>
                </a:solidFill>
                <a:latin typeface="Calibri" pitchFamily="34" charset="0"/>
                <a:ea typeface="Calibri" pitchFamily="34" charset="-122"/>
                <a:cs typeface="Calibri" pitchFamily="34" charset="-120"/>
              </a:rPr>
              <a:t>дороже</a:t>
            </a:r>
            <a:endParaRPr lang="en-US" sz="1200" dirty="0"/>
          </a:p>
        </p:txBody>
      </p:sp>
      <p:sp>
        <p:nvSpPr>
          <p:cNvPr id="8" name="Text 6"/>
          <p:cNvSpPr/>
          <p:nvPr/>
        </p:nvSpPr>
        <p:spPr>
          <a:xfrm rot="16200000">
            <a:off x="-685800" y="3319272"/>
            <a:ext cx="2926080" cy="310896"/>
          </a:xfrm>
          <a:prstGeom prst="rect">
            <a:avLst/>
          </a:prstGeom>
          <a:noFill/>
          <a:ln/>
        </p:spPr>
        <p:txBody>
          <a:bodyPr wrap="square" lIns="0" tIns="0" rIns="0" bIns="0" rtlCol="0" anchor="ctr"/>
          <a:lstStyle/>
          <a:p>
            <a:pPr algn="ctr" indent="0" marL="0">
              <a:buNone/>
            </a:pPr>
            <a:r>
              <a:rPr lang="en-US" sz="1200" dirty="0">
                <a:solidFill>
                  <a:srgbClr val="7F7F7F"/>
                </a:solidFill>
                <a:latin typeface="Calibri" pitchFamily="34" charset="0"/>
                <a:ea typeface="Calibri" pitchFamily="34" charset="-122"/>
                <a:cs typeface="Calibri" pitchFamily="34" charset="-120"/>
              </a:rPr>
              <a:t>работа с бизнесом</a:t>
            </a:r>
            <a:endParaRPr lang="en-US" sz="1200" dirty="0"/>
          </a:p>
        </p:txBody>
      </p:sp>
      <p:sp>
        <p:nvSpPr>
          <p:cNvPr id="9" name="Shape 7"/>
          <p:cNvSpPr/>
          <p:nvPr/>
        </p:nvSpPr>
        <p:spPr>
          <a:xfrm>
            <a:off x="1680667" y="5014570"/>
            <a:ext cx="182880" cy="182880"/>
          </a:xfrm>
          <a:prstGeom prst="ellipse">
            <a:avLst/>
          </a:prstGeom>
          <a:solidFill>
            <a:srgbClr val="2F5597"/>
          </a:solidFill>
          <a:ln/>
        </p:spPr>
      </p:sp>
      <p:sp>
        <p:nvSpPr>
          <p:cNvPr id="10" name="Text 8"/>
          <p:cNvSpPr/>
          <p:nvPr/>
        </p:nvSpPr>
        <p:spPr>
          <a:xfrm>
            <a:off x="1909267" y="4968850"/>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Fix Price, Familia</a:t>
            </a:r>
            <a:endParaRPr lang="en-US" sz="1200" dirty="0"/>
          </a:p>
        </p:txBody>
      </p:sp>
      <p:sp>
        <p:nvSpPr>
          <p:cNvPr id="11" name="Shape 9"/>
          <p:cNvSpPr/>
          <p:nvPr/>
        </p:nvSpPr>
        <p:spPr>
          <a:xfrm>
            <a:off x="2615184" y="4125773"/>
            <a:ext cx="182880" cy="182880"/>
          </a:xfrm>
          <a:prstGeom prst="ellipse">
            <a:avLst/>
          </a:prstGeom>
          <a:solidFill>
            <a:srgbClr val="2F5597"/>
          </a:solidFill>
          <a:ln/>
        </p:spPr>
      </p:sp>
      <p:sp>
        <p:nvSpPr>
          <p:cNvPr id="12" name="Text 10"/>
          <p:cNvSpPr/>
          <p:nvPr/>
        </p:nvSpPr>
        <p:spPr>
          <a:xfrm>
            <a:off x="2843784" y="4080053"/>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Ашан</a:t>
            </a:r>
            <a:endParaRPr lang="en-US" sz="1200" dirty="0"/>
          </a:p>
        </p:txBody>
      </p:sp>
      <p:sp>
        <p:nvSpPr>
          <p:cNvPr id="13" name="Shape 11"/>
          <p:cNvSpPr/>
          <p:nvPr/>
        </p:nvSpPr>
        <p:spPr>
          <a:xfrm>
            <a:off x="2014423" y="3401568"/>
            <a:ext cx="182880" cy="182880"/>
          </a:xfrm>
          <a:prstGeom prst="ellipse">
            <a:avLst/>
          </a:prstGeom>
          <a:solidFill>
            <a:srgbClr val="2F5597"/>
          </a:solidFill>
          <a:ln/>
        </p:spPr>
      </p:sp>
      <p:sp>
        <p:nvSpPr>
          <p:cNvPr id="14" name="Text 12"/>
          <p:cNvSpPr/>
          <p:nvPr/>
        </p:nvSpPr>
        <p:spPr>
          <a:xfrm>
            <a:off x="2243023" y="3355848"/>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Лента PRO</a:t>
            </a:r>
            <a:endParaRPr lang="en-US" sz="1200" dirty="0"/>
          </a:p>
        </p:txBody>
      </p:sp>
      <p:sp>
        <p:nvSpPr>
          <p:cNvPr id="15" name="Shape 13"/>
          <p:cNvSpPr/>
          <p:nvPr/>
        </p:nvSpPr>
        <p:spPr>
          <a:xfrm>
            <a:off x="3282696" y="3039466"/>
            <a:ext cx="182880" cy="182880"/>
          </a:xfrm>
          <a:prstGeom prst="ellipse">
            <a:avLst/>
          </a:prstGeom>
          <a:solidFill>
            <a:srgbClr val="2F5597"/>
          </a:solidFill>
          <a:ln/>
        </p:spPr>
      </p:sp>
      <p:sp>
        <p:nvSpPr>
          <p:cNvPr id="16" name="Text 14"/>
          <p:cNvSpPr/>
          <p:nvPr/>
        </p:nvSpPr>
        <p:spPr>
          <a:xfrm>
            <a:off x="3511296" y="2993746"/>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METRO</a:t>
            </a:r>
            <a:endParaRPr lang="en-US" sz="1200" dirty="0"/>
          </a:p>
        </p:txBody>
      </p:sp>
      <p:sp>
        <p:nvSpPr>
          <p:cNvPr id="17" name="Shape 15"/>
          <p:cNvSpPr/>
          <p:nvPr/>
        </p:nvSpPr>
        <p:spPr>
          <a:xfrm>
            <a:off x="3950208" y="4652467"/>
            <a:ext cx="182880" cy="182880"/>
          </a:xfrm>
          <a:prstGeom prst="ellipse">
            <a:avLst/>
          </a:prstGeom>
          <a:solidFill>
            <a:srgbClr val="2F5597"/>
          </a:solidFill>
          <a:ln/>
        </p:spPr>
      </p:sp>
      <p:sp>
        <p:nvSpPr>
          <p:cNvPr id="18" name="Text 16"/>
          <p:cNvSpPr/>
          <p:nvPr/>
        </p:nvSpPr>
        <p:spPr>
          <a:xfrm>
            <a:off x="4178808" y="4606747"/>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Hoff, Лемана ПРО</a:t>
            </a:r>
            <a:endParaRPr lang="en-US" sz="1200" dirty="0"/>
          </a:p>
        </p:txBody>
      </p:sp>
      <p:sp>
        <p:nvSpPr>
          <p:cNvPr id="19" name="Shape 17"/>
          <p:cNvSpPr/>
          <p:nvPr/>
        </p:nvSpPr>
        <p:spPr>
          <a:xfrm>
            <a:off x="4951476" y="4948733"/>
            <a:ext cx="182880" cy="182880"/>
          </a:xfrm>
          <a:prstGeom prst="ellipse">
            <a:avLst/>
          </a:prstGeom>
          <a:solidFill>
            <a:srgbClr val="2F5597"/>
          </a:solidFill>
          <a:ln/>
        </p:spPr>
      </p:sp>
      <p:sp>
        <p:nvSpPr>
          <p:cNvPr id="20" name="Text 18"/>
          <p:cNvSpPr/>
          <p:nvPr/>
        </p:nvSpPr>
        <p:spPr>
          <a:xfrm>
            <a:off x="5180076" y="4903013"/>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Cozy Home</a:t>
            </a:r>
            <a:endParaRPr lang="en-US" sz="1200" dirty="0"/>
          </a:p>
        </p:txBody>
      </p:sp>
      <p:sp>
        <p:nvSpPr>
          <p:cNvPr id="21" name="Shape 19"/>
          <p:cNvSpPr/>
          <p:nvPr/>
        </p:nvSpPr>
        <p:spPr>
          <a:xfrm>
            <a:off x="5285232" y="3566160"/>
            <a:ext cx="182880" cy="182880"/>
          </a:xfrm>
          <a:prstGeom prst="ellipse">
            <a:avLst/>
          </a:prstGeom>
          <a:solidFill>
            <a:srgbClr val="2F5597"/>
          </a:solidFill>
          <a:ln/>
        </p:spPr>
      </p:sp>
      <p:sp>
        <p:nvSpPr>
          <p:cNvPr id="22" name="Text 20"/>
          <p:cNvSpPr/>
          <p:nvPr/>
        </p:nvSpPr>
        <p:spPr>
          <a:xfrm>
            <a:off x="5513832" y="3520440"/>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Askona</a:t>
            </a:r>
            <a:endParaRPr lang="en-US" sz="1200" dirty="0"/>
          </a:p>
        </p:txBody>
      </p:sp>
      <p:sp>
        <p:nvSpPr>
          <p:cNvPr id="23" name="Shape 21"/>
          <p:cNvSpPr/>
          <p:nvPr/>
        </p:nvSpPr>
        <p:spPr>
          <a:xfrm>
            <a:off x="6820510" y="4817059"/>
            <a:ext cx="182880" cy="182880"/>
          </a:xfrm>
          <a:prstGeom prst="ellipse">
            <a:avLst/>
          </a:prstGeom>
          <a:solidFill>
            <a:srgbClr val="2F5597"/>
          </a:solidFill>
          <a:ln/>
        </p:spPr>
      </p:sp>
      <p:sp>
        <p:nvSpPr>
          <p:cNvPr id="24" name="Text 22"/>
          <p:cNvSpPr/>
          <p:nvPr/>
        </p:nvSpPr>
        <p:spPr>
          <a:xfrm>
            <a:off x="4900270" y="4771339"/>
            <a:ext cx="1874520" cy="274320"/>
          </a:xfrm>
          <a:prstGeom prst="rect">
            <a:avLst/>
          </a:prstGeom>
          <a:noFill/>
          <a:ln/>
        </p:spPr>
        <p:txBody>
          <a:bodyPr wrap="square" lIns="0" tIns="0" rIns="0" bIns="0" rtlCol="0" anchor="ctr"/>
          <a:lstStyle/>
          <a:p>
            <a:pPr algn="r" indent="0" marL="0">
              <a:lnSpc>
                <a:spcPct val="105000"/>
              </a:lnSpc>
              <a:buNone/>
            </a:pPr>
            <a:r>
              <a:rPr lang="en-US" sz="1200" dirty="0">
                <a:solidFill>
                  <a:srgbClr val="262626"/>
                </a:solidFill>
                <a:latin typeface="Calibri" pitchFamily="34" charset="0"/>
                <a:ea typeface="Calibri" pitchFamily="34" charset="-122"/>
                <a:cs typeface="Calibri" pitchFamily="34" charset="-120"/>
              </a:rPr>
              <a:t>Togas</a:t>
            </a:r>
            <a:endParaRPr lang="en-US" sz="1200" dirty="0"/>
          </a:p>
        </p:txBody>
      </p:sp>
      <p:sp>
        <p:nvSpPr>
          <p:cNvPr id="25" name="Shape 23"/>
          <p:cNvSpPr/>
          <p:nvPr/>
        </p:nvSpPr>
        <p:spPr>
          <a:xfrm>
            <a:off x="3015691" y="2578608"/>
            <a:ext cx="182880" cy="182880"/>
          </a:xfrm>
          <a:prstGeom prst="ellipse">
            <a:avLst/>
          </a:prstGeom>
          <a:solidFill>
            <a:srgbClr val="ED7D31"/>
          </a:solidFill>
          <a:ln/>
        </p:spPr>
      </p:sp>
      <p:sp>
        <p:nvSpPr>
          <p:cNvPr id="26" name="Text 24"/>
          <p:cNvSpPr/>
          <p:nvPr/>
        </p:nvSpPr>
        <p:spPr>
          <a:xfrm>
            <a:off x="3244291" y="2532888"/>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Фабрики Иваново</a:t>
            </a:r>
            <a:endParaRPr lang="en-US" sz="1200" dirty="0"/>
          </a:p>
        </p:txBody>
      </p:sp>
      <p:sp>
        <p:nvSpPr>
          <p:cNvPr id="27" name="Shape 25"/>
          <p:cNvSpPr/>
          <p:nvPr/>
        </p:nvSpPr>
        <p:spPr>
          <a:xfrm>
            <a:off x="1613916" y="2841955"/>
            <a:ext cx="182880" cy="182880"/>
          </a:xfrm>
          <a:prstGeom prst="ellipse">
            <a:avLst/>
          </a:prstGeom>
          <a:solidFill>
            <a:srgbClr val="ED7D31"/>
          </a:solidFill>
          <a:ln/>
        </p:spPr>
      </p:sp>
      <p:sp>
        <p:nvSpPr>
          <p:cNvPr id="28" name="Text 26"/>
          <p:cNvSpPr/>
          <p:nvPr/>
        </p:nvSpPr>
        <p:spPr>
          <a:xfrm>
            <a:off x="1842516" y="2796235"/>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Медтекстиль</a:t>
            </a:r>
            <a:endParaRPr lang="en-US" sz="1200" dirty="0"/>
          </a:p>
        </p:txBody>
      </p:sp>
      <p:sp>
        <p:nvSpPr>
          <p:cNvPr id="29" name="Shape 27"/>
          <p:cNvSpPr/>
          <p:nvPr/>
        </p:nvSpPr>
        <p:spPr>
          <a:xfrm>
            <a:off x="4417466" y="2578608"/>
            <a:ext cx="182880" cy="182880"/>
          </a:xfrm>
          <a:prstGeom prst="ellipse">
            <a:avLst/>
          </a:prstGeom>
          <a:solidFill>
            <a:srgbClr val="ED7D31"/>
          </a:solidFill>
          <a:ln/>
        </p:spPr>
      </p:sp>
      <p:sp>
        <p:nvSpPr>
          <p:cNvPr id="30" name="Text 28"/>
          <p:cNvSpPr/>
          <p:nvPr/>
        </p:nvSpPr>
        <p:spPr>
          <a:xfrm>
            <a:off x="4646066" y="2532888"/>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«Атмосфера», «Прооттель»</a:t>
            </a:r>
            <a:endParaRPr lang="en-US" sz="1200" dirty="0"/>
          </a:p>
        </p:txBody>
      </p:sp>
      <p:sp>
        <p:nvSpPr>
          <p:cNvPr id="31" name="Shape 29"/>
          <p:cNvSpPr/>
          <p:nvPr/>
        </p:nvSpPr>
        <p:spPr>
          <a:xfrm>
            <a:off x="7020763" y="4125773"/>
            <a:ext cx="182880" cy="182880"/>
          </a:xfrm>
          <a:prstGeom prst="ellipse">
            <a:avLst/>
          </a:prstGeom>
          <a:solidFill>
            <a:srgbClr val="ED7D31"/>
          </a:solidFill>
          <a:ln/>
        </p:spPr>
      </p:sp>
      <p:sp>
        <p:nvSpPr>
          <p:cNvPr id="32" name="Text 30"/>
          <p:cNvSpPr/>
          <p:nvPr/>
        </p:nvSpPr>
        <p:spPr>
          <a:xfrm>
            <a:off x="5100523" y="4080053"/>
            <a:ext cx="1874520" cy="274320"/>
          </a:xfrm>
          <a:prstGeom prst="rect">
            <a:avLst/>
          </a:prstGeom>
          <a:noFill/>
          <a:ln/>
        </p:spPr>
        <p:txBody>
          <a:bodyPr wrap="square" lIns="0" tIns="0" rIns="0" bIns="0" rtlCol="0" anchor="ctr"/>
          <a:lstStyle/>
          <a:p>
            <a:pPr algn="r" indent="0" marL="0">
              <a:lnSpc>
                <a:spcPct val="105000"/>
              </a:lnSpc>
              <a:buNone/>
            </a:pPr>
            <a:r>
              <a:rPr lang="en-US" sz="1200" dirty="0">
                <a:solidFill>
                  <a:srgbClr val="262626"/>
                </a:solidFill>
                <a:latin typeface="Calibri" pitchFamily="34" charset="0"/>
                <a:ea typeface="Calibri" pitchFamily="34" charset="-122"/>
                <a:cs typeface="Calibri" pitchFamily="34" charset="-120"/>
              </a:rPr>
              <a:t>Frette, Sofi de Marko</a:t>
            </a:r>
            <a:endParaRPr lang="en-US" sz="1200" dirty="0"/>
          </a:p>
        </p:txBody>
      </p:sp>
      <p:sp>
        <p:nvSpPr>
          <p:cNvPr id="33" name="Shape 31"/>
          <p:cNvSpPr/>
          <p:nvPr/>
        </p:nvSpPr>
        <p:spPr>
          <a:xfrm>
            <a:off x="3816706" y="3796589"/>
            <a:ext cx="182880" cy="182880"/>
          </a:xfrm>
          <a:prstGeom prst="ellipse">
            <a:avLst/>
          </a:prstGeom>
          <a:solidFill>
            <a:srgbClr val="A5A5A5"/>
          </a:solidFill>
          <a:ln/>
        </p:spPr>
      </p:sp>
      <p:sp>
        <p:nvSpPr>
          <p:cNvPr id="34" name="Text 32"/>
          <p:cNvSpPr/>
          <p:nvPr/>
        </p:nvSpPr>
        <p:spPr>
          <a:xfrm>
            <a:off x="4045306" y="3750869"/>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WB, Ozon, Яндекс Маркет</a:t>
            </a:r>
            <a:endParaRPr lang="en-US" sz="1200" dirty="0"/>
          </a:p>
        </p:txBody>
      </p:sp>
      <p:sp>
        <p:nvSpPr>
          <p:cNvPr id="35" name="Shape 33"/>
          <p:cNvSpPr/>
          <p:nvPr/>
        </p:nvSpPr>
        <p:spPr>
          <a:xfrm>
            <a:off x="5952744" y="3039466"/>
            <a:ext cx="182880" cy="182880"/>
          </a:xfrm>
          <a:prstGeom prst="ellipse">
            <a:avLst/>
          </a:prstGeom>
          <a:solidFill>
            <a:srgbClr val="A5A5A5"/>
          </a:solidFill>
          <a:ln/>
        </p:spPr>
      </p:sp>
      <p:sp>
        <p:nvSpPr>
          <p:cNvPr id="36" name="Text 34"/>
          <p:cNvSpPr/>
          <p:nvPr/>
        </p:nvSpPr>
        <p:spPr>
          <a:xfrm>
            <a:off x="6181344" y="2993746"/>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Аренда белья</a:t>
            </a:r>
            <a:endParaRPr lang="en-US" sz="1200" dirty="0"/>
          </a:p>
        </p:txBody>
      </p:sp>
      <p:sp>
        <p:nvSpPr>
          <p:cNvPr id="37" name="Shape 35"/>
          <p:cNvSpPr/>
          <p:nvPr/>
        </p:nvSpPr>
        <p:spPr>
          <a:xfrm>
            <a:off x="2348179" y="4422038"/>
            <a:ext cx="182880" cy="182880"/>
          </a:xfrm>
          <a:prstGeom prst="ellipse">
            <a:avLst/>
          </a:prstGeom>
          <a:solidFill>
            <a:srgbClr val="A5A5A5"/>
          </a:solidFill>
          <a:ln/>
        </p:spPr>
      </p:sp>
      <p:sp>
        <p:nvSpPr>
          <p:cNvPr id="38" name="Text 36"/>
          <p:cNvSpPr/>
          <p:nvPr/>
        </p:nvSpPr>
        <p:spPr>
          <a:xfrm>
            <a:off x="2576779" y="4376318"/>
            <a:ext cx="1874520" cy="274320"/>
          </a:xfrm>
          <a:prstGeom prst="rect">
            <a:avLst/>
          </a:prstGeom>
          <a:noFill/>
          <a:ln/>
        </p:spPr>
        <p:txBody>
          <a:bodyPr wrap="square" lIns="0" tIns="0" rIns="0" bIns="0" rtlCol="0" anchor="ctr"/>
          <a:lstStyle/>
          <a:p>
            <a:pPr algn="l" indent="0" marL="0">
              <a:lnSpc>
                <a:spcPct val="105000"/>
              </a:lnSpc>
              <a:buNone/>
            </a:pPr>
            <a:r>
              <a:rPr lang="en-US" sz="1200" dirty="0">
                <a:solidFill>
                  <a:srgbClr val="262626"/>
                </a:solidFill>
                <a:latin typeface="Calibri" pitchFamily="34" charset="0"/>
                <a:ea typeface="Calibri" pitchFamily="34" charset="-122"/>
                <a:cs typeface="Calibri" pitchFamily="34" charset="-120"/>
              </a:rPr>
              <a:t>Оптовые склады</a:t>
            </a:r>
            <a:endParaRPr lang="en-US" sz="1200" dirty="0"/>
          </a:p>
        </p:txBody>
      </p:sp>
      <p:sp>
        <p:nvSpPr>
          <p:cNvPr id="39" name="Shape 37"/>
          <p:cNvSpPr/>
          <p:nvPr/>
        </p:nvSpPr>
        <p:spPr>
          <a:xfrm>
            <a:off x="5327294" y="1762963"/>
            <a:ext cx="365760" cy="365760"/>
          </a:xfrm>
          <a:prstGeom prst="star5">
            <a:avLst/>
          </a:prstGeom>
          <a:solidFill>
            <a:srgbClr val="FFC000"/>
          </a:solidFill>
          <a:ln w="9525">
            <a:solidFill>
              <a:srgbClr val="BF9000"/>
            </a:solidFill>
            <a:prstDash val="solid"/>
          </a:ln>
        </p:spPr>
      </p:sp>
      <p:sp>
        <p:nvSpPr>
          <p:cNvPr id="40" name="Text 38"/>
          <p:cNvSpPr/>
          <p:nvPr/>
        </p:nvSpPr>
        <p:spPr>
          <a:xfrm>
            <a:off x="5738774" y="1790395"/>
            <a:ext cx="2011680" cy="310896"/>
          </a:xfrm>
          <a:prstGeom prst="rect">
            <a:avLst/>
          </a:prstGeom>
          <a:noFill/>
          <a:ln/>
        </p:spPr>
        <p:txBody>
          <a:bodyPr wrap="square" lIns="0" tIns="0" rIns="0" bIns="0" rtlCol="0" anchor="ctr"/>
          <a:lstStyle/>
          <a:p>
            <a:pPr algn="l" indent="0" marL="0">
              <a:lnSpc>
                <a:spcPct val="105000"/>
              </a:lnSpc>
              <a:buNone/>
            </a:pPr>
            <a:r>
              <a:rPr lang="en-US" sz="1300" b="1" dirty="0">
                <a:solidFill>
                  <a:srgbClr val="262626"/>
                </a:solidFill>
                <a:latin typeface="Calibri" pitchFamily="34" charset="0"/>
                <a:ea typeface="Calibri" pitchFamily="34" charset="-122"/>
                <a:cs typeface="Calibri" pitchFamily="34" charset="-120"/>
              </a:rPr>
              <a:t>Наша площадка</a:t>
            </a:r>
            <a:endParaRPr lang="en-US" sz="1300" dirty="0"/>
          </a:p>
        </p:txBody>
      </p:sp>
      <p:sp>
        <p:nvSpPr>
          <p:cNvPr id="41" name="Shape 39"/>
          <p:cNvSpPr/>
          <p:nvPr/>
        </p:nvSpPr>
        <p:spPr>
          <a:xfrm>
            <a:off x="8915400" y="1481328"/>
            <a:ext cx="182880" cy="182880"/>
          </a:xfrm>
          <a:prstGeom prst="ellipse">
            <a:avLst/>
          </a:prstGeom>
          <a:solidFill>
            <a:srgbClr val="2F5597"/>
          </a:solidFill>
          <a:ln/>
        </p:spPr>
      </p:sp>
      <p:sp>
        <p:nvSpPr>
          <p:cNvPr id="42" name="Text 40"/>
          <p:cNvSpPr/>
          <p:nvPr/>
        </p:nvSpPr>
        <p:spPr>
          <a:xfrm>
            <a:off x="9189720" y="1417320"/>
            <a:ext cx="2468880" cy="310896"/>
          </a:xfrm>
          <a:prstGeom prst="rect">
            <a:avLst/>
          </a:prstGeom>
          <a:noFill/>
          <a:ln/>
        </p:spPr>
        <p:txBody>
          <a:bodyPr wrap="square" lIns="0" tIns="0" rIns="0" bIns="0" rtlCol="0" anchor="ctr"/>
          <a:lstStyle/>
          <a:p>
            <a:pPr algn="l" indent="0" marL="0">
              <a:lnSpc>
                <a:spcPct val="105000"/>
              </a:lnSpc>
              <a:buNone/>
            </a:pPr>
            <a:r>
              <a:rPr lang="en-US" sz="1400" dirty="0">
                <a:solidFill>
                  <a:srgbClr val="262626"/>
                </a:solidFill>
                <a:latin typeface="Calibri" pitchFamily="34" charset="0"/>
                <a:ea typeface="Calibri" pitchFamily="34" charset="-122"/>
                <a:cs typeface="Calibri" pitchFamily="34" charset="-120"/>
              </a:rPr>
              <a:t>Прямые сетевые</a:t>
            </a:r>
            <a:endParaRPr lang="en-US" sz="1400" dirty="0"/>
          </a:p>
        </p:txBody>
      </p:sp>
      <p:sp>
        <p:nvSpPr>
          <p:cNvPr id="43" name="Shape 41"/>
          <p:cNvSpPr/>
          <p:nvPr/>
        </p:nvSpPr>
        <p:spPr>
          <a:xfrm>
            <a:off x="8915400" y="1865376"/>
            <a:ext cx="182880" cy="182880"/>
          </a:xfrm>
          <a:prstGeom prst="ellipse">
            <a:avLst/>
          </a:prstGeom>
          <a:solidFill>
            <a:srgbClr val="ED7D31"/>
          </a:solidFill>
          <a:ln/>
        </p:spPr>
      </p:sp>
      <p:sp>
        <p:nvSpPr>
          <p:cNvPr id="44" name="Text 42"/>
          <p:cNvSpPr/>
          <p:nvPr/>
        </p:nvSpPr>
        <p:spPr>
          <a:xfrm>
            <a:off x="9189720" y="1801368"/>
            <a:ext cx="2468880" cy="310896"/>
          </a:xfrm>
          <a:prstGeom prst="rect">
            <a:avLst/>
          </a:prstGeom>
          <a:noFill/>
          <a:ln/>
        </p:spPr>
        <p:txBody>
          <a:bodyPr wrap="square" lIns="0" tIns="0" rIns="0" bIns="0" rtlCol="0" anchor="ctr"/>
          <a:lstStyle/>
          <a:p>
            <a:pPr algn="l" indent="0" marL="0">
              <a:lnSpc>
                <a:spcPct val="105000"/>
              </a:lnSpc>
              <a:buNone/>
            </a:pPr>
            <a:r>
              <a:rPr lang="en-US" sz="1400" dirty="0">
                <a:solidFill>
                  <a:srgbClr val="262626"/>
                </a:solidFill>
                <a:latin typeface="Calibri" pitchFamily="34" charset="0"/>
                <a:ea typeface="Calibri" pitchFamily="34" charset="-122"/>
                <a:cs typeface="Calibri" pitchFamily="34" charset="-120"/>
              </a:rPr>
              <a:t>Прямые несетевые</a:t>
            </a:r>
            <a:endParaRPr lang="en-US" sz="1400" dirty="0"/>
          </a:p>
        </p:txBody>
      </p:sp>
      <p:sp>
        <p:nvSpPr>
          <p:cNvPr id="45" name="Shape 43"/>
          <p:cNvSpPr/>
          <p:nvPr/>
        </p:nvSpPr>
        <p:spPr>
          <a:xfrm>
            <a:off x="8915400" y="2249424"/>
            <a:ext cx="182880" cy="182880"/>
          </a:xfrm>
          <a:prstGeom prst="ellipse">
            <a:avLst/>
          </a:prstGeom>
          <a:solidFill>
            <a:srgbClr val="A5A5A5"/>
          </a:solidFill>
          <a:ln/>
        </p:spPr>
      </p:sp>
      <p:sp>
        <p:nvSpPr>
          <p:cNvPr id="46" name="Text 44"/>
          <p:cNvSpPr/>
          <p:nvPr/>
        </p:nvSpPr>
        <p:spPr>
          <a:xfrm>
            <a:off x="9189720" y="2185416"/>
            <a:ext cx="2468880" cy="310896"/>
          </a:xfrm>
          <a:prstGeom prst="rect">
            <a:avLst/>
          </a:prstGeom>
          <a:noFill/>
          <a:ln/>
        </p:spPr>
        <p:txBody>
          <a:bodyPr wrap="square" lIns="0" tIns="0" rIns="0" bIns="0" rtlCol="0" anchor="ctr"/>
          <a:lstStyle/>
          <a:p>
            <a:pPr algn="l" indent="0" marL="0">
              <a:lnSpc>
                <a:spcPct val="105000"/>
              </a:lnSpc>
              <a:buNone/>
            </a:pPr>
            <a:r>
              <a:rPr lang="en-US" sz="1400" dirty="0">
                <a:solidFill>
                  <a:srgbClr val="262626"/>
                </a:solidFill>
                <a:latin typeface="Calibri" pitchFamily="34" charset="0"/>
                <a:ea typeface="Calibri" pitchFamily="34" charset="-122"/>
                <a:cs typeface="Calibri" pitchFamily="34" charset="-120"/>
              </a:rPr>
              <a:t>Непрямые</a:t>
            </a:r>
            <a:endParaRPr lang="en-US" sz="1400" dirty="0"/>
          </a:p>
        </p:txBody>
      </p:sp>
      <p:sp>
        <p:nvSpPr>
          <p:cNvPr id="47" name="Text 45"/>
          <p:cNvSpPr/>
          <p:nvPr/>
        </p:nvSpPr>
        <p:spPr>
          <a:xfrm>
            <a:off x="8915400" y="2743200"/>
            <a:ext cx="2834640" cy="1737360"/>
          </a:xfrm>
          <a:prstGeom prst="rect">
            <a:avLst/>
          </a:prstGeom>
          <a:noFill/>
          <a:ln/>
        </p:spPr>
        <p:txBody>
          <a:bodyPr wrap="square" lIns="0" tIns="0" rIns="0" bIns="0" rtlCol="0" anchor="t"/>
          <a:lstStyle/>
          <a:p>
            <a:pPr algn="l" indent="0" marL="0">
              <a:lnSpc>
                <a:spcPct val="105000"/>
              </a:lnSpc>
              <a:buNone/>
            </a:pPr>
            <a:r>
              <a:rPr lang="en-US" sz="1300" dirty="0">
                <a:solidFill>
                  <a:srgbClr val="262626"/>
                </a:solidFill>
                <a:latin typeface="Calibri" pitchFamily="34" charset="0"/>
                <a:ea typeface="Calibri" pitchFamily="34" charset="-122"/>
                <a:cs typeface="Calibri" pitchFamily="34" charset="-120"/>
              </a:rPr>
              <a:t>Мы расположили компании по двум признакам: насколько дорогой у них текстиль и насколько им удобно работать с организациями (счет, документы, доставка, пошив).</a:t>
            </a:r>
            <a:endParaRPr lang="en-US" sz="1300" dirty="0"/>
          </a:p>
        </p:txBody>
      </p:sp>
      <p:sp>
        <p:nvSpPr>
          <p:cNvPr id="48" name="Text 46"/>
          <p:cNvSpPr/>
          <p:nvPr/>
        </p:nvSpPr>
        <p:spPr>
          <a:xfrm>
            <a:off x="8915400" y="4343400"/>
            <a:ext cx="2834640" cy="1554480"/>
          </a:xfrm>
          <a:prstGeom prst="rect">
            <a:avLst/>
          </a:prstGeom>
          <a:noFill/>
          <a:ln/>
        </p:spPr>
        <p:txBody>
          <a:bodyPr wrap="square" lIns="0" tIns="0" rIns="0" bIns="0" rtlCol="0" anchor="t"/>
          <a:lstStyle/>
          <a:p>
            <a:pPr algn="l" indent="0" marL="0">
              <a:lnSpc>
                <a:spcPct val="105000"/>
              </a:lnSpc>
              <a:buNone/>
            </a:pPr>
            <a:r>
              <a:rPr lang="en-US" sz="1300" b="1" dirty="0">
                <a:solidFill>
                  <a:srgbClr val="262626"/>
                </a:solidFill>
                <a:latin typeface="Calibri" pitchFamily="34" charset="0"/>
                <a:ea typeface="Calibri" pitchFamily="34" charset="-122"/>
                <a:cs typeface="Calibri" pitchFamily="34" charset="-120"/>
              </a:rPr>
              <a:t>Наверху карты компаний мало. С организациями работают METRO, фабрики Иваново и прачечные с арендой белья, но каждая закрывает только часть задач.</a:t>
            </a:r>
            <a:endParaRPr lang="en-US" sz="13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Прямые сетевые конкуренты</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148840"/>
                <a:gridCol w="1920240"/>
                <a:gridCol w="2606040"/>
                <a:gridCol w="2514600"/>
                <a:gridCol w="2084832"/>
              </a:tblGrid>
              <a:tr h="4572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Компания</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Формат</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Условия для бизнеса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Масштаб</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Минусы для гостиницы</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r>
              <a:tr h="45720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METRO C&amp;C</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мелкооптовые центры</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доставка, отсрочка, личный менеджер</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93 центра в 51 регионе, выручка 260 млрд ₽</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нет белья под гостиничные требования</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«Лента» (Лента PRO)</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гипермаркеты</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200 тыс. бизнес-клиентов, из них 20 % – гостиницы и рестораны</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269 гипермаркетов, сильна в Петербурге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текстиль продается «между делом»</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45720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Ашан</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гипермаркеты</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доставка для бизнеса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непродовольственные товары – 13–15 % продаж</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ассортимент текстиля сокращается</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Askona</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товары для сна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программа для отелей с 2025 года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около 860 салонов</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в основном подушки и одеяла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45720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Togas</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премиальные магазины</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нет</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более 68 магазинов</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розничные цены</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Cozy Home</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текстиль для дома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нет</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около 115 магазинов, 10 в Петербурге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только розница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45720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Fix Price, Familia</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недорогие магазины</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нет</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7 818 и 495 магазинов</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ассортимент каждый раз разный</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Hoff, «Лемана ПРО»</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товары для дома и ремонта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нет данных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72 и около 112 магазинов</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текстиль у них второстепенный</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45720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«Ивановский текстиль» и похожие сети</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магазины фабричного текстиля</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частично опт</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по 3–8 магазинов в городе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нет документов для юрлиц</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p:nvPr/>
        </p:nvSpPr>
        <p:spPr>
          <a:xfrm>
            <a:off x="457200" y="5943600"/>
            <a:ext cx="11274552" cy="320040"/>
          </a:xfrm>
          <a:prstGeom prst="rect">
            <a:avLst/>
          </a:prstGeom>
          <a:noFill/>
          <a:ln/>
        </p:spPr>
        <p:txBody>
          <a:bodyPr wrap="square" lIns="0" tIns="0" rIns="0" bIns="0" rtlCol="0" anchor="t"/>
          <a:lstStyle/>
          <a:p>
            <a:pPr algn="l" indent="0" marL="0">
              <a:lnSpc>
                <a:spcPct val="105000"/>
              </a:lnSpc>
              <a:buNone/>
            </a:pPr>
            <a:r>
              <a:rPr lang="en-US" sz="1100" i="1" dirty="0">
                <a:solidFill>
                  <a:srgbClr val="7F7F7F"/>
                </a:solidFill>
                <a:latin typeface="Calibri" pitchFamily="34" charset="0"/>
                <a:ea typeface="Calibri" pitchFamily="34" charset="-122"/>
                <a:cs typeface="Calibri" pitchFamily="34" charset="-120"/>
              </a:rPr>
              <a:t>Выручка METRO и «Ленты» – за 2025 год. Источники: отчеты компаний, Retail.ru, New Retail, 2ГИС, Zoon</a:t>
            </a:r>
            <a:endParaRPr lang="en-US" sz="11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Прямые несетевые конкуренты</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743200"/>
                <a:gridCol w="2743200"/>
                <a:gridCol w="1783080"/>
                <a:gridCol w="1874520"/>
                <a:gridCol w="2130552"/>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Компания</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Что предлагают</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Где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Плюсы</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Минусы</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Фабрики Иваново (Престиж Текстиль, Ив-текстиль, Мактекс, СонТекс и др.)</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белье и полотенца для гостиниц и больниц, шьют по размерам</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Иваново, доставка по России</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цены производителя</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у каждой свой ассортимент, заказ по телефону и почте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ГК «Атмосфера»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текстиль для гостиниц под ключ, заказ от 45 тыс. ₽</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вся Россия и СНГ</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все сразу у одного поставщика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заявленный масштаб не подтверждается</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«Прооттель»</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все для гостиниц, включая текстиль</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Москва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один поставщик на все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текстиль у них не главное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СтильБ, СаНата-Текстиль, Cotton-Line</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текстиль и одежда для больниц</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Иваново, Москва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умеют участвовать в тендерах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работают только с медициной</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Frette</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итальянское белье класса люкс</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ЦУМ, Москва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эталон для отелей 5 звезд</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очень дорого</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Sofi de Marko</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российский премиальный бренд</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2–3 магазина в Москве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известный бренд</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маленький масштаб</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bl>
          </a:graphicData>
        </a:graphic>
      </p:graphicFrame>
      <p:sp>
        <p:nvSpPr>
          <p:cNvPr id="5" name="Text 2"/>
          <p:cNvSpPr/>
          <p:nvPr/>
        </p:nvSpPr>
        <p:spPr>
          <a:xfrm>
            <a:off x="457200" y="5440680"/>
            <a:ext cx="11274552" cy="411480"/>
          </a:xfrm>
          <a:prstGeom prst="rect">
            <a:avLst/>
          </a:prstGeom>
          <a:noFill/>
          <a:ln/>
        </p:spPr>
        <p:txBody>
          <a:bodyPr wrap="square" lIns="0" tIns="0" rIns="0" bIns="0" rtlCol="0" anchor="t"/>
          <a:lstStyle/>
          <a:p>
            <a:pPr algn="l" indent="0" marL="0">
              <a:lnSpc>
                <a:spcPct val="105000"/>
              </a:lnSpc>
              <a:buNone/>
            </a:pPr>
            <a:r>
              <a:rPr lang="en-US" sz="1500" b="1" dirty="0">
                <a:solidFill>
                  <a:srgbClr val="262626"/>
                </a:solidFill>
                <a:latin typeface="Calibri" pitchFamily="34" charset="0"/>
                <a:ea typeface="Calibri" pitchFamily="34" charset="-122"/>
                <a:cs typeface="Calibri" pitchFamily="34" charset="-120"/>
              </a:rPr>
              <a:t>Самые сильные конкуренты в этой группе – фабрики Иваново: они уже работают с гостиницами и больницами.</a:t>
            </a:r>
            <a:endParaRPr lang="en-US" sz="1500" dirty="0"/>
          </a:p>
        </p:txBody>
      </p:sp>
      <p:sp>
        <p:nvSpPr>
          <p:cNvPr id="6" name="Text 3"/>
          <p:cNvSpPr/>
          <p:nvPr/>
        </p:nvSpPr>
        <p:spPr>
          <a:xfrm>
            <a:off x="457200" y="5943600"/>
            <a:ext cx="11274552" cy="320040"/>
          </a:xfrm>
          <a:prstGeom prst="rect">
            <a:avLst/>
          </a:prstGeom>
          <a:noFill/>
          <a:ln/>
        </p:spPr>
        <p:txBody>
          <a:bodyPr wrap="square" lIns="0" tIns="0" rIns="0" bIns="0" rtlCol="0" anchor="t"/>
          <a:lstStyle/>
          <a:p>
            <a:pPr algn="l" indent="0" marL="0">
              <a:lnSpc>
                <a:spcPct val="105000"/>
              </a:lnSpc>
              <a:buNone/>
            </a:pPr>
            <a:r>
              <a:rPr lang="en-US" sz="1100" i="1" dirty="0">
                <a:solidFill>
                  <a:srgbClr val="7F7F7F"/>
                </a:solidFill>
                <a:latin typeface="Calibri" pitchFamily="34" charset="0"/>
                <a:ea typeface="Calibri" pitchFamily="34" charset="-122"/>
                <a:cs typeface="Calibri" pitchFamily="34" charset="-120"/>
              </a:rPr>
              <a:t>Источники: сайты компаний, productcenter.ru, ЦУМ</a:t>
            </a:r>
            <a:endParaRPr lang="en-US" sz="11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Непрямые конкуренты</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108960"/>
                <a:gridCol w="3291840"/>
                <a:gridCol w="2606040"/>
                <a:gridCol w="2267712"/>
              </a:tblGrid>
              <a:tr h="5486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Компания</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Что предлагает бизнесу</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Масштаб</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Чем опасна для нас</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r>
              <a:tr h="54864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Wildberries</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с июня 2025 года покупки для компаний: оплата со счета, цены с НДС</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оборот 6,1 трлн ₽ за 2025 год</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огромный выбор и быстрая доставка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Ozon</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раздел для бизнеса, отсрочка платежа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оборот 4,16 трлн ₽, заказы компаний выросли на 65 %</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то же самое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54864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Яндекс Маркет для бизнеса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оплата по счету, ЭДО</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нет данных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пока слабее в текстиле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Аренда белья со стиркой (Lindaily, «Первая прачечная для бизнеса», АКМА-Групп)</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белье в аренду: прачечная сама забирает и привозит</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у Lindaily более 33 тыс. клиентов</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гостинице не нужно покупать белье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548640">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Оптовые склады («Текстиль-Профи», Сима-ленд)</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опт со склада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нет данных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дешево, но без сервиса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p:nvPr/>
        </p:nvSpPr>
        <p:spPr>
          <a:xfrm>
            <a:off x="457200" y="4709160"/>
            <a:ext cx="11274552" cy="109728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На маркетплейсах трудно найти белье нужной плотности, а потом докупить точно такое же</a:t>
            </a:r>
            <a:endParaRPr lang="en-US" sz="1500" dirty="0"/>
          </a:p>
          <a:p>
            <a:pPr marL="342900" indent="-342900">
              <a:lnSpc>
                <a:spcPct val="105000"/>
              </a:lnSpc>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Аренду белья в России пока выбирают 3–5 % гостиниц, в Европе – до 95 %, так что этот рынок может вырасти</a:t>
            </a:r>
            <a:endParaRPr lang="en-US" sz="1500" dirty="0"/>
          </a:p>
        </p:txBody>
      </p:sp>
      <p:sp>
        <p:nvSpPr>
          <p:cNvPr id="6" name="Text 3"/>
          <p:cNvSpPr/>
          <p:nvPr/>
        </p:nvSpPr>
        <p:spPr>
          <a:xfrm>
            <a:off x="457200" y="5943600"/>
            <a:ext cx="11274552" cy="320040"/>
          </a:xfrm>
          <a:prstGeom prst="rect">
            <a:avLst/>
          </a:prstGeom>
          <a:noFill/>
          <a:ln/>
        </p:spPr>
        <p:txBody>
          <a:bodyPr wrap="square" lIns="0" tIns="0" rIns="0" bIns="0" rtlCol="0" anchor="t"/>
          <a:lstStyle/>
          <a:p>
            <a:pPr algn="l" indent="0" marL="0">
              <a:lnSpc>
                <a:spcPct val="105000"/>
              </a:lnSpc>
              <a:buNone/>
            </a:pPr>
            <a:r>
              <a:rPr lang="en-US" sz="1100" i="1" dirty="0">
                <a:solidFill>
                  <a:srgbClr val="7F7F7F"/>
                </a:solidFill>
                <a:latin typeface="Calibri" pitchFamily="34" charset="0"/>
                <a:ea typeface="Calibri" pitchFamily="34" charset="-122"/>
                <a:cs typeface="Calibri" pitchFamily="34" charset="-120"/>
              </a:rPr>
              <a:t>Источники: Retail.ru, «Коммерсантъ», Ozon, Hotel.Report, РБК Компании</a:t>
            </a:r>
            <a:endParaRPr lang="en-US" sz="11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Сравнение с конкурентами</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502152"/>
                <a:gridCol w="1554480"/>
                <a:gridCol w="1554480"/>
                <a:gridCol w="1554480"/>
                <a:gridCol w="1554480"/>
                <a:gridCol w="1554480"/>
              </a:tblGrid>
              <a:tr h="457200">
                <a:tc>
                  <a:txBody>
                    <a:bodyPr/>
                    <a:lstStyle/>
                    <a:p>
                      <a:pPr algn="ctr" indent="0" marL="0">
                        <a:buNone/>
                      </a:pP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METRO, «Лента»</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Маркетплейсы</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Фабрики Иваново</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Премиум-магазины</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Наша площадка</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D7D31"/>
                    </a:solidFill>
                  </a:tcPr>
                </a:tc>
              </a:tr>
              <a:tr h="457200">
                <a:tc>
                  <a:txBody>
                    <a:bodyPr/>
                    <a:lstStyle/>
                    <a:p>
                      <a:pPr indent="0" marL="0">
                        <a:buNone/>
                      </a:pPr>
                      <a:r>
                        <a:rPr lang="en-US" sz="1300" b="1" dirty="0">
                          <a:solidFill>
                            <a:srgbClr val="262626"/>
                          </a:solidFill>
                          <a:latin typeface="Calibri" pitchFamily="34" charset="0"/>
                          <a:ea typeface="Calibri" pitchFamily="34" charset="-122"/>
                          <a:cs typeface="Calibri" pitchFamily="34" charset="-120"/>
                        </a:rPr>
                        <a:t>Оплата по счету с НДС</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262626"/>
                          </a:solidFill>
                          <a:latin typeface="Calibri" pitchFamily="34" charset="0"/>
                          <a:ea typeface="Calibri" pitchFamily="34" charset="-122"/>
                          <a:cs typeface="Calibri" pitchFamily="34" charset="-120"/>
                        </a:rPr>
                        <a:t>Белье по гостиничным требованиям</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ED7D31"/>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457200">
                <a:tc>
                  <a:txBody>
                    <a:bodyPr/>
                    <a:lstStyle/>
                    <a:p>
                      <a:pPr indent="0" marL="0">
                        <a:buNone/>
                      </a:pPr>
                      <a:r>
                        <a:rPr lang="en-US" sz="1300" b="1" dirty="0">
                          <a:solidFill>
                            <a:srgbClr val="262626"/>
                          </a:solidFill>
                          <a:latin typeface="Calibri" pitchFamily="34" charset="0"/>
                          <a:ea typeface="Calibri" pitchFamily="34" charset="-122"/>
                          <a:cs typeface="Calibri" pitchFamily="34" charset="-120"/>
                        </a:rPr>
                        <a:t>Пошив с логотипом</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D7D31"/>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262626"/>
                          </a:solidFill>
                          <a:latin typeface="Calibri" pitchFamily="34" charset="0"/>
                          <a:ea typeface="Calibri" pitchFamily="34" charset="-122"/>
                          <a:cs typeface="Calibri" pitchFamily="34" charset="-120"/>
                        </a:rPr>
                        <a:t>Можно докупить такую же партию</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ED7D31"/>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ED7D31"/>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457200">
                <a:tc>
                  <a:txBody>
                    <a:bodyPr/>
                    <a:lstStyle/>
                    <a:p>
                      <a:pPr indent="0" marL="0">
                        <a:buNone/>
                      </a:pPr>
                      <a:r>
                        <a:rPr lang="en-US" sz="1300" b="1" dirty="0">
                          <a:solidFill>
                            <a:srgbClr val="262626"/>
                          </a:solidFill>
                          <a:latin typeface="Calibri" pitchFamily="34" charset="0"/>
                          <a:ea typeface="Calibri" pitchFamily="34" charset="-122"/>
                          <a:cs typeface="Calibri" pitchFamily="34" charset="-120"/>
                        </a:rPr>
                        <a:t>Прямые поставки из Индии</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262626"/>
                          </a:solidFill>
                          <a:latin typeface="Calibri" pitchFamily="34" charset="0"/>
                          <a:ea typeface="Calibri" pitchFamily="34" charset="-122"/>
                          <a:cs typeface="Calibri" pitchFamily="34" charset="-120"/>
                        </a:rPr>
                        <a:t>Есть и дешевый, и премиальный текстиль</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ED7D31"/>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457200">
                <a:tc>
                  <a:txBody>
                    <a:bodyPr/>
                    <a:lstStyle/>
                    <a:p>
                      <a:pPr indent="0" marL="0">
                        <a:buNone/>
                      </a:pPr>
                      <a:r>
                        <a:rPr lang="en-US" sz="1300" b="1" dirty="0">
                          <a:solidFill>
                            <a:srgbClr val="262626"/>
                          </a:solidFill>
                          <a:latin typeface="Calibri" pitchFamily="34" charset="0"/>
                          <a:ea typeface="Calibri" pitchFamily="34" charset="-122"/>
                          <a:cs typeface="Calibri" pitchFamily="34" charset="-120"/>
                        </a:rPr>
                        <a:t>Доставка до гостиницы или клиники</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D7D31"/>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ED7D31"/>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B05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Text 2"/>
          <p:cNvSpPr/>
          <p:nvPr/>
        </p:nvSpPr>
        <p:spPr>
          <a:xfrm>
            <a:off x="457200" y="5029200"/>
            <a:ext cx="11274552" cy="320040"/>
          </a:xfrm>
          <a:prstGeom prst="rect">
            <a:avLst/>
          </a:prstGeom>
          <a:noFill/>
          <a:ln/>
        </p:spPr>
        <p:txBody>
          <a:bodyPr wrap="square" lIns="0" tIns="0" rIns="0" bIns="0" rtlCol="0" anchor="t"/>
          <a:lstStyle/>
          <a:p>
            <a:pPr algn="l" indent="0" marL="0">
              <a:lnSpc>
                <a:spcPct val="105000"/>
              </a:lnSpc>
              <a:buNone/>
            </a:pPr>
            <a:r>
              <a:rPr lang="en-US" sz="1200" i="1" dirty="0">
                <a:solidFill>
                  <a:srgbClr val="7F7F7F"/>
                </a:solidFill>
                <a:latin typeface="Calibri" pitchFamily="34" charset="0"/>
                <a:ea typeface="Calibri" pitchFamily="34" charset="-122"/>
                <a:cs typeface="Calibri" pitchFamily="34" charset="-120"/>
              </a:rPr>
              <a:t>«+» есть, «±» частично, «–» нет. Оценка нашей команды по информации с сайтов компаний.</a:t>
            </a:r>
            <a:endParaRPr lang="en-US" sz="1200" dirty="0"/>
          </a:p>
        </p:txBody>
      </p:sp>
      <p:sp>
        <p:nvSpPr>
          <p:cNvPr id="6" name="Text 3"/>
          <p:cNvSpPr/>
          <p:nvPr/>
        </p:nvSpPr>
        <p:spPr>
          <a:xfrm>
            <a:off x="457200" y="5440680"/>
            <a:ext cx="11274552" cy="548640"/>
          </a:xfrm>
          <a:prstGeom prst="rect">
            <a:avLst/>
          </a:prstGeom>
          <a:noFill/>
          <a:ln/>
        </p:spPr>
        <p:txBody>
          <a:bodyPr wrap="square" lIns="0" tIns="0" rIns="0" bIns="0" rtlCol="0" anchor="t"/>
          <a:lstStyle/>
          <a:p>
            <a:pPr algn="l" indent="0" marL="0">
              <a:lnSpc>
                <a:spcPct val="105000"/>
              </a:lnSpc>
              <a:buNone/>
            </a:pPr>
            <a:r>
              <a:rPr lang="en-US" sz="1500" b="1" dirty="0">
                <a:solidFill>
                  <a:srgbClr val="262626"/>
                </a:solidFill>
                <a:latin typeface="Calibri" pitchFamily="34" charset="0"/>
                <a:ea typeface="Calibri" pitchFamily="34" charset="-122"/>
                <a:cs typeface="Calibri" pitchFamily="34" charset="-120"/>
              </a:rPr>
              <a:t>Прямых поставок из Индии нет ни у кого. Остальное по отдельности у конкурентов есть, но в одном месте это никто не собрал.</a:t>
            </a:r>
            <a:endParaRPr lang="en-US" sz="15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У кого мы будем забирать клиентов</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3657600"/>
                <a:gridCol w="4325112"/>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Покупатели</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Где покупают сейчас</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Что мы им предложим</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r>
              <a:tr h="640080">
                <a:tc>
                  <a:txBody>
                    <a:bodyPr/>
                    <a:lstStyle/>
                    <a:p>
                      <a:pPr algn="l" indent="0" marL="0">
                        <a:buNone/>
                      </a:pPr>
                      <a:r>
                        <a:rPr lang="en-US" sz="1400" b="1" dirty="0">
                          <a:solidFill>
                            <a:srgbClr val="262626"/>
                          </a:solidFill>
                          <a:latin typeface="Calibri" pitchFamily="34" charset="0"/>
                          <a:ea typeface="Calibri" pitchFamily="34" charset="-122"/>
                          <a:cs typeface="Calibri" pitchFamily="34" charset="-120"/>
                        </a:rPr>
                        <a:t>Небольшие и средние гостиницы, апарт-отели</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маркетплейсы, METRO, «Лента», фабрики Иваново</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белье по гостиничным требованиям, повтор заказа, оплата по счету и ЭДО</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l" indent="0" marL="0">
                        <a:buNone/>
                      </a:pPr>
                      <a:r>
                        <a:rPr lang="en-US" sz="1400" b="1" dirty="0">
                          <a:solidFill>
                            <a:srgbClr val="262626"/>
                          </a:solidFill>
                          <a:latin typeface="Calibri" pitchFamily="34" charset="0"/>
                          <a:ea typeface="Calibri" pitchFamily="34" charset="-122"/>
                          <a:cs typeface="Calibri" pitchFamily="34" charset="-120"/>
                        </a:rPr>
                        <a:t>Спа-салоны и фитнес-клубы</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обычные магазины и маркетплейсы</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полотенца и халаты оптом, можно с логотипом</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640080">
                <a:tc>
                  <a:txBody>
                    <a:bodyPr/>
                    <a:lstStyle/>
                    <a:p>
                      <a:pPr algn="l" indent="0" marL="0">
                        <a:buNone/>
                      </a:pPr>
                      <a:r>
                        <a:rPr lang="en-US" sz="1400" b="1" dirty="0">
                          <a:solidFill>
                            <a:srgbClr val="262626"/>
                          </a:solidFill>
                          <a:latin typeface="Calibri" pitchFamily="34" charset="0"/>
                          <a:ea typeface="Calibri" pitchFamily="34" charset="-122"/>
                          <a:cs typeface="Calibri" pitchFamily="34" charset="-120"/>
                        </a:rPr>
                        <a:t>Частные клиники</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поставщики медицинского текстиля</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один счет на весь текстиль и доставка до клиники</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l" indent="0" marL="0">
                        <a:buNone/>
                      </a:pPr>
                      <a:r>
                        <a:rPr lang="en-US" sz="1400" b="1" dirty="0">
                          <a:solidFill>
                            <a:srgbClr val="262626"/>
                          </a:solidFill>
                          <a:latin typeface="Calibri" pitchFamily="34" charset="0"/>
                          <a:ea typeface="Calibri" pitchFamily="34" charset="-122"/>
                          <a:cs typeface="Calibri" pitchFamily="34" charset="-120"/>
                        </a:rPr>
                        <a:t>Отели 4–5 звезд (позже)</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Frette, Askona, поставщики гостиничных сетей</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400" dirty="0">
                          <a:solidFill>
                            <a:srgbClr val="262626"/>
                          </a:solidFill>
                          <a:latin typeface="Calibri" pitchFamily="34" charset="0"/>
                          <a:ea typeface="Calibri" pitchFamily="34" charset="-122"/>
                          <a:cs typeface="Calibri" pitchFamily="34" charset="-120"/>
                        </a:rPr>
                        <a:t>премиальная линейка из Индии</a:t>
                      </a:r>
                      <a:endParaRPr lang="en-US" sz="14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bl>
          </a:graphicData>
        </a:graphic>
      </p:graphicFrame>
      <p:sp>
        <p:nvSpPr>
          <p:cNvPr id="5" name="Text 2"/>
          <p:cNvSpPr/>
          <p:nvPr/>
        </p:nvSpPr>
        <p:spPr>
          <a:xfrm>
            <a:off x="457200" y="4800600"/>
            <a:ext cx="11274552" cy="109728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Государственные больницы закупают через торги по 44-ФЗ и 223-ФЗ, поэтому сразу их не забрать</a:t>
            </a:r>
            <a:endParaRPr lang="en-US" sz="1500" dirty="0"/>
          </a:p>
          <a:p>
            <a:pPr marL="342900" indent="-342900">
              <a:lnSpc>
                <a:spcPct val="105000"/>
              </a:lnSpc>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Главные угрозы для нас – маркетплейсы и аренда белья</a:t>
            </a:r>
            <a:endParaRPr lang="en-US" sz="15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Как оплатить поставщику в Индии</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sp>
        <p:nvSpPr>
          <p:cNvPr id="4" name="Shape 2"/>
          <p:cNvSpPr/>
          <p:nvPr/>
        </p:nvSpPr>
        <p:spPr>
          <a:xfrm>
            <a:off x="457200" y="1417320"/>
            <a:ext cx="2377440" cy="1417320"/>
          </a:xfrm>
          <a:prstGeom prst="roundRect">
            <a:avLst>
              <a:gd name="adj" fmla="val 5161"/>
            </a:avLst>
          </a:prstGeom>
          <a:solidFill>
            <a:srgbClr val="2F5597"/>
          </a:solidFill>
          <a:ln/>
        </p:spPr>
      </p:sp>
      <p:sp>
        <p:nvSpPr>
          <p:cNvPr id="5" name="Text 3"/>
          <p:cNvSpPr/>
          <p:nvPr/>
        </p:nvSpPr>
        <p:spPr>
          <a:xfrm>
            <a:off x="566928" y="1417320"/>
            <a:ext cx="2157984" cy="1417320"/>
          </a:xfrm>
          <a:prstGeom prst="rect">
            <a:avLst/>
          </a:prstGeom>
          <a:noFill/>
          <a:ln/>
        </p:spPr>
        <p:txBody>
          <a:bodyPr wrap="square" lIns="0" tIns="0" rIns="0" bIns="0" rtlCol="0" anchor="ctr"/>
          <a:lstStyle/>
          <a:p>
            <a:pPr algn="ctr" indent="0" marL="0">
              <a:lnSpc>
                <a:spcPct val="105000"/>
              </a:lnSpc>
              <a:buNone/>
            </a:pPr>
            <a:r>
              <a:rPr lang="en-US" sz="1500" b="1" dirty="0">
                <a:solidFill>
                  <a:srgbClr val="FFFFFF"/>
                </a:solidFill>
                <a:latin typeface="Calibri" pitchFamily="34" charset="0"/>
                <a:ea typeface="Calibri" pitchFamily="34" charset="-122"/>
                <a:cs typeface="Calibri" pitchFamily="34" charset="-120"/>
              </a:rPr>
              <a:t>Компания платит в рублях</a:t>
            </a:r>
            <a:endParaRPr lang="en-US" sz="1500" dirty="0"/>
          </a:p>
        </p:txBody>
      </p:sp>
      <p:sp>
        <p:nvSpPr>
          <p:cNvPr id="6" name="Shape 4"/>
          <p:cNvSpPr/>
          <p:nvPr/>
        </p:nvSpPr>
        <p:spPr>
          <a:xfrm>
            <a:off x="2907792" y="1938528"/>
            <a:ext cx="384048" cy="384048"/>
          </a:xfrm>
          <a:prstGeom prst="rightArrow">
            <a:avLst/>
          </a:prstGeom>
          <a:solidFill>
            <a:srgbClr val="A5A5A5"/>
          </a:solidFill>
          <a:ln/>
        </p:spPr>
      </p:sp>
      <p:sp>
        <p:nvSpPr>
          <p:cNvPr id="7" name="Shape 5"/>
          <p:cNvSpPr/>
          <p:nvPr/>
        </p:nvSpPr>
        <p:spPr>
          <a:xfrm>
            <a:off x="3355848" y="1417320"/>
            <a:ext cx="2377440" cy="1417320"/>
          </a:xfrm>
          <a:prstGeom prst="roundRect">
            <a:avLst>
              <a:gd name="adj" fmla="val 5161"/>
            </a:avLst>
          </a:prstGeom>
          <a:solidFill>
            <a:srgbClr val="2F5597"/>
          </a:solidFill>
          <a:ln/>
        </p:spPr>
      </p:sp>
      <p:sp>
        <p:nvSpPr>
          <p:cNvPr id="8" name="Text 6"/>
          <p:cNvSpPr/>
          <p:nvPr/>
        </p:nvSpPr>
        <p:spPr>
          <a:xfrm>
            <a:off x="3465576" y="1417320"/>
            <a:ext cx="2157984" cy="1417320"/>
          </a:xfrm>
          <a:prstGeom prst="rect">
            <a:avLst/>
          </a:prstGeom>
          <a:noFill/>
          <a:ln/>
        </p:spPr>
        <p:txBody>
          <a:bodyPr wrap="square" lIns="0" tIns="0" rIns="0" bIns="0" rtlCol="0" anchor="ctr"/>
          <a:lstStyle/>
          <a:p>
            <a:pPr algn="ctr" indent="0" marL="0">
              <a:lnSpc>
                <a:spcPct val="105000"/>
              </a:lnSpc>
              <a:buNone/>
            </a:pPr>
            <a:r>
              <a:rPr lang="en-US" sz="1500" b="1" dirty="0">
                <a:solidFill>
                  <a:srgbClr val="FFFFFF"/>
                </a:solidFill>
                <a:latin typeface="Calibri" pitchFamily="34" charset="0"/>
                <a:ea typeface="Calibri" pitchFamily="34" charset="-122"/>
                <a:cs typeface="Calibri" pitchFamily="34" charset="-120"/>
              </a:rPr>
              <a:t>Банк меняет рубли на рупии и проверяет документы</a:t>
            </a:r>
            <a:endParaRPr lang="en-US" sz="1500" dirty="0"/>
          </a:p>
        </p:txBody>
      </p:sp>
      <p:sp>
        <p:nvSpPr>
          <p:cNvPr id="9" name="Shape 7"/>
          <p:cNvSpPr/>
          <p:nvPr/>
        </p:nvSpPr>
        <p:spPr>
          <a:xfrm>
            <a:off x="5806440" y="1938528"/>
            <a:ext cx="384048" cy="384048"/>
          </a:xfrm>
          <a:prstGeom prst="rightArrow">
            <a:avLst/>
          </a:prstGeom>
          <a:solidFill>
            <a:srgbClr val="A5A5A5"/>
          </a:solidFill>
          <a:ln/>
        </p:spPr>
      </p:sp>
      <p:sp>
        <p:nvSpPr>
          <p:cNvPr id="10" name="Shape 8"/>
          <p:cNvSpPr/>
          <p:nvPr/>
        </p:nvSpPr>
        <p:spPr>
          <a:xfrm>
            <a:off x="6254496" y="1417320"/>
            <a:ext cx="2377440" cy="1417320"/>
          </a:xfrm>
          <a:prstGeom prst="roundRect">
            <a:avLst>
              <a:gd name="adj" fmla="val 5161"/>
            </a:avLst>
          </a:prstGeom>
          <a:solidFill>
            <a:srgbClr val="2F5597"/>
          </a:solidFill>
          <a:ln/>
        </p:spPr>
      </p:sp>
      <p:sp>
        <p:nvSpPr>
          <p:cNvPr id="11" name="Text 9"/>
          <p:cNvSpPr/>
          <p:nvPr/>
        </p:nvSpPr>
        <p:spPr>
          <a:xfrm>
            <a:off x="6364224" y="1417320"/>
            <a:ext cx="2157984" cy="1417320"/>
          </a:xfrm>
          <a:prstGeom prst="rect">
            <a:avLst/>
          </a:prstGeom>
          <a:noFill/>
          <a:ln/>
        </p:spPr>
        <p:txBody>
          <a:bodyPr wrap="square" lIns="0" tIns="0" rIns="0" bIns="0" rtlCol="0" anchor="ctr"/>
          <a:lstStyle/>
          <a:p>
            <a:pPr algn="ctr" indent="0" marL="0">
              <a:lnSpc>
                <a:spcPct val="105000"/>
              </a:lnSpc>
              <a:buNone/>
            </a:pPr>
            <a:r>
              <a:rPr lang="en-US" sz="1500" b="1" dirty="0">
                <a:solidFill>
                  <a:srgbClr val="FFFFFF"/>
                </a:solidFill>
                <a:latin typeface="Calibri" pitchFamily="34" charset="0"/>
                <a:ea typeface="Calibri" pitchFamily="34" charset="-122"/>
                <a:cs typeface="Calibri" pitchFamily="34" charset="-120"/>
              </a:rPr>
              <a:t>Деньги идут через спецсчет или филиал банка в Индии</a:t>
            </a:r>
            <a:endParaRPr lang="en-US" sz="1500" dirty="0"/>
          </a:p>
        </p:txBody>
      </p:sp>
      <p:sp>
        <p:nvSpPr>
          <p:cNvPr id="12" name="Shape 10"/>
          <p:cNvSpPr/>
          <p:nvPr/>
        </p:nvSpPr>
        <p:spPr>
          <a:xfrm>
            <a:off x="8705088" y="1938528"/>
            <a:ext cx="384048" cy="384048"/>
          </a:xfrm>
          <a:prstGeom prst="rightArrow">
            <a:avLst/>
          </a:prstGeom>
          <a:solidFill>
            <a:srgbClr val="A5A5A5"/>
          </a:solidFill>
          <a:ln/>
        </p:spPr>
      </p:sp>
      <p:sp>
        <p:nvSpPr>
          <p:cNvPr id="13" name="Shape 11"/>
          <p:cNvSpPr/>
          <p:nvPr/>
        </p:nvSpPr>
        <p:spPr>
          <a:xfrm>
            <a:off x="9153144" y="1417320"/>
            <a:ext cx="2377440" cy="1417320"/>
          </a:xfrm>
          <a:prstGeom prst="roundRect">
            <a:avLst>
              <a:gd name="adj" fmla="val 5161"/>
            </a:avLst>
          </a:prstGeom>
          <a:solidFill>
            <a:srgbClr val="ED7D31"/>
          </a:solidFill>
          <a:ln/>
        </p:spPr>
      </p:sp>
      <p:sp>
        <p:nvSpPr>
          <p:cNvPr id="14" name="Text 12"/>
          <p:cNvSpPr/>
          <p:nvPr/>
        </p:nvSpPr>
        <p:spPr>
          <a:xfrm>
            <a:off x="9262872" y="1417320"/>
            <a:ext cx="2157984" cy="1417320"/>
          </a:xfrm>
          <a:prstGeom prst="rect">
            <a:avLst/>
          </a:prstGeom>
          <a:noFill/>
          <a:ln/>
        </p:spPr>
        <p:txBody>
          <a:bodyPr wrap="square" lIns="0" tIns="0" rIns="0" bIns="0" rtlCol="0" anchor="ctr"/>
          <a:lstStyle/>
          <a:p>
            <a:pPr algn="ctr" indent="0" marL="0">
              <a:lnSpc>
                <a:spcPct val="105000"/>
              </a:lnSpc>
              <a:buNone/>
            </a:pPr>
            <a:r>
              <a:rPr lang="en-US" sz="1500" b="1" dirty="0">
                <a:solidFill>
                  <a:srgbClr val="FFFFFF"/>
                </a:solidFill>
                <a:latin typeface="Calibri" pitchFamily="34" charset="0"/>
                <a:ea typeface="Calibri" pitchFamily="34" charset="-122"/>
                <a:cs typeface="Calibri" pitchFamily="34" charset="-120"/>
              </a:rPr>
              <a:t>Поставщик получает рупии в своем банке</a:t>
            </a:r>
            <a:endParaRPr lang="en-US" sz="1500" dirty="0"/>
          </a:p>
        </p:txBody>
      </p:sp>
      <p:sp>
        <p:nvSpPr>
          <p:cNvPr id="15" name="Text 13"/>
          <p:cNvSpPr/>
          <p:nvPr/>
        </p:nvSpPr>
        <p:spPr>
          <a:xfrm>
            <a:off x="457200" y="3200400"/>
            <a:ext cx="11274552" cy="256032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Рупии нельзя свободно вывозить из Индии, поэтому платят через специальные рупиевые счета (их называют счетами востро)</a:t>
            </a:r>
            <a:endParaRPr lang="en-US" sz="1600" dirty="0"/>
          </a:p>
          <a:p>
            <a:pPr marL="342900" indent="-342900">
              <a:lnSpc>
                <a:spcPct val="105000"/>
              </a:lnSpc>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У Сбербанка и ВТБ есть свои филиалы в Индии, поэтому платеж идет без банков-посредников</a:t>
            </a:r>
            <a:endParaRPr lang="en-US" sz="1600" dirty="0"/>
          </a:p>
          <a:p>
            <a:pPr marL="342900" indent="-342900">
              <a:lnSpc>
                <a:spcPct val="105000"/>
              </a:lnSpc>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Если контракт больше 3 млн ₽, его нужно поставить на учет в банке</a:t>
            </a:r>
            <a:endParaRPr lang="en-US" sz="1600" dirty="0"/>
          </a:p>
          <a:p>
            <a:pPr marL="342900" indent="-342900">
              <a:lnSpc>
                <a:spcPct val="105000"/>
              </a:lnSpc>
              <a:spcAft>
                <a:spcPts val="1000"/>
              </a:spcAft>
              <a:buSzPct val="100000"/>
              <a:buChar char="•"/>
            </a:pPr>
            <a:r>
              <a:rPr lang="en-US" sz="1600" dirty="0">
                <a:solidFill>
                  <a:srgbClr val="262626"/>
                </a:solidFill>
                <a:latin typeface="Calibri" pitchFamily="34" charset="0"/>
                <a:ea typeface="Calibri" pitchFamily="34" charset="-122"/>
                <a:cs typeface="Calibri" pitchFamily="34" charset="-120"/>
              </a:rPr>
              <a:t>Платить в долларах или юанях можно, но сложнее: Индия не любит расчеты в юанях, а платежи в долларах часто возвращают</a:t>
            </a:r>
            <a:endParaRPr lang="en-US" sz="1600" dirty="0"/>
          </a:p>
        </p:txBody>
      </p:sp>
      <p:sp>
        <p:nvSpPr>
          <p:cNvPr id="16" name="Text 14"/>
          <p:cNvSpPr/>
          <p:nvPr/>
        </p:nvSpPr>
        <p:spPr>
          <a:xfrm>
            <a:off x="457200" y="5943600"/>
            <a:ext cx="11274552" cy="320040"/>
          </a:xfrm>
          <a:prstGeom prst="rect">
            <a:avLst/>
          </a:prstGeom>
          <a:noFill/>
          <a:ln/>
        </p:spPr>
        <p:txBody>
          <a:bodyPr wrap="square" lIns="0" tIns="0" rIns="0" bIns="0" rtlCol="0" anchor="t"/>
          <a:lstStyle/>
          <a:p>
            <a:pPr algn="l" indent="0" marL="0">
              <a:lnSpc>
                <a:spcPct val="105000"/>
              </a:lnSpc>
              <a:buNone/>
            </a:pPr>
            <a:r>
              <a:rPr lang="en-US" sz="1100" i="1" dirty="0">
                <a:solidFill>
                  <a:srgbClr val="7F7F7F"/>
                </a:solidFill>
                <a:latin typeface="Calibri" pitchFamily="34" charset="0"/>
                <a:ea typeface="Calibri" pitchFamily="34" charset="-122"/>
                <a:cs typeface="Calibri" pitchFamily="34" charset="-120"/>
              </a:rPr>
              <a:t>Источники: сайты Сбербанка, ВТБ и Точки, Business Standard, памятка по валютному контролю</a:t>
            </a:r>
            <a:endParaRPr lang="en-US" sz="11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Сравнение банков</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920240"/>
                <a:gridCol w="2514600"/>
                <a:gridCol w="2331720"/>
                <a:gridCol w="2011680"/>
                <a:gridCol w="2496312"/>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Банк</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Как платит в Индию</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Обслуживание счета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Валютный контроль</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Перевод в рупиях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Сбербанк</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свой филиал в Индии, счет в рупиях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базовый тариф 0 ₽</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0,15 %, минимум 10 $</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бесплатно по акции до 31.12.2026, обмен по курсу ЦБ + 0,5 %</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ВТБ</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филиал в Нью-Дели, счет в рупиях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от 0 до 490 ₽ на старте, пакет «Все включено» 3 000 ₽</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0,1 % с опцией ВЭД, без нее 0,15 %</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0,27 % (от 40 до 250 $) + опция 2 890 ₽ в месяц</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Т-Банк</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счет в рупиях через банки-партнеры</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490, 1 990 или 4 990 ₽</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0,15–0,2 %</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0,15–0,2 %</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Точка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своя лицензия на платежи в рупиях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зависит от тарифа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зависит от тарифа</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с рублевого счета с обменом, 1–10 рабочих дней</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Коммерческий Индо Банк</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дочерний банк индийского SBI в Москве</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по запросу</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по запросу</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по запросу</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6"/>
                          </a:solidFill>
                          <a:latin typeface="Calibri" pitchFamily="34" charset="0"/>
                          <a:ea typeface="Calibri" pitchFamily="34" charset="-122"/>
                          <a:cs typeface="Calibri" pitchFamily="34" charset="-120"/>
                        </a:rPr>
                        <a:t>Газпромбанк, Альфа-Банк</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через счета в индийских банках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нет данных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нет данных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200" dirty="0">
                          <a:solidFill>
                            <a:srgbClr val="262626"/>
                          </a:solidFill>
                          <a:latin typeface="Calibri" pitchFamily="34" charset="0"/>
                          <a:ea typeface="Calibri" pitchFamily="34" charset="-122"/>
                          <a:cs typeface="Calibri" pitchFamily="34" charset="-120"/>
                        </a:rPr>
                        <a:t>нет данных</a:t>
                      </a:r>
                      <a:endParaRPr lang="en-US" sz="12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bl>
          </a:graphicData>
        </a:graphic>
      </p:graphicFrame>
      <p:sp>
        <p:nvSpPr>
          <p:cNvPr id="5" name="Text 2"/>
          <p:cNvSpPr/>
          <p:nvPr/>
        </p:nvSpPr>
        <p:spPr>
          <a:xfrm>
            <a:off x="457200" y="5623560"/>
            <a:ext cx="11274552" cy="320040"/>
          </a:xfrm>
          <a:prstGeom prst="rect">
            <a:avLst/>
          </a:prstGeom>
          <a:noFill/>
          <a:ln/>
        </p:spPr>
        <p:txBody>
          <a:bodyPr wrap="square" lIns="0" tIns="0" rIns="0" bIns="0" rtlCol="0" anchor="t"/>
          <a:lstStyle/>
          <a:p>
            <a:pPr algn="l" indent="0" marL="0">
              <a:lnSpc>
                <a:spcPct val="105000"/>
              </a:lnSpc>
              <a:buNone/>
            </a:pPr>
            <a:r>
              <a:rPr lang="en-US" sz="1100" i="1" dirty="0">
                <a:solidFill>
                  <a:srgbClr val="7F7F7F"/>
                </a:solidFill>
                <a:latin typeface="Calibri" pitchFamily="34" charset="0"/>
                <a:ea typeface="Calibri" pitchFamily="34" charset="-122"/>
                <a:cs typeface="Calibri" pitchFamily="34" charset="-120"/>
              </a:rPr>
              <a:t>Тарифы взяты с сайтов банков на октябрь 2026 года. Перед открытием счета их лучше уточнить в банке.</a:t>
            </a:r>
            <a:endParaRPr lang="en-US" sz="11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Ставки и пример платежа</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graphicFrame>
        <p:nvGraphicFramePr>
          <p:cNvPr id="4" name="Chart 0" descr=""/>
          <p:cNvGraphicFramePr/>
          <p:nvPr/>
        </p:nvGraphicFramePr>
        <p:xfrm>
          <a:off x="365760" y="123444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457200" y="5257800"/>
            <a:ext cx="11274552" cy="320040"/>
          </a:xfrm>
          <a:prstGeom prst="rect">
            <a:avLst/>
          </a:prstGeom>
          <a:noFill/>
          <a:ln/>
        </p:spPr>
        <p:txBody>
          <a:bodyPr wrap="square" lIns="0" tIns="0" rIns="0" bIns="0" rtlCol="0" anchor="t"/>
          <a:lstStyle/>
          <a:p>
            <a:pPr algn="l" indent="0" marL="0">
              <a:lnSpc>
                <a:spcPct val="105000"/>
              </a:lnSpc>
              <a:buNone/>
            </a:pPr>
            <a:r>
              <a:rPr lang="en-US" sz="1100" i="1" dirty="0">
                <a:solidFill>
                  <a:srgbClr val="7F7F7F"/>
                </a:solidFill>
                <a:latin typeface="Calibri" pitchFamily="34" charset="0"/>
                <a:ea typeface="Calibri" pitchFamily="34" charset="-122"/>
                <a:cs typeface="Calibri" pitchFamily="34" charset="-120"/>
              </a:rPr>
              <a:t>Ключевая ставка – с 27.07.2026, кредиты – июль 2026, депозиты – июнь 2026 (Банк России)</a:t>
            </a:r>
            <a:endParaRPr lang="en-US" sz="1100" dirty="0"/>
          </a:p>
        </p:txBody>
      </p:sp>
      <p:sp>
        <p:nvSpPr>
          <p:cNvPr id="6" name="Text 3"/>
          <p:cNvSpPr/>
          <p:nvPr/>
        </p:nvSpPr>
        <p:spPr>
          <a:xfrm>
            <a:off x="6583680" y="1325880"/>
            <a:ext cx="5120640" cy="365760"/>
          </a:xfrm>
          <a:prstGeom prst="rect">
            <a:avLst/>
          </a:prstGeom>
          <a:noFill/>
          <a:ln/>
        </p:spPr>
        <p:txBody>
          <a:bodyPr wrap="square" lIns="0" tIns="0" rIns="0" bIns="0" rtlCol="0" anchor="t"/>
          <a:lstStyle/>
          <a:p>
            <a:pPr algn="l" indent="0" marL="0">
              <a:lnSpc>
                <a:spcPct val="105000"/>
              </a:lnSpc>
              <a:buNone/>
            </a:pPr>
            <a:r>
              <a:rPr lang="en-US" sz="1700" b="1" dirty="0">
                <a:solidFill>
                  <a:srgbClr val="2F5597"/>
                </a:solidFill>
                <a:latin typeface="Calibri" pitchFamily="34" charset="0"/>
                <a:ea typeface="Calibri" pitchFamily="34" charset="-122"/>
                <a:cs typeface="Calibri" pitchFamily="34" charset="-120"/>
              </a:rPr>
              <a:t>Пример: платим поставщику 20 000 $</a:t>
            </a:r>
            <a:endParaRPr lang="en-US" sz="17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1783080"/>
          <a:ext cx="5148072" cy="914400"/>
        </p:xfrm>
        <a:graphic>
          <a:graphicData uri="http://schemas.openxmlformats.org/drawingml/2006/table">
            <a:tbl>
              <a:tblPr/>
              <a:tblGrid>
                <a:gridCol w="1737360"/>
                <a:gridCol w="1737360"/>
                <a:gridCol w="1673352"/>
              </a:tblGrid>
              <a:tr h="457200">
                <a:tc>
                  <a:txBody>
                    <a:bodyPr/>
                    <a:lstStyle/>
                    <a:p>
                      <a:pPr algn="ctr" indent="0" marL="0">
                        <a:buNone/>
                      </a:pP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Сбербанк</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ВТБ</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2F5597"/>
                    </a:solidFill>
                  </a:tcPr>
                </a:tc>
              </a:tr>
              <a:tr h="457200">
                <a:tc>
                  <a:txBody>
                    <a:bodyPr/>
                    <a:lstStyle/>
                    <a:p>
                      <a:pPr algn="l" indent="0" marL="0">
                        <a:buNone/>
                      </a:pPr>
                      <a:r>
                        <a:rPr lang="en-US" sz="1300" b="1" dirty="0">
                          <a:solidFill>
                            <a:srgbClr val="262626"/>
                          </a:solidFill>
                          <a:latin typeface="Calibri" pitchFamily="34" charset="0"/>
                          <a:ea typeface="Calibri" pitchFamily="34" charset="-122"/>
                          <a:cs typeface="Calibri" pitchFamily="34" charset="-120"/>
                        </a:rPr>
                        <a:t>Перевод</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0 $ (акция)</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54 $</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262626"/>
                          </a:solidFill>
                          <a:latin typeface="Calibri" pitchFamily="34" charset="0"/>
                          <a:ea typeface="Calibri" pitchFamily="34" charset="-122"/>
                          <a:cs typeface="Calibri" pitchFamily="34" charset="-120"/>
                        </a:rPr>
                        <a:t>Валютный контроль</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30 $</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20 $</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457200">
                <a:tc>
                  <a:txBody>
                    <a:bodyPr/>
                    <a:lstStyle/>
                    <a:p>
                      <a:pPr algn="l" indent="0" marL="0">
                        <a:buNone/>
                      </a:pPr>
                      <a:r>
                        <a:rPr lang="en-US" sz="1300" b="1" dirty="0">
                          <a:solidFill>
                            <a:srgbClr val="262626"/>
                          </a:solidFill>
                          <a:latin typeface="Calibri" pitchFamily="34" charset="0"/>
                          <a:ea typeface="Calibri" pitchFamily="34" charset="-122"/>
                          <a:cs typeface="Calibri" pitchFamily="34" charset="-120"/>
                        </a:rPr>
                        <a:t>Обмен валюты</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около 100 $ (курс ЦБ + 0,5 %)</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курс банк не публикует</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262626"/>
                          </a:solidFill>
                          <a:latin typeface="Calibri" pitchFamily="34" charset="0"/>
                          <a:ea typeface="Calibri" pitchFamily="34" charset="-122"/>
                          <a:cs typeface="Calibri" pitchFamily="34" charset="-120"/>
                        </a:rPr>
                        <a:t>Опция ВЭД</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en-US" sz="1300" dirty="0">
                          <a:solidFill>
                            <a:srgbClr val="262626"/>
                          </a:solidFill>
                          <a:latin typeface="Calibri" pitchFamily="34" charset="0"/>
                          <a:ea typeface="Calibri" pitchFamily="34" charset="-122"/>
                          <a:cs typeface="Calibri" pitchFamily="34" charset="-120"/>
                        </a:rPr>
                        <a:t>2 890 ₽ в месяц</a:t>
                      </a:r>
                      <a:endParaRPr lang="en-US" sz="1300" dirty="0">
                        <a:latin typeface="Calibri" charset="0"/>
                        <a:ea typeface="Calibri" charset="0"/>
                        <a:cs typeface="Calibri" charset="0"/>
                      </a:endParaRPr>
                    </a:p>
                  </a:txBody>
                  <a:tcPr marL="73152"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bl>
          </a:graphicData>
        </a:graphic>
      </p:graphicFrame>
      <p:sp>
        <p:nvSpPr>
          <p:cNvPr id="8" name="Text 4"/>
          <p:cNvSpPr/>
          <p:nvPr/>
        </p:nvSpPr>
        <p:spPr>
          <a:xfrm>
            <a:off x="6583680" y="4206240"/>
            <a:ext cx="5148072" cy="1280160"/>
          </a:xfrm>
          <a:prstGeom prst="rect">
            <a:avLst/>
          </a:prstGeom>
          <a:noFill/>
          <a:ln/>
        </p:spPr>
        <p:txBody>
          <a:bodyPr wrap="square" lIns="0" tIns="0" rIns="0" bIns="0" rtlCol="0" anchor="t"/>
          <a:lstStyle/>
          <a:p>
            <a:pPr algn="l" indent="0" marL="0">
              <a:lnSpc>
                <a:spcPct val="105000"/>
              </a:lnSpc>
              <a:buNone/>
            </a:pPr>
            <a:r>
              <a:rPr lang="en-US" sz="1400" dirty="0">
                <a:solidFill>
                  <a:srgbClr val="262626"/>
                </a:solidFill>
                <a:latin typeface="Calibri" pitchFamily="34" charset="0"/>
                <a:ea typeface="Calibri" pitchFamily="34" charset="-122"/>
                <a:cs typeface="Calibri" pitchFamily="34" charset="-120"/>
              </a:rPr>
              <a:t>Кредиты компания не берет, поэтому для нее важнее, сколько стоит сам платеж. В Сбере больше всего денег уходит на обмен валюты, хотя сам перевод бесплатный.</a:t>
            </a:r>
            <a:endParaRPr lang="en-US" sz="14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Какой банк выбрать</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sp>
        <p:nvSpPr>
          <p:cNvPr id="4" name="Text 2"/>
          <p:cNvSpPr/>
          <p:nvPr/>
        </p:nvSpPr>
        <p:spPr>
          <a:xfrm>
            <a:off x="457200" y="1325880"/>
            <a:ext cx="11274552" cy="685800"/>
          </a:xfrm>
          <a:prstGeom prst="rect">
            <a:avLst/>
          </a:prstGeom>
          <a:noFill/>
          <a:ln/>
        </p:spPr>
        <p:txBody>
          <a:bodyPr wrap="square" lIns="0" tIns="0" rIns="0" bIns="0" rtlCol="0" anchor="t"/>
          <a:lstStyle/>
          <a:p>
            <a:pPr algn="l" indent="0" marL="0">
              <a:lnSpc>
                <a:spcPct val="105000"/>
              </a:lnSpc>
              <a:buNone/>
            </a:pPr>
            <a:r>
              <a:rPr lang="en-US" sz="1700" b="1" dirty="0">
                <a:solidFill>
                  <a:srgbClr val="262626"/>
                </a:solidFill>
                <a:latin typeface="Calibri" pitchFamily="34" charset="0"/>
                <a:ea typeface="Calibri" pitchFamily="34" charset="-122"/>
                <a:cs typeface="Calibri" pitchFamily="34" charset="-120"/>
              </a:rPr>
              <a:t>1. Сбербанк – основной. </a:t>
            </a:r>
            <a:pPr algn="l" indent="0" marL="0">
              <a:lnSpc>
                <a:spcPct val="105000"/>
              </a:lnSpc>
              <a:buNone/>
            </a:pPr>
            <a:r>
              <a:rPr lang="en-US" sz="1700" dirty="0">
                <a:solidFill>
                  <a:srgbClr val="262626"/>
                </a:solidFill>
                <a:latin typeface="Calibri" pitchFamily="34" charset="0"/>
                <a:ea typeface="Calibri" pitchFamily="34" charset="-122"/>
                <a:cs typeface="Calibri" pitchFamily="34" charset="-120"/>
              </a:rPr>
              <a:t>Свой филиал в Индии, переводы в рупиях бесплатно до конца 2026 года, деньги доходят за день. Минус – при обмене берут курс ЦБ плюс 0,5 %.</a:t>
            </a:r>
            <a:endParaRPr lang="en-US" sz="1700" dirty="0"/>
          </a:p>
        </p:txBody>
      </p:sp>
      <p:sp>
        <p:nvSpPr>
          <p:cNvPr id="5" name="Text 3"/>
          <p:cNvSpPr/>
          <p:nvPr/>
        </p:nvSpPr>
        <p:spPr>
          <a:xfrm>
            <a:off x="457200" y="2075688"/>
            <a:ext cx="11274552" cy="685800"/>
          </a:xfrm>
          <a:prstGeom prst="rect">
            <a:avLst/>
          </a:prstGeom>
          <a:noFill/>
          <a:ln/>
        </p:spPr>
        <p:txBody>
          <a:bodyPr wrap="square" lIns="0" tIns="0" rIns="0" bIns="0" rtlCol="0" anchor="t"/>
          <a:lstStyle/>
          <a:p>
            <a:pPr algn="l" indent="0" marL="0">
              <a:lnSpc>
                <a:spcPct val="105000"/>
              </a:lnSpc>
              <a:buNone/>
            </a:pPr>
            <a:r>
              <a:rPr lang="en-US" sz="1700" b="1" dirty="0">
                <a:solidFill>
                  <a:srgbClr val="262626"/>
                </a:solidFill>
                <a:latin typeface="Calibri" pitchFamily="34" charset="0"/>
                <a:ea typeface="Calibri" pitchFamily="34" charset="-122"/>
                <a:cs typeface="Calibri" pitchFamily="34" charset="-120"/>
              </a:rPr>
              <a:t>2. ВТБ – запасной. </a:t>
            </a:r>
            <a:pPr algn="l" indent="0" marL="0">
              <a:lnSpc>
                <a:spcPct val="105000"/>
              </a:lnSpc>
              <a:buNone/>
            </a:pPr>
            <a:r>
              <a:rPr lang="en-US" sz="1700" dirty="0">
                <a:solidFill>
                  <a:srgbClr val="262626"/>
                </a:solidFill>
                <a:latin typeface="Calibri" pitchFamily="34" charset="0"/>
                <a:ea typeface="Calibri" pitchFamily="34" charset="-122"/>
                <a:cs typeface="Calibri" pitchFamily="34" charset="-120"/>
              </a:rPr>
              <a:t>Тоже есть филиал в Индии. Перевод стоит 0,27 %, валютный контроль 0,1 %. Пригодится, если в Сбере будут задержки.</a:t>
            </a:r>
            <a:endParaRPr lang="en-US" sz="1700" dirty="0"/>
          </a:p>
        </p:txBody>
      </p:sp>
      <p:sp>
        <p:nvSpPr>
          <p:cNvPr id="6" name="Text 4"/>
          <p:cNvSpPr/>
          <p:nvPr/>
        </p:nvSpPr>
        <p:spPr>
          <a:xfrm>
            <a:off x="457200" y="2825496"/>
            <a:ext cx="11274552" cy="685800"/>
          </a:xfrm>
          <a:prstGeom prst="rect">
            <a:avLst/>
          </a:prstGeom>
          <a:noFill/>
          <a:ln/>
        </p:spPr>
        <p:txBody>
          <a:bodyPr wrap="square" lIns="0" tIns="0" rIns="0" bIns="0" rtlCol="0" anchor="t"/>
          <a:lstStyle/>
          <a:p>
            <a:pPr algn="l" indent="0" marL="0">
              <a:lnSpc>
                <a:spcPct val="105000"/>
              </a:lnSpc>
              <a:buNone/>
            </a:pPr>
            <a:r>
              <a:rPr lang="en-US" sz="1700" b="1" dirty="0">
                <a:solidFill>
                  <a:srgbClr val="262626"/>
                </a:solidFill>
                <a:latin typeface="Calibri" pitchFamily="34" charset="0"/>
                <a:ea typeface="Calibri" pitchFamily="34" charset="-122"/>
                <a:cs typeface="Calibri" pitchFamily="34" charset="-120"/>
              </a:rPr>
              <a:t>3. Т-Банк или Точка – для небольших платежей. </a:t>
            </a:r>
            <a:pPr algn="l" indent="0" marL="0">
              <a:lnSpc>
                <a:spcPct val="105000"/>
              </a:lnSpc>
              <a:buNone/>
            </a:pPr>
            <a:r>
              <a:rPr lang="en-US" sz="1700" dirty="0">
                <a:solidFill>
                  <a:srgbClr val="262626"/>
                </a:solidFill>
                <a:latin typeface="Calibri" pitchFamily="34" charset="0"/>
                <a:ea typeface="Calibri" pitchFamily="34" charset="-122"/>
                <a:cs typeface="Calibri" pitchFamily="34" charset="-120"/>
              </a:rPr>
              <a:t>Понятные тарифы на переводы в рупиях.</a:t>
            </a:r>
            <a:endParaRPr lang="en-US" sz="1700" dirty="0"/>
          </a:p>
        </p:txBody>
      </p:sp>
      <p:sp>
        <p:nvSpPr>
          <p:cNvPr id="7" name="Text 5"/>
          <p:cNvSpPr/>
          <p:nvPr/>
        </p:nvSpPr>
        <p:spPr>
          <a:xfrm>
            <a:off x="457200" y="3749040"/>
            <a:ext cx="11274552" cy="365760"/>
          </a:xfrm>
          <a:prstGeom prst="rect">
            <a:avLst/>
          </a:prstGeom>
          <a:noFill/>
          <a:ln/>
        </p:spPr>
        <p:txBody>
          <a:bodyPr wrap="square" lIns="0" tIns="0" rIns="0" bIns="0" rtlCol="0" anchor="t"/>
          <a:lstStyle/>
          <a:p>
            <a:pPr algn="l" indent="0" marL="0">
              <a:lnSpc>
                <a:spcPct val="105000"/>
              </a:lnSpc>
              <a:buNone/>
            </a:pPr>
            <a:r>
              <a:rPr lang="en-US" sz="1800" b="1" dirty="0">
                <a:solidFill>
                  <a:srgbClr val="2F5597"/>
                </a:solidFill>
                <a:latin typeface="Calibri" pitchFamily="34" charset="0"/>
                <a:ea typeface="Calibri" pitchFamily="34" charset="-122"/>
                <a:cs typeface="Calibri" pitchFamily="34" charset="-120"/>
              </a:rPr>
              <a:t>Что может помешать</a:t>
            </a:r>
            <a:endParaRPr lang="en-US" sz="1800" dirty="0"/>
          </a:p>
        </p:txBody>
      </p:sp>
      <p:sp>
        <p:nvSpPr>
          <p:cNvPr id="8" name="Text 6"/>
          <p:cNvSpPr/>
          <p:nvPr/>
        </p:nvSpPr>
        <p:spPr>
          <a:xfrm>
            <a:off x="457200" y="4206240"/>
            <a:ext cx="11274552" cy="182880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Сбербанк и ВТБ под санкциями США, а их индийские подразделения с августа 2026 года – под ограничениями ЕС, поэтому платежи могут задерживаться</a:t>
            </a:r>
            <a:endParaRPr lang="en-US" sz="1600" dirty="0"/>
          </a:p>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Акция Сбербанка на переводы в рупиях заканчивается 31 декабря 2026 года</a:t>
            </a:r>
            <a:endParaRPr lang="en-US" sz="1600" dirty="0"/>
          </a:p>
          <a:p>
            <a:pPr marL="342900" indent="-342900">
              <a:lnSpc>
                <a:spcPct val="105000"/>
              </a:lnSpc>
              <a:spcAft>
                <a:spcPts val="800"/>
              </a:spcAft>
              <a:buSzPct val="100000"/>
              <a:buChar char="•"/>
            </a:pPr>
            <a:r>
              <a:rPr lang="en-US" sz="1600" dirty="0">
                <a:solidFill>
                  <a:srgbClr val="262626"/>
                </a:solidFill>
                <a:latin typeface="Calibri" pitchFamily="34" charset="0"/>
                <a:ea typeface="Calibri" pitchFamily="34" charset="-122"/>
                <a:cs typeface="Calibri" pitchFamily="34" charset="-120"/>
              </a:rPr>
              <a:t>Банк поставщика должен принимать платежи через рупиевые счета, это нужно заранее согласовать с поставщиком</a:t>
            </a:r>
            <a:endParaRPr lang="en-US" sz="16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Выводы</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sp>
        <p:nvSpPr>
          <p:cNvPr id="4" name="Text 2"/>
          <p:cNvSpPr/>
          <p:nvPr/>
        </p:nvSpPr>
        <p:spPr>
          <a:xfrm>
            <a:off x="457200" y="1417320"/>
            <a:ext cx="11274552" cy="4754880"/>
          </a:xfrm>
          <a:prstGeom prst="rect">
            <a:avLst/>
          </a:prstGeom>
          <a:noFill/>
          <a:ln/>
        </p:spPr>
        <p:txBody>
          <a:bodyPr wrap="square" lIns="0" tIns="0" rIns="0" bIns="0" rtlCol="0" anchor="t"/>
          <a:lstStyle/>
          <a:p>
            <a:pPr marL="342900" indent="-342900">
              <a:lnSpc>
                <a:spcPct val="105000"/>
              </a:lnSpc>
              <a:spcAft>
                <a:spcPts val="1800"/>
              </a:spcAft>
              <a:buSzPct val="100000"/>
              <a:buChar char="•"/>
            </a:pPr>
            <a:r>
              <a:rPr lang="en-US" sz="2000" dirty="0">
                <a:solidFill>
                  <a:srgbClr val="262626"/>
                </a:solidFill>
                <a:latin typeface="Calibri" pitchFamily="34" charset="0"/>
                <a:ea typeface="Calibri" pitchFamily="34" charset="-122"/>
                <a:cs typeface="Calibri" pitchFamily="34" charset="-120"/>
              </a:rPr>
              <a:t>Конкурентов много, но каждый закрывает только часть того, что нужно гостинице или клинике</a:t>
            </a:r>
            <a:endParaRPr lang="en-US" sz="2000" dirty="0"/>
          </a:p>
          <a:p>
            <a:pPr marL="342900" indent="-342900">
              <a:lnSpc>
                <a:spcPct val="105000"/>
              </a:lnSpc>
              <a:spcAft>
                <a:spcPts val="1800"/>
              </a:spcAft>
              <a:buSzPct val="100000"/>
              <a:buChar char="•"/>
            </a:pPr>
            <a:r>
              <a:rPr lang="en-US" sz="2000" dirty="0">
                <a:solidFill>
                  <a:srgbClr val="262626"/>
                </a:solidFill>
                <a:latin typeface="Calibri" pitchFamily="34" charset="0"/>
                <a:ea typeface="Calibri" pitchFamily="34" charset="-122"/>
                <a:cs typeface="Calibri" pitchFamily="34" charset="-120"/>
              </a:rPr>
              <a:t>Сильнее всего METRO, «Лента PRO», фабрики Иваново и маркетплейсы</a:t>
            </a:r>
            <a:endParaRPr lang="en-US" sz="2000" dirty="0"/>
          </a:p>
          <a:p>
            <a:pPr marL="342900" indent="-342900">
              <a:lnSpc>
                <a:spcPct val="105000"/>
              </a:lnSpc>
              <a:spcAft>
                <a:spcPts val="1800"/>
              </a:spcAft>
              <a:buSzPct val="100000"/>
              <a:buChar char="•"/>
            </a:pPr>
            <a:r>
              <a:rPr lang="en-US" sz="2000" dirty="0">
                <a:solidFill>
                  <a:srgbClr val="262626"/>
                </a:solidFill>
                <a:latin typeface="Calibri" pitchFamily="34" charset="0"/>
                <a:ea typeface="Calibri" pitchFamily="34" charset="-122"/>
                <a:cs typeface="Calibri" pitchFamily="34" charset="-120"/>
              </a:rPr>
              <a:t>Клиентов будем забирать у маркетплейсов, сетей и фабрик: в первую очередь небольшие гостиницы, спа, фитнес-клубы и частные клиники</a:t>
            </a:r>
            <a:endParaRPr lang="en-US" sz="2000" dirty="0"/>
          </a:p>
          <a:p>
            <a:pPr marL="342900" indent="-342900">
              <a:lnSpc>
                <a:spcPct val="105000"/>
              </a:lnSpc>
              <a:spcAft>
                <a:spcPts val="1800"/>
              </a:spcAft>
              <a:buSzPct val="100000"/>
              <a:buChar char="•"/>
            </a:pPr>
            <a:r>
              <a:rPr lang="en-US" sz="2000" dirty="0">
                <a:solidFill>
                  <a:srgbClr val="262626"/>
                </a:solidFill>
                <a:latin typeface="Calibri" pitchFamily="34" charset="0"/>
                <a:ea typeface="Calibri" pitchFamily="34" charset="-122"/>
                <a:cs typeface="Calibri" pitchFamily="34" charset="-120"/>
              </a:rPr>
              <a:t>Главные угрозы – маркетплейсы, которые уже продают компаниям, и аренда белья</a:t>
            </a:r>
            <a:endParaRPr lang="en-US" sz="2000" dirty="0"/>
          </a:p>
          <a:p>
            <a:pPr marL="342900" indent="-342900">
              <a:lnSpc>
                <a:spcPct val="105000"/>
              </a:lnSpc>
              <a:spcAft>
                <a:spcPts val="1800"/>
              </a:spcAft>
              <a:buSzPct val="100000"/>
              <a:buChar char="•"/>
            </a:pPr>
            <a:r>
              <a:rPr lang="en-US" sz="2000" dirty="0">
                <a:solidFill>
                  <a:srgbClr val="262626"/>
                </a:solidFill>
                <a:latin typeface="Calibri" pitchFamily="34" charset="0"/>
                <a:ea typeface="Calibri" pitchFamily="34" charset="-122"/>
                <a:cs typeface="Calibri" pitchFamily="34" charset="-120"/>
              </a:rPr>
              <a:t>Платить поставщикам лучше через Сбербанк, ВТБ оставить запасным банком, для небольших платежей можно открыть счет в Т-Банке или Точке</a:t>
            </a:r>
            <a:endParaRPr lang="en-US" sz="20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74320"/>
            <a:ext cx="11247120" cy="685800"/>
          </a:xfrm>
          <a:prstGeom prst="rect">
            <a:avLst/>
          </a:prstGeom>
          <a:noFill/>
          <a:ln/>
        </p:spPr>
        <p:txBody>
          <a:bodyPr wrap="square" lIns="0" tIns="0" rIns="0" bIns="0" rtlCol="0" anchor="b"/>
          <a:lstStyle/>
          <a:p>
            <a:pPr indent="0" marL="0">
              <a:buNone/>
            </a:pPr>
            <a:r>
              <a:rPr lang="en-US" sz="2800" b="1" dirty="0">
                <a:solidFill>
                  <a:srgbClr val="1F3864"/>
                </a:solidFill>
                <a:latin typeface="Calibri" pitchFamily="34" charset="0"/>
                <a:ea typeface="Calibri" pitchFamily="34" charset="-122"/>
                <a:cs typeface="Calibri" pitchFamily="34" charset="-120"/>
              </a:rPr>
              <a:t>Источники</a:t>
            </a:r>
            <a:endParaRPr lang="en-US" sz="2800" dirty="0"/>
          </a:p>
        </p:txBody>
      </p:sp>
      <p:sp>
        <p:nvSpPr>
          <p:cNvPr id="3" name="Shape 1"/>
          <p:cNvSpPr/>
          <p:nvPr/>
        </p:nvSpPr>
        <p:spPr>
          <a:xfrm>
            <a:off x="457200" y="1024128"/>
            <a:ext cx="11274552" cy="0"/>
          </a:xfrm>
          <a:prstGeom prst="line">
            <a:avLst/>
          </a:prstGeom>
          <a:noFill/>
          <a:ln w="19050">
            <a:solidFill>
              <a:srgbClr val="2F5597"/>
            </a:solidFill>
            <a:prstDash val="solid"/>
          </a:ln>
        </p:spPr>
      </p:sp>
      <p:sp>
        <p:nvSpPr>
          <p:cNvPr id="4" name="Text 2"/>
          <p:cNvSpPr/>
          <p:nvPr/>
        </p:nvSpPr>
        <p:spPr>
          <a:xfrm>
            <a:off x="457200" y="1325880"/>
            <a:ext cx="11274552" cy="484632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400" dirty="0">
                <a:solidFill>
                  <a:srgbClr val="262626"/>
                </a:solidFill>
                <a:latin typeface="Calibri" pitchFamily="34" charset="0"/>
                <a:ea typeface="Calibri" pitchFamily="34" charset="-122"/>
                <a:cs typeface="Calibri" pitchFamily="34" charset="-120"/>
              </a:rPr>
              <a:t>Банк России: решения по ключевой ставке, статистика ставок по кредитам и депозитам – cbr.ru</a:t>
            </a:r>
            <a:endParaRPr lang="en-US" sz="1400" dirty="0"/>
          </a:p>
          <a:p>
            <a:pPr marL="342900" indent="-342900">
              <a:lnSpc>
                <a:spcPct val="105000"/>
              </a:lnSpc>
              <a:spcAft>
                <a:spcPts val="500"/>
              </a:spcAft>
              <a:buSzPct val="100000"/>
              <a:buChar char="•"/>
            </a:pPr>
            <a:r>
              <a:rPr lang="en-US" sz="1400" dirty="0">
                <a:solidFill>
                  <a:srgbClr val="262626"/>
                </a:solidFill>
                <a:latin typeface="Calibri" pitchFamily="34" charset="0"/>
                <a:ea typeface="Calibri" pitchFamily="34" charset="-122"/>
                <a:cs typeface="Calibri" pitchFamily="34" charset="-120"/>
              </a:rPr>
              <a:t>Сбербанк: расчеты с Индией – sberbank.ru/ru/s_m_business/ved/india</a:t>
            </a:r>
            <a:endParaRPr lang="en-US" sz="1400" dirty="0"/>
          </a:p>
          <a:p>
            <a:pPr marL="342900" indent="-342900">
              <a:lnSpc>
                <a:spcPct val="105000"/>
              </a:lnSpc>
              <a:spcAft>
                <a:spcPts val="500"/>
              </a:spcAft>
              <a:buSzPct val="100000"/>
              <a:buChar char="•"/>
            </a:pPr>
            <a:r>
              <a:rPr lang="en-US" sz="1400" dirty="0">
                <a:solidFill>
                  <a:srgbClr val="262626"/>
                </a:solidFill>
                <a:latin typeface="Calibri" pitchFamily="34" charset="0"/>
                <a:ea typeface="Calibri" pitchFamily="34" charset="-122"/>
                <a:cs typeface="Calibri" pitchFamily="34" charset="-120"/>
              </a:rPr>
              <a:t>ВТБ: тарифы ВЭД и счет в рупиях – vtb.ru/malyj-biznes</a:t>
            </a:r>
            <a:endParaRPr lang="en-US" sz="1400" dirty="0"/>
          </a:p>
          <a:p>
            <a:pPr marL="342900" indent="-342900">
              <a:lnSpc>
                <a:spcPct val="105000"/>
              </a:lnSpc>
              <a:spcAft>
                <a:spcPts val="500"/>
              </a:spcAft>
              <a:buSzPct val="100000"/>
              <a:buChar char="•"/>
            </a:pPr>
            <a:r>
              <a:rPr lang="en-US" sz="1400" dirty="0">
                <a:solidFill>
                  <a:srgbClr val="262626"/>
                </a:solidFill>
                <a:latin typeface="Calibri" pitchFamily="34" charset="0"/>
                <a:ea typeface="Calibri" pitchFamily="34" charset="-122"/>
                <a:cs typeface="Calibri" pitchFamily="34" charset="-120"/>
              </a:rPr>
              <a:t>Т-Банк: тарифы для бизнеса – tbank.ru/business/tariffs; Точка: платежи в Индию – tochka.com</a:t>
            </a:r>
            <a:endParaRPr lang="en-US" sz="1400" dirty="0"/>
          </a:p>
          <a:p>
            <a:pPr marL="342900" indent="-342900">
              <a:lnSpc>
                <a:spcPct val="105000"/>
              </a:lnSpc>
              <a:spcAft>
                <a:spcPts val="500"/>
              </a:spcAft>
              <a:buSzPct val="100000"/>
              <a:buChar char="•"/>
            </a:pPr>
            <a:r>
              <a:rPr lang="en-US" sz="1400" dirty="0">
                <a:solidFill>
                  <a:srgbClr val="262626"/>
                </a:solidFill>
                <a:latin typeface="Calibri" pitchFamily="34" charset="0"/>
                <a:ea typeface="Calibri" pitchFamily="34" charset="-122"/>
                <a:cs typeface="Calibri" pitchFamily="34" charset="-120"/>
              </a:rPr>
              <a:t>Profile.ru: рынок постельного белья (июль 2026); Mordor Intelligence: Russia Home Textile Market</a:t>
            </a:r>
            <a:endParaRPr lang="en-US" sz="1400" dirty="0"/>
          </a:p>
          <a:p>
            <a:pPr marL="342900" indent="-342900">
              <a:lnSpc>
                <a:spcPct val="105000"/>
              </a:lnSpc>
              <a:spcAft>
                <a:spcPts val="500"/>
              </a:spcAft>
              <a:buSzPct val="100000"/>
              <a:buChar char="•"/>
            </a:pPr>
            <a:r>
              <a:rPr lang="en-US" sz="1400" dirty="0">
                <a:solidFill>
                  <a:srgbClr val="262626"/>
                </a:solidFill>
                <a:latin typeface="Calibri" pitchFamily="34" charset="0"/>
                <a:ea typeface="Calibri" pitchFamily="34" charset="-122"/>
                <a:cs typeface="Calibri" pitchFamily="34" charset="-120"/>
              </a:rPr>
              <a:t>Retail.ru, New Retail, «Коммерсантъ»: METRO, «Лента», Ашан, Askona, Fix Price, Familia, Hoff, Wildberries</a:t>
            </a:r>
            <a:endParaRPr lang="en-US" sz="1400" dirty="0"/>
          </a:p>
          <a:p>
            <a:pPr marL="342900" indent="-342900">
              <a:lnSpc>
                <a:spcPct val="105000"/>
              </a:lnSpc>
              <a:spcAft>
                <a:spcPts val="500"/>
              </a:spcAft>
              <a:buSzPct val="100000"/>
              <a:buChar char="•"/>
            </a:pPr>
            <a:r>
              <a:rPr lang="en-US" sz="1400" dirty="0">
                <a:solidFill>
                  <a:srgbClr val="262626"/>
                </a:solidFill>
                <a:latin typeface="Calibri" pitchFamily="34" charset="0"/>
                <a:ea typeface="Calibri" pitchFamily="34" charset="-122"/>
                <a:cs typeface="Calibri" pitchFamily="34" charset="-120"/>
              </a:rPr>
              <a:t>Ozon: итоги 2025 года – corp.ozon.ru</a:t>
            </a:r>
            <a:endParaRPr lang="en-US" sz="1400" dirty="0"/>
          </a:p>
          <a:p>
            <a:pPr marL="342900" indent="-342900">
              <a:lnSpc>
                <a:spcPct val="105000"/>
              </a:lnSpc>
              <a:spcAft>
                <a:spcPts val="500"/>
              </a:spcAft>
              <a:buSzPct val="100000"/>
              <a:buChar char="•"/>
            </a:pPr>
            <a:r>
              <a:rPr lang="en-US" sz="1400" dirty="0">
                <a:solidFill>
                  <a:srgbClr val="262626"/>
                </a:solidFill>
                <a:latin typeface="Calibri" pitchFamily="34" charset="0"/>
                <a:ea typeface="Calibri" pitchFamily="34" charset="-122"/>
                <a:cs typeface="Calibri" pitchFamily="34" charset="-120"/>
              </a:rPr>
              <a:t>Мосстат: коллективные средства размещения в Москве; Администрация Санкт-Петербурга: гостиницы города</a:t>
            </a:r>
            <a:endParaRPr lang="en-US" sz="1400" dirty="0"/>
          </a:p>
          <a:p>
            <a:pPr marL="342900" indent="-342900">
              <a:lnSpc>
                <a:spcPct val="105000"/>
              </a:lnSpc>
              <a:spcAft>
                <a:spcPts val="500"/>
              </a:spcAft>
              <a:buSzPct val="100000"/>
              <a:buChar char="•"/>
            </a:pPr>
            <a:r>
              <a:rPr lang="en-US" sz="1400" dirty="0">
                <a:solidFill>
                  <a:srgbClr val="262626"/>
                </a:solidFill>
                <a:latin typeface="Calibri" pitchFamily="34" charset="0"/>
                <a:ea typeface="Calibri" pitchFamily="34" charset="-122"/>
                <a:cs typeface="Calibri" pitchFamily="34" charset="-120"/>
              </a:rPr>
              <a:t>Hotel.Report, Атор: аренда белья для гостиниц; РБК Компании: Lindaily</a:t>
            </a:r>
            <a:endParaRPr lang="en-US" sz="1400" dirty="0"/>
          </a:p>
          <a:p>
            <a:pPr marL="342900" indent="-342900">
              <a:lnSpc>
                <a:spcPct val="105000"/>
              </a:lnSpc>
              <a:spcAft>
                <a:spcPts val="500"/>
              </a:spcAft>
              <a:buSzPct val="100000"/>
              <a:buChar char="•"/>
            </a:pPr>
            <a:r>
              <a:rPr lang="en-US" sz="1400" dirty="0">
                <a:solidFill>
                  <a:srgbClr val="262626"/>
                </a:solidFill>
                <a:latin typeface="Calibri" pitchFamily="34" charset="0"/>
                <a:ea typeface="Calibri" pitchFamily="34" charset="-122"/>
                <a:cs typeface="Calibri" pitchFamily="34" charset="-120"/>
              </a:rPr>
              <a:t>Business Standard: рупиевые счета российских банков (2022)</a:t>
            </a:r>
            <a:endParaRPr lang="en-US" sz="1400" dirty="0"/>
          </a:p>
        </p:txBody>
      </p:sp>
      <p:sp>
        <p:nvSpPr>
          <p:cNvPr id="25" name="Slide Number Placeholder 0"/>
          <p:cNvSpPr>
            <a:spLocks noGrp="1"/>
          </p:cNvSpPr>
          <p:nvPr>
            <p:ph type="sldNum" sz="quarter" idx="4294967295"/>
          </p:nvPr>
        </p:nvSpPr>
        <p:spPr>
          <a:xfrm>
            <a:off x="11292840"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F7F7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deck/a/weave.jpg">    </p:cNvPr>
          <p:cNvPicPr>
            <a:picLocks noChangeAspect="1"/>
          </p:cNvPicPr>
          <p:nvPr/>
        </p:nvPicPr>
        <p:blipFill>
          <a:blip r:embed="rId1"/>
          <a:srcRect l="0" r="0" t="0" b="0"/>
          <a:stretch/>
        </p:blipFill>
        <p:spPr>
          <a:xfrm>
            <a:off x="7863840" y="0"/>
            <a:ext cx="4327855" cy="6858000"/>
          </a:xfrm>
          <a:prstGeom prst="rect">
            <a:avLst/>
          </a:prstGeom>
        </p:spPr>
      </p:pic>
      <p:sp>
        <p:nvSpPr>
          <p:cNvPr id="3" name="Text 0"/>
          <p:cNvSpPr/>
          <p:nvPr/>
        </p:nvSpPr>
        <p:spPr>
          <a:xfrm>
            <a:off x="640080" y="2377440"/>
            <a:ext cx="6949440" cy="914400"/>
          </a:xfrm>
          <a:prstGeom prst="rect">
            <a:avLst/>
          </a:prstGeom>
          <a:noFill/>
          <a:ln/>
        </p:spPr>
        <p:txBody>
          <a:bodyPr wrap="square" lIns="0" tIns="0" rIns="0" bIns="0" rtlCol="0" anchor="t"/>
          <a:lstStyle/>
          <a:p>
            <a:pPr algn="l" indent="0" marL="0">
              <a:lnSpc>
                <a:spcPct val="105000"/>
              </a:lnSpc>
              <a:buNone/>
            </a:pPr>
            <a:r>
              <a:rPr lang="en-US" sz="4000" b="1" dirty="0">
                <a:solidFill>
                  <a:srgbClr val="1F3864"/>
                </a:solidFill>
                <a:latin typeface="Calibri" pitchFamily="34" charset="0"/>
                <a:ea typeface="Calibri" pitchFamily="34" charset="-122"/>
                <a:cs typeface="Calibri" pitchFamily="34" charset="-120"/>
              </a:rPr>
              <a:t>Спасибо за внимание!</a:t>
            </a:r>
            <a:endParaRPr lang="en-US" sz="4000" dirty="0"/>
          </a:p>
        </p:txBody>
      </p:sp>
      <p:sp>
        <p:nvSpPr>
          <p:cNvPr id="4" name="Text 1"/>
          <p:cNvSpPr/>
          <p:nvPr/>
        </p:nvSpPr>
        <p:spPr>
          <a:xfrm>
            <a:off x="640080" y="3337560"/>
            <a:ext cx="6949440" cy="457200"/>
          </a:xfrm>
          <a:prstGeom prst="rect">
            <a:avLst/>
          </a:prstGeom>
          <a:noFill/>
          <a:ln/>
        </p:spPr>
        <p:txBody>
          <a:bodyPr wrap="square" lIns="0" tIns="0" rIns="0" bIns="0" rtlCol="0" anchor="t"/>
          <a:lstStyle/>
          <a:p>
            <a:pPr algn="l" indent="0" marL="0">
              <a:lnSpc>
                <a:spcPct val="105000"/>
              </a:lnSpc>
              <a:buNone/>
            </a:pPr>
            <a:r>
              <a:rPr lang="en-US" sz="2000" dirty="0">
                <a:solidFill>
                  <a:srgbClr val="2F5597"/>
                </a:solidFill>
                <a:latin typeface="Calibri" pitchFamily="34" charset="0"/>
                <a:ea typeface="Calibri" pitchFamily="34" charset="-122"/>
                <a:cs typeface="Calibri" pitchFamily="34" charset="-120"/>
              </a:rPr>
              <a:t>Готовы ответить на вопросы</a:t>
            </a:r>
            <a:endParaRPr lang="en-US" sz="2000" dirty="0"/>
          </a:p>
        </p:txBody>
      </p:sp>
      <p:sp>
        <p:nvSpPr>
          <p:cNvPr id="5" name="Text 2"/>
          <p:cNvSpPr/>
          <p:nvPr/>
        </p:nvSpPr>
        <p:spPr>
          <a:xfrm>
            <a:off x="640080" y="5120640"/>
            <a:ext cx="6949440" cy="365760"/>
          </a:xfrm>
          <a:prstGeom prst="rect">
            <a:avLst/>
          </a:prstGeom>
          <a:noFill/>
          <a:ln/>
        </p:spPr>
        <p:txBody>
          <a:bodyPr wrap="square" lIns="0" tIns="0" rIns="0" bIns="0" rtlCol="0" anchor="t"/>
          <a:lstStyle/>
          <a:p>
            <a:pPr algn="l" indent="0" marL="0">
              <a:lnSpc>
                <a:spcPct val="105000"/>
              </a:lnSpc>
              <a:buNone/>
            </a:pPr>
            <a:r>
              <a:rPr lang="en-US" sz="1400" dirty="0">
                <a:solidFill>
                  <a:srgbClr val="7F7F7F"/>
                </a:solidFill>
                <a:latin typeface="Calibri" pitchFamily="34" charset="0"/>
                <a:ea typeface="Calibri" pitchFamily="34" charset="-122"/>
                <a:cs typeface="Calibri" pitchFamily="34" charset="-120"/>
              </a:rPr>
              <a:t>Команда 5: Багишев Алихан, Тимофеева Александра, группа ТД-2541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Команда 5, группа ТД-2541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Анализ конкурентов и банков</dc:title>
  <dc:subject>PptxGenJS Presentation</dc:subject>
  <dc:creator>Багишев Алихан, Тимофеева Александра</dc:creator>
  <cp:lastModifiedBy>Багишев Алихан, Тимофеева Александра</cp:lastModifiedBy>
  <cp:revision>1</cp:revision>
  <dcterms:created xsi:type="dcterms:W3CDTF">2026-10-19T16:11:47Z</dcterms:created>
  <dcterms:modified xsi:type="dcterms:W3CDTF">2026-10-19T16:11:47Z</dcterms:modified>
</cp:coreProperties>
</file>