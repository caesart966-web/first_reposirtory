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91295" y="-109728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42855" y="3977639"/>
            <a:ext cx="1920240" cy="1920240"/>
          </a:xfrm>
          <a:prstGeom prst="roundRect">
            <a:avLst>
              <a:gd name="adj" fmla="val 50000"/>
            </a:avLst>
          </a:prstGeom>
          <a:solidFill>
            <a:srgbClr val="1B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39935" y="868680"/>
            <a:ext cx="13716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630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Segoe UI"/>
                <a:cs typeface="Segoe UI"/>
              </a:rPr>
              <a:t>ИССЛЕДОВАНИЕ ОТРАСЛЕВОГО РЫНКА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  <a:cs typeface="Segoe UI"/>
              </a:rPr>
              <a:t>Текстильный рынок</a:t>
            </a:r>
          </a:p>
          <a:p>
            <a:pPr algn="l">
              <a:lnSpc>
                <a:spcPct val="98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  <a:cs typeface="Segoe UI"/>
              </a:rPr>
              <a:t>Индии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822191"/>
            <a:ext cx="1463040" cy="45720"/>
          </a:xfrm>
          <a:prstGeom prst="rect">
            <a:avLst/>
          </a:prstGeom>
          <a:solidFill>
            <a:srgbClr val="B5B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B5B3AC"/>
                </a:solidFill>
                <a:latin typeface="Segoe UI"/>
                <a:cs typeface="Segoe UI"/>
              </a:rPr>
              <a:t>Масштаб, структура экспорта, точки роста
и сравнение с текстильной отраслью Турции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5321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A8880"/>
                </a:solidFill>
                <a:latin typeface="Segoe UI"/>
                <a:cs typeface="Segoe UI"/>
              </a:rPr>
              <a:t>ДОКЛАД ПОДГОТОВИЛИ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33872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Багишев Алихан   ·   Тимофеева Александра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О ЧЁМ ДОКЛАД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Три вопроса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3362858" cy="324612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2140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852928"/>
            <a:ext cx="259476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 i="0">
                <a:solidFill>
                  <a:srgbClr val="12151A"/>
                </a:solidFill>
                <a:latin typeface="Segoe UI"/>
                <a:cs typeface="Segoe UI"/>
              </a:rPr>
              <a:t>Что такое текстильная отрасль Индии в цифрах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904487"/>
            <a:ext cx="259476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Масштаб, структура экспорта, сырьевая база, государственные программы.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1755648"/>
            <a:ext cx="3362858" cy="324612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8466" y="212140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8466" y="2852928"/>
            <a:ext cx="259476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 i="0">
                <a:solidFill>
                  <a:srgbClr val="12151A"/>
                </a:solidFill>
                <a:latin typeface="Segoe UI"/>
                <a:cs typeface="Segoe UI"/>
              </a:rPr>
              <a:t>Что изменилось для неё в 2025–2026 годах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8466" y="3904487"/>
            <a:ext cx="259476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Тарифы США, соглашения с Великобританией и ЕС, разворот к химволокну.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1755648"/>
            <a:ext cx="3362858" cy="324612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644" y="212140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644" y="2852928"/>
            <a:ext cx="259476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 i="0">
                <a:solidFill>
                  <a:srgbClr val="12151A"/>
                </a:solidFill>
                <a:latin typeface="Segoe UI"/>
                <a:cs typeface="Segoe UI"/>
              </a:rPr>
              <a:t>Чем Индия отличается от Турции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644" y="3904487"/>
            <a:ext cx="259476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Две разные модели конкуренции — и кто выигрывает на рынке ЕС.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Источники данных: Министерство текстиля Индии (PIB), GTRI, IBEF, USDA FAS, Евростат, Türkiye Today, Fibre2Fashion, ВТО. Полный список — на последнем слайде.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МАСШТАБ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Отрасль в четырёх цифрах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0292" cy="2560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$225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млрд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Внутренний рынок текстиля
и одежды, 2025 год.
Рост 10–12% в год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6835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6835" y="1755648"/>
            <a:ext cx="50292" cy="2560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7731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45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млн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7731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Занятых напрямую.
Второй работодатель страны
после сельского хозяйства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755648"/>
            <a:ext cx="50292" cy="2560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~11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Доля в добавленной стоимости
обрабатывающей промышленности.
В ВВП — около 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027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027" y="1755648"/>
            <a:ext cx="50292" cy="2560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6923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4,6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6923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Доля в мировой торговле
текстилем и одеждой.
2-й производитель, 3-й экспортёр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17720"/>
            <a:ext cx="10637215" cy="1170432"/>
          </a:xfrm>
          <a:prstGeom prst="roundRect">
            <a:avLst>
              <a:gd name="adj" fmla="val 5000"/>
            </a:avLst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73752"/>
            <a:ext cx="98142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  <a:cs typeface="Segoe UI"/>
              </a:rPr>
              <a:t>Внутренний рынок в 6 раз больше экспорта.</a:t>
            </a:r>
            <a:r>
              <a:rPr sz="1450" b="0">
                <a:solidFill>
                  <a:srgbClr val="B5B3AC"/>
                </a:solidFill>
                <a:latin typeface="Segoe UI"/>
                <a:cs typeface="Segoe UI"/>
              </a:rPr>
              <a:t>  Индия — прежде всего собственный потребитель, а не экспортная витрина. Цель правительства — $350 млрд к 2030 году.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IBEF, «Indian Textiles and Apparel Industry Analysis», февраль 2026.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ЭКСПОРТ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Структура экспорта, 2025–26 фин. год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39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Всего 3,16 трлн рупий ≈ $35,8 млрд. Под столбцами — доля и рост за год в рупиях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9404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Готовая одежда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075688"/>
            <a:ext cx="592805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2075688"/>
            <a:ext cx="5928055" cy="365760"/>
          </a:xfrm>
          <a:prstGeom prst="roundRect">
            <a:avLst>
              <a:gd name="adj" fmla="val 13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559" y="208940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$15,8 млрд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455164"/>
            <a:ext cx="5928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44% экспорта   ·   +2,9%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4348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Хлопок: пряжа, ткани,
готовые изделия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770632"/>
            <a:ext cx="592805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86200" y="2770632"/>
            <a:ext cx="4352243" cy="365760"/>
          </a:xfrm>
          <a:prstGeom prst="roundRect">
            <a:avLst>
              <a:gd name="adj" fmla="val 13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0559" y="278434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$11,6 млрд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150108"/>
            <a:ext cx="5928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32%   ·   +0,4% — почти остановка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9292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Химволокно: пряжа,
ткани, изделия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3465576"/>
            <a:ext cx="592805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86200" y="3465576"/>
            <a:ext cx="1800928" cy="365760"/>
          </a:xfrm>
          <a:prstGeom prst="roundRect">
            <a:avLst>
              <a:gd name="adj" fmla="val 13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0559" y="3479292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$4,8 млрд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845052"/>
            <a:ext cx="5928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BAF7A"/>
                </a:solidFill>
                <a:latin typeface="Segoe UI"/>
                <a:cs typeface="Segoe UI"/>
              </a:rPr>
              <a:t>13%   ·   +3,6% — самый быстрый сегмент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74235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Ремёсла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4160520"/>
            <a:ext cx="592805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86200" y="4160520"/>
            <a:ext cx="675348" cy="365760"/>
          </a:xfrm>
          <a:prstGeom prst="roundRect">
            <a:avLst>
              <a:gd name="adj" fmla="val 13000"/>
            </a:avLst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0559" y="4174235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$1,8 млрд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539996"/>
            <a:ext cx="5928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5%   ·   +6,1%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69179"/>
            <a:ext cx="292607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Прочее: ковры, джут,
шёлк, шерсть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4855464"/>
            <a:ext cx="592805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4855464"/>
            <a:ext cx="675348" cy="365760"/>
          </a:xfrm>
          <a:prstGeom prst="roundRect">
            <a:avLst>
              <a:gd name="adj" fmla="val 13000"/>
            </a:avLst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0559" y="4869179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$1,8 млрд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234940"/>
            <a:ext cx="59280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577840"/>
            <a:ext cx="10637215" cy="566928"/>
          </a:xfrm>
          <a:prstGeom prst="roundRect">
            <a:avLst>
              <a:gd name="adj" fmla="val 8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24144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2151A"/>
                </a:solidFill>
                <a:latin typeface="Segoe UI"/>
                <a:cs typeface="Segoe UI"/>
              </a:rPr>
              <a:t>Главный рынок — США: </a:t>
            </a:r>
            <a:r>
              <a:rPr sz="1300" b="0">
                <a:solidFill>
                  <a:srgbClr val="52514E"/>
                </a:solidFill>
                <a:latin typeface="Segoe UI"/>
                <a:cs typeface="Segoe UI"/>
              </a:rPr>
              <a:t>33% экспорта готовой одежды, $5,33 млрд. Рост зафиксирован более чем в 120 странах.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PIB, Министерство текстиля Индии, апрель 2026; GTRI. Пересчёт рупий в доллары по курсу ≈ 88 рупий за доллар.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2025–26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Главный парадокс года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0292" cy="1874519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084831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BAF7A"/>
                </a:solidFill>
                <a:latin typeface="Segoe UI"/>
                <a:cs typeface="Segoe UI"/>
              </a:rPr>
              <a:t>+2,1%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871215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в рупиях. Официальный релиз
Министерства текстиля Индии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755648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755648"/>
            <a:ext cx="50292" cy="1874519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84831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34948"/>
                </a:solidFill>
                <a:latin typeface="Segoe UI"/>
                <a:cs typeface="Segoe UI"/>
              </a:rPr>
              <a:t>−2,2%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871215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в долларах, до $35,8 млрд.
Оценка GTRI по тем же данным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58768"/>
            <a:ext cx="106372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2151A"/>
                </a:solidFill>
                <a:latin typeface="Segoe UI"/>
                <a:cs typeface="Segoe UI"/>
              </a:rPr>
              <a:t>Оба утверждения верны. </a:t>
            </a:r>
            <a:r>
              <a:rPr sz="1600" b="0">
                <a:solidFill>
                  <a:srgbClr val="52514E"/>
                </a:solidFill>
                <a:latin typeface="Segoe UI"/>
                <a:cs typeface="Segoe UI"/>
              </a:rPr>
              <a:t>Разницу съела девальвация рупии. Причина падения — тарифы США.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46320"/>
            <a:ext cx="10637215" cy="27432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745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8A8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68172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151A"/>
                </a:solidFill>
                <a:latin typeface="Segoe UI"/>
                <a:cs typeface="Segoe UI"/>
              </a:rPr>
              <a:t>7 авг.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74336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Пошлина США
+25%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4745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8738" y="468172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151A"/>
                </a:solidFill>
                <a:latin typeface="Segoe UI"/>
                <a:cs typeface="Segoe UI"/>
              </a:rPr>
              <a:t>27 авг.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8738" y="4974336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Ещё +25%.
Итого 50%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8716" y="47457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4476" y="468172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151A"/>
                </a:solidFill>
                <a:latin typeface="Segoe UI"/>
                <a:cs typeface="Segoe UI"/>
              </a:rPr>
              <a:t>3 фев.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4476" y="4974336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Сделка:
тариф 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США — 28% экспорта текстиля и одежды Индии, более $10 млрд в год. Текстиль пострадал от тарифов сильнее других отраслей: отдельные экспортёры теряли до половины оборота.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СЫРЬЁ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Хлопок: сила и ловушка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5135727" cy="331012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135727" cy="502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AF7A"/>
                </a:solidFill>
                <a:latin typeface="Segoe UI"/>
                <a:cs typeface="Segoe UI"/>
              </a:rPr>
              <a:t>СИЛА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24328"/>
            <a:ext cx="431276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3000" b="1">
                <a:solidFill>
                  <a:srgbClr val="12151A"/>
                </a:solidFill>
                <a:latin typeface="Segoe UI"/>
                <a:cs typeface="Segoe UI"/>
              </a:rPr>
              <a:t>36%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Segoe UI"/>
                <a:cs typeface="Segoe UI"/>
              </a:rPr>
              <a:t>мировых посевных площадей под хлопком — 11,4 млн га. Первое место в мире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200" b="1">
                <a:solidFill>
                  <a:srgbClr val="12151A"/>
                </a:solidFill>
                <a:latin typeface="Segoe UI"/>
                <a:cs typeface="Segoe UI"/>
              </a:rPr>
              <a:t>5,4 млн 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Segoe UI"/>
                <a:cs typeface="Segoe UI"/>
              </a:rPr>
              <a:t>сбор сезона 2025/26 — около 21% мирового производства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55648"/>
            <a:ext cx="5135727" cy="331012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755648"/>
            <a:ext cx="5135727" cy="5029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0207" y="2103120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34948"/>
                </a:solidFill>
                <a:latin typeface="Segoe UI"/>
                <a:cs typeface="Segoe UI"/>
              </a:rPr>
              <a:t>ЛОВУШКА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2624328"/>
            <a:ext cx="431276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3000" b="1">
                <a:solidFill>
                  <a:srgbClr val="12151A"/>
                </a:solidFill>
                <a:latin typeface="Segoe UI"/>
                <a:cs typeface="Segoe UI"/>
              </a:rPr>
              <a:t>60 : 40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Segoe UI"/>
                <a:cs typeface="Segoe UI"/>
              </a:rPr>
              <a:t>соотношение хлопок : химволокно в Индии. В мире — ровно наоборот, 25 : 75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200" b="1">
                <a:solidFill>
                  <a:srgbClr val="12151A"/>
                </a:solidFill>
                <a:latin typeface="Segoe UI"/>
                <a:cs typeface="Segoe UI"/>
              </a:rPr>
              <a:t>9,2%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Segoe UI"/>
                <a:cs typeface="Segoe UI"/>
              </a:rPr>
              <a:t>доля Индии в мировом производстве химических волокон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266944"/>
            <a:ext cx="10637215" cy="841248"/>
          </a:xfrm>
          <a:prstGeom prst="roundRect">
            <a:avLst>
              <a:gd name="adj" fmla="val 5000"/>
            </a:avLst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449824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Индия сильна в том сырье, спрос на которое растёт медленнее всего.</a:t>
            </a:r>
            <a:r>
              <a:rPr sz="1350" b="0">
                <a:solidFill>
                  <a:srgbClr val="B5B3AC"/>
                </a:solidFill>
                <a:latin typeface="Segoe UI"/>
                <a:cs typeface="Segoe UI"/>
              </a:rPr>
              <a:t>  В 2024 году химволокно дало 77% мирового потребления волокна, хлопок — 22%.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USDA FAS, Cotton and Products Update — India, 2025/26; Минтекстиля Индии, концепция National Fibre Mission 2030–31.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ПОЛИТИКА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Что делает государство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337505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7505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39696"/>
            <a:ext cx="264353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2151A"/>
                </a:solidFill>
                <a:latin typeface="Segoe UI"/>
                <a:cs typeface="Segoe UI"/>
              </a:rPr>
              <a:t>PLI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98063"/>
            <a:ext cx="2643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B6834"/>
                </a:solidFill>
                <a:latin typeface="Segoe UI"/>
                <a:cs typeface="Segoe UI"/>
              </a:rPr>
              <a:t>≈ $1,2 млрд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19856"/>
            <a:ext cx="26435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Субсидия за результат: одежда и ткани из химволокна плюс 10 сегментов технического текстиля.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681728"/>
            <a:ext cx="2643530" cy="18288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46320"/>
            <a:ext cx="26435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2151A"/>
                </a:solidFill>
                <a:latin typeface="Segoe UI"/>
                <a:cs typeface="Segoe UI"/>
              </a:rPr>
              <a:t>Факт на 31.03.2026: вложено ≈ $0,9 млрд, создано 33 427 рабочих мест.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8322" y="1755648"/>
            <a:ext cx="337505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8322" y="1755648"/>
            <a:ext cx="337505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4082" y="2139696"/>
            <a:ext cx="264353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2151A"/>
                </a:solidFill>
                <a:latin typeface="Segoe UI"/>
                <a:cs typeface="Segoe UI"/>
              </a:rPr>
              <a:t>PM MITRA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4082" y="2798063"/>
            <a:ext cx="2643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B6834"/>
                </a:solidFill>
                <a:latin typeface="Segoe UI"/>
                <a:cs typeface="Segoe UI"/>
              </a:rPr>
              <a:t>≈ $5,0 млрд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4082" y="3419856"/>
            <a:ext cx="26435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Семь мегапарков полного цикла — от волокна до готового изделия. Бюджет до 2027–28 года.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4082" y="4681728"/>
            <a:ext cx="2643530" cy="18288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4082" y="4846320"/>
            <a:ext cx="26435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2151A"/>
                </a:solidFill>
                <a:latin typeface="Segoe UI"/>
                <a:cs typeface="Segoe UI"/>
              </a:rPr>
              <a:t>Цель: привлечь ≈ $7,9 млрд инвестиций и около 2 млн рабочих мест.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9404" y="1755648"/>
            <a:ext cx="3375050" cy="4041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9404" y="1755648"/>
            <a:ext cx="337505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5164" y="2139696"/>
            <a:ext cx="264353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2151A"/>
                </a:solidFill>
                <a:latin typeface="Segoe UI"/>
                <a:cs typeface="Segoe UI"/>
              </a:rPr>
              <a:t>Миссия по волокнам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5164" y="2798063"/>
            <a:ext cx="264353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B6834"/>
                </a:solidFill>
                <a:latin typeface="Segoe UI"/>
                <a:cs typeface="Segoe UI"/>
              </a:rPr>
              <a:t>до 2030–31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5164" y="3419856"/>
            <a:ext cx="26435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Перевернуть соотношение волокон на 60 : 40 в пользу химических.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05164" y="4681728"/>
            <a:ext cx="2643530" cy="18288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5164" y="4846320"/>
            <a:ext cx="264353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2151A"/>
                </a:solidFill>
                <a:latin typeface="Segoe UI"/>
                <a:cs typeface="Segoe UI"/>
              </a:rPr>
              <a:t>Производство волокна +50%, до 22,8 млн т. Импорт волокна −22% к 2031 году.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PIB и Министерство текстиля Индии, 2026. Пересчёт по курсу ≈ 88 рупий за доллар.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ВНЕШНЯЯ ТОРГОВЛЯ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Торговая дипломатия — главный рычаг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10637215" cy="117043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0292" cy="117043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97510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51A"/>
                </a:solidFill>
                <a:latin typeface="Segoe UI"/>
                <a:cs typeface="Segoe UI"/>
              </a:rPr>
              <a:t>США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77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AF7A"/>
                </a:solidFill>
                <a:latin typeface="Segoe UI"/>
                <a:cs typeface="Segoe UI"/>
              </a:rPr>
              <a:t>50% → 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93391"/>
            <a:ext cx="4647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3 февраля 2026 года — промежуточное торговое соглашение. Пошлина на текстиль и одежду снижена с 50 до 18 процентов.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65615" y="2203704"/>
            <a:ext cx="1965960" cy="292608"/>
          </a:xfrm>
          <a:prstGeom prst="roundRect">
            <a:avLst>
              <a:gd name="adj" fmla="val 4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5615" y="224485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  <a:cs typeface="Segoe UI"/>
              </a:rPr>
              <a:t>Действует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10637215" cy="117043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108960"/>
            <a:ext cx="50292" cy="117043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328415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51A"/>
                </a:solidFill>
                <a:latin typeface="Segoe UI"/>
                <a:cs typeface="Segoe UI"/>
              </a:rPr>
              <a:t>Великобритания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7307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AF7A"/>
                </a:solidFill>
                <a:latin typeface="Segoe UI"/>
                <a:cs typeface="Segoe UI"/>
              </a:rPr>
              <a:t>0% по 1143 линиям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46704"/>
            <a:ext cx="4647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Соглашение CETA вступило в силу 15 июля 2026 года. Пошлины были до 12%. Ожидаемый прирост экспорта — $1,6 млрд в год.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5615" y="3557015"/>
            <a:ext cx="1965960" cy="292608"/>
          </a:xfrm>
          <a:prstGeom prst="roundRect">
            <a:avLst>
              <a:gd name="adj" fmla="val 4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5615" y="3598163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  <a:cs typeface="Segoe UI"/>
              </a:rPr>
              <a:t>Действует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62272"/>
            <a:ext cx="10637215" cy="117043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462272"/>
            <a:ext cx="50292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68172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51A"/>
                </a:solidFill>
                <a:latin typeface="Segoe UI"/>
                <a:cs typeface="Segoe UI"/>
              </a:rPr>
              <a:t>Европейский союз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50840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B6834"/>
                </a:solidFill>
                <a:latin typeface="Segoe UI"/>
                <a:cs typeface="Segoe UI"/>
              </a:rPr>
              <a:t>обнуление &gt;90% линий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00016"/>
            <a:ext cx="4647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Переговоры завершены 27 января 2026 года — после 18 лет. Сейчас пошлины 8–12%. В силу — после ратификации, ориентир — середина 2027.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5615" y="4910328"/>
            <a:ext cx="1965960" cy="292608"/>
          </a:xfrm>
          <a:prstGeom prst="roundRect">
            <a:avLst>
              <a:gd name="adj" fmla="val 4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5615" y="4951476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  <a:cs typeface="Segoe UI"/>
              </a:rPr>
              <a:t>Ожидает ратификации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2151A"/>
                </a:solidFill>
                <a:latin typeface="Segoe UI"/>
                <a:cs typeface="Segoe UI"/>
              </a:rPr>
              <a:t>Именно соглашение с ЕС меняет расстановку сил в Европе — </a:t>
            </a:r>
            <a:r>
              <a:rPr sz="1400" b="0">
                <a:solidFill>
                  <a:srgbClr val="52514E"/>
                </a:solidFill>
                <a:latin typeface="Segoe UI"/>
                <a:cs typeface="Segoe UI"/>
              </a:rPr>
              <a:t>и именно там Индия напрямую пересекается с Турцией.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ИНДИЯ ·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Чего Индии не хватает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515858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2996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3786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51A"/>
                </a:solidFill>
                <a:latin typeface="Segoe UI"/>
                <a:cs typeface="Segoe UI"/>
              </a:rPr>
              <a:t>Фрагментация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37869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Основная масса производств — малые и средние предприятия со старым оборудованием. Сквозной цепочки «волокно → готовое изделие» почти нет.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755648"/>
            <a:ext cx="515858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1627" y="202996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5987" y="2011680"/>
            <a:ext cx="3786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51A"/>
                </a:solidFill>
                <a:latin typeface="Segoe UI"/>
                <a:cs typeface="Segoe UI"/>
              </a:rPr>
              <a:t>Производительность труда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5987" y="2468880"/>
            <a:ext cx="37869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Высокая текучесть кадров, тонкий слой линейных руководителей, слабая отраслевая подготовка рабочих.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13048"/>
            <a:ext cx="515858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0873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69080"/>
            <a:ext cx="3786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51A"/>
                </a:solidFill>
                <a:latin typeface="Segoe UI"/>
                <a:cs typeface="Segoe UI"/>
              </a:rPr>
              <a:t>Сырьевой перекос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526280"/>
            <a:ext cx="37869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Ставка на хлопок при мировом спросе на химволокно. Доля Индии в мировом производстве химволокна — 9,2%.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3813048"/>
            <a:ext cx="5158587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1627" y="40873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5987" y="4069080"/>
            <a:ext cx="3786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51A"/>
                </a:solidFill>
                <a:latin typeface="Segoe UI"/>
                <a:cs typeface="Segoe UI"/>
              </a:rPr>
              <a:t>Сроки поставки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5987" y="4526280"/>
            <a:ext cx="37869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Морем до Европы 3–4 недели. Для заказчика, которому нужна коллекция за три недели, Индия географически далеко.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ТУРЦИЯ · ПРОФИЛЬ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Турция: вторая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0292" cy="2560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$26,2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млрд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Экспорт текстиля и одежды
за 2025 год.
Снижение на 4,4%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6835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6835" y="1755648"/>
            <a:ext cx="50292" cy="2560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7731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$16,8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млрд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7731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Одежда, −6,3%.
Текстиль — $9,4 млрд, −0,8%.
Сальдо: +$17 млрд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755648"/>
            <a:ext cx="50292" cy="2560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~2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Занятых в отрасли.
Около 44 000 компаний,
95% — частные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027" y="1755648"/>
            <a:ext cx="2508427" cy="2560320"/>
          </a:xfrm>
          <a:prstGeom prst="roundRect">
            <a:avLst>
              <a:gd name="adj" fmla="val 7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027" y="1755648"/>
            <a:ext cx="50292" cy="2560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6923" y="2066543"/>
            <a:ext cx="20695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12151A"/>
                </a:solidFill>
                <a:latin typeface="Segoe UI"/>
                <a:cs typeface="Segoe UI"/>
              </a:rPr>
              <a:t>~70</a:t>
            </a:r>
            <a:r>
              <a:rPr sz="1500" b="1">
                <a:solidFill>
                  <a:srgbClr val="52514E"/>
                </a:solidFill>
                <a:latin typeface="Segoe UI"/>
                <a:cs typeface="Segoe UI"/>
              </a:rPr>
              <a:t>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6923" y="2761488"/>
            <a:ext cx="1978075" cy="1426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  <a:cs typeface="Segoe UI"/>
              </a:rPr>
              <a:t>Экспорта идёт в ЕС.
Турция — 3-й поставщик
одежды в Евросоюз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10637215" cy="1188720"/>
          </a:xfrm>
          <a:prstGeom prst="roundRect">
            <a:avLst>
              <a:gd name="adj" fmla="val 5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901184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500" b="1">
                <a:solidFill>
                  <a:srgbClr val="12151A"/>
                </a:solidFill>
                <a:latin typeface="Segoe UI"/>
                <a:cs typeface="Segoe UI"/>
              </a:rPr>
              <a:t>Сильные стороны: </a:t>
            </a:r>
            <a:r>
              <a:rPr sz="1400" b="0">
                <a:solidFill>
                  <a:srgbClr val="52514E"/>
                </a:solidFill>
                <a:latin typeface="Segoe UI"/>
                <a:cs typeface="Segoe UI"/>
              </a:rPr>
              <a:t>полная вертикальная интеграция — пряжа, ткань, крашение, пошив и отделка внутри одной страны; мировое лидерство в дениме и трикотаже; домашний текстиль; 3–5 дней доставки до Европы против 3–4 недель у Индии.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Türkiye Today, январь 2026; Fibre2Fashion; Textilegence.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ТУРЦИЯ · ПРИЧИНЫ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Издержки съели преимущество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39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Минимальная зарплата в отрасли, долларов в месяц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1972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Турция,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048255"/>
            <a:ext cx="6293815" cy="420624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2048255"/>
            <a:ext cx="6293815" cy="420624"/>
          </a:xfrm>
          <a:prstGeom prst="roundRect">
            <a:avLst>
              <a:gd name="adj" fmla="val 13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0559" y="2061972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$655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82596"/>
            <a:ext cx="62938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34948"/>
                </a:solidFill>
                <a:latin typeface="Segoe UI"/>
                <a:cs typeface="Segoe UI"/>
              </a:rPr>
              <a:t>28 075 лир нетто   ·   +27% за год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1508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Индия, Бангладеш,
Египет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907791"/>
            <a:ext cx="6293815" cy="420624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2907791"/>
            <a:ext cx="1441331" cy="420624"/>
          </a:xfrm>
          <a:prstGeom prst="roundRect">
            <a:avLst>
              <a:gd name="adj" fmla="val 13000"/>
            </a:avLst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0559" y="2921508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$100–150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42132"/>
            <a:ext cx="62938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устойчиво в этом диапазоне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79"/>
            <a:ext cx="91440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3977639"/>
            <a:ext cx="101800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2151A"/>
                </a:solidFill>
                <a:latin typeface="Segoe UI"/>
                <a:cs typeface="Segoe UI"/>
              </a:rPr>
              <a:t>Инфляция около 30% в год, волатильность лиры, дорогая энергия.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18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727448"/>
            <a:ext cx="101800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2151A"/>
                </a:solidFill>
                <a:latin typeface="Segoe UI"/>
                <a:cs typeface="Segoe UI"/>
              </a:rPr>
              <a:t>Хлопок: сбор 2025/26 — около 665 тыс. т, импорт — 825–900 тыс. т. Турция ввозит хлопка больше, чем выращивает.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5686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5477256"/>
            <a:ext cx="101800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2151A"/>
                </a:solidFill>
                <a:latin typeface="Segoe UI"/>
                <a:cs typeface="Segoe UI"/>
              </a:rPr>
              <a:t>Фабрики закрываются, производство переносят в Египет и Марокко: там ниже издержки и есть свои соглашения о свободной торговле.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Fibre2Fashion, декабрь 2025; USDA FAS, Cotton and Products Update — Türkiye, 2025/26; Textilegence.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Индия и Турция: лобовое сравнение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6537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ПОКАЗАТЕЛЬ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59" y="18150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65192" y="1773936"/>
            <a:ext cx="3078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  <a:cs typeface="Segoe UI"/>
              </a:rPr>
              <a:t>ИНДИЯ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5192" y="2020824"/>
            <a:ext cx="3078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2025–26 фин. год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807" y="18150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7839" y="1773936"/>
            <a:ext cx="3078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Segoe UI"/>
                <a:cs typeface="Segoe UI"/>
              </a:rPr>
              <a:t>ТУРЦИЯ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7839" y="2020824"/>
            <a:ext cx="30783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2025 календарный год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40864"/>
            <a:ext cx="10637215" cy="2286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10637215" cy="461772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432304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Экспорт текстиля и одежды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5192" y="2432304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$35,8 млрд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7839" y="2432304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$26,2 млрд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94076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Динамика за год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894076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−2,2% — тарифы США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7839" y="2894076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−4,4% — издержки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55848"/>
            <a:ext cx="10637215" cy="461772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355848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Занятость в отрасли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355848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45 млн человек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7839" y="3355848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около 2 млн человек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17620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Хлопок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3817620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крупнейший производитель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7839" y="3817620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нетто-импортёр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279392"/>
            <a:ext cx="10637215" cy="461772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79392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Минимальная зарплата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4279392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$100–150 в месяц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7839" y="4279392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$655 в месяц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41164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Главный рынок сбыта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5192" y="4741164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США — 33% экспорта одежды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7839" y="4741164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ЕС — около 70% экспорта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202936"/>
            <a:ext cx="10637215" cy="461772"/>
          </a:xfrm>
          <a:prstGeom prst="rect">
            <a:avLst/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202936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Доставка в Европу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5202936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3–4 недели морем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7839" y="5202936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3–5 дней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664707"/>
            <a:ext cx="3611879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  <a:cs typeface="Segoe UI"/>
              </a:rPr>
              <a:t>Цепочка создания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5192" y="5664707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фрагментирована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7839" y="5664707"/>
            <a:ext cx="2986887" cy="4617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2151A"/>
                </a:solidFill>
                <a:latin typeface="Segoe UI"/>
                <a:cs typeface="Segoe UI"/>
              </a:rPr>
              <a:t>вертикально интегрирована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6126479"/>
            <a:ext cx="10637215" cy="18288"/>
          </a:xfrm>
          <a:prstGeom prst="rect">
            <a:avLst/>
          </a:prstGeom>
          <a:solidFill>
            <a:srgbClr val="E2E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Обозначение цветом: оранжевый — Индия, синий — Турция; тот же код используется на следующем слайде.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СРАВНЕНИЕ · РЫНОК 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Битва за рынок Евросоюза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39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Импорт одежды в ЕС, январь–ноябрь 2025: $96,4 млрд, рост на 3,9%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35124"/>
            <a:ext cx="1920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Китай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121408"/>
            <a:ext cx="675101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2121408"/>
            <a:ext cx="6751015" cy="365760"/>
          </a:xfrm>
          <a:prstGeom prst="roundRect">
            <a:avLst>
              <a:gd name="adj" fmla="val 13000"/>
            </a:avLst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7679" y="2135124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$28,4 млрд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00884"/>
            <a:ext cx="67510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+6,6%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0068"/>
            <a:ext cx="1920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Бангладеш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816352"/>
            <a:ext cx="675101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816352"/>
            <a:ext cx="4991947" cy="365760"/>
          </a:xfrm>
          <a:prstGeom prst="roundRect">
            <a:avLst>
              <a:gd name="adj" fmla="val 13000"/>
            </a:avLst>
          </a:prstGeom>
          <a:solidFill>
            <a:srgbClr val="C9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7679" y="2830068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$21,0 млрд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95828"/>
            <a:ext cx="67510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8880"/>
                </a:solidFill>
                <a:latin typeface="Segoe UI"/>
                <a:cs typeface="Segoe UI"/>
              </a:rPr>
              <a:t>рост с $19,5 млрд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25012"/>
            <a:ext cx="1920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Турция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511296"/>
            <a:ext cx="675101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0360" y="3511296"/>
            <a:ext cx="2115635" cy="365760"/>
          </a:xfrm>
          <a:prstGeom prst="roundRect">
            <a:avLst>
              <a:gd name="adj" fmla="val 13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7679" y="352501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$8,9 млрд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90772"/>
            <a:ext cx="67510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E34948"/>
                </a:solidFill>
                <a:latin typeface="Segoe UI"/>
                <a:cs typeface="Segoe UI"/>
              </a:rPr>
              <a:t>−11,3% — двузначное падение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19955"/>
            <a:ext cx="19202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2151A"/>
                </a:solidFill>
                <a:latin typeface="Segoe UI"/>
                <a:cs typeface="Segoe UI"/>
              </a:rPr>
              <a:t>Индия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4206240"/>
            <a:ext cx="6751015" cy="36576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80360" y="4206240"/>
            <a:ext cx="974618" cy="365760"/>
          </a:xfrm>
          <a:prstGeom prst="roundRect">
            <a:avLst>
              <a:gd name="adj" fmla="val 13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7679" y="4219955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151A"/>
                </a:solidFill>
                <a:latin typeface="Segoe UI"/>
                <a:cs typeface="Segoe UI"/>
              </a:rPr>
              <a:t>≈ $4,1 млрд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85716"/>
            <a:ext cx="67510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BAF7A"/>
                </a:solidFill>
                <a:latin typeface="Segoe UI"/>
                <a:cs typeface="Segoe UI"/>
              </a:rPr>
              <a:t>+10,6% в деньгах и +16,0% в объёме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6320"/>
            <a:ext cx="10637215" cy="1051560"/>
          </a:xfrm>
          <a:prstGeom prst="roundRect">
            <a:avLst>
              <a:gd name="adj" fmla="val 5000"/>
            </a:avLst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047488"/>
            <a:ext cx="98142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Турция пока вдвое больше Индии — но падает, а Индия растёт. </a:t>
            </a:r>
            <a:r>
              <a:rPr sz="1400" b="0">
                <a:solidFill>
                  <a:srgbClr val="B5B3AC"/>
                </a:solidFill>
                <a:latin typeface="Segoe UI"/>
                <a:cs typeface="Segoe UI"/>
              </a:rPr>
              <a:t>Объём у Индии растёт быстрее выручки: значит, рынок она берёт ценой, а не premium-продуктом.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Евростат; EmergingTextiles, обзор импорта одежды в ЕС по странам происхождения. Данные по Индии пересчитаны из евро (€3,76 млрд).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ВЫВОД ИЗ СРАВНЕНИЯ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Две модели, а не два конкурента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5135727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135727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12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A78D6"/>
                </a:solidFill>
                <a:latin typeface="Segoe UI"/>
                <a:cs typeface="Segoe UI"/>
              </a:rPr>
              <a:t>ТУРЦИЯ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4312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2151A"/>
                </a:solidFill>
                <a:latin typeface="Segoe UI"/>
                <a:cs typeface="Segoe UI"/>
              </a:rPr>
              <a:t>Продаёт скорость и близость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255263"/>
            <a:ext cx="82296" cy="822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3172968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3–5 дней до Европы, полный производственный цикл внутри страны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8587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0472" y="3776472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Деним, трикотаж, домашний текстиль, технический текстиль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4622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4379976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Теряет рынок ровно потому, что цена этой скорости выросла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1755648"/>
            <a:ext cx="5135727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755648"/>
            <a:ext cx="5135727" cy="502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103120"/>
            <a:ext cx="4312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B6834"/>
                </a:solidFill>
                <a:latin typeface="Segoe UI"/>
                <a:cs typeface="Segoe UI"/>
              </a:rPr>
              <a:t>ИНДИЯ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2468880"/>
            <a:ext cx="4312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2151A"/>
                </a:solidFill>
                <a:latin typeface="Segoe UI"/>
                <a:cs typeface="Segoe UI"/>
              </a:rPr>
              <a:t>Продаёт масштаб и сырьё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0207" y="325526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1959" y="3172968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Собственный хлопок, 45 млн рабочих рук, низкая себестоимость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0207" y="38587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1959" y="3776472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Растущий внутренний рынок и новые соглашения о свободной торговле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0207" y="44622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1959" y="4379976"/>
            <a:ext cx="39470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  <a:cs typeface="Segoe UI"/>
              </a:rPr>
              <a:t>Слабое место — сроки поставки и сложность изделия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21808"/>
            <a:ext cx="10637215" cy="777240"/>
          </a:xfrm>
          <a:prstGeom prst="roundRect">
            <a:avLst>
              <a:gd name="adj" fmla="val 5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504688"/>
            <a:ext cx="9814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2151A"/>
                </a:solidFill>
                <a:latin typeface="Segoe UI"/>
                <a:cs typeface="Segoe UI"/>
              </a:rPr>
              <a:t>Прямая конкуренция — в узком сегменте: </a:t>
            </a:r>
            <a:r>
              <a:rPr sz="1450" b="0">
                <a:solidFill>
                  <a:srgbClr val="52514E"/>
                </a:solidFill>
                <a:latin typeface="Segoe UI"/>
                <a:cs typeface="Segoe UI"/>
              </a:rPr>
              <a:t>базовый хлопковый трикотаж и домашний текстиль средней ценовой категории.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B6834"/>
                </a:solidFill>
                <a:latin typeface="Segoe UI"/>
                <a:cs typeface="Segoe U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FFFFFF"/>
                </a:solidFill>
                <a:latin typeface="Segoe UI"/>
                <a:cs typeface="Segoe UI"/>
              </a:rPr>
              <a:t>Четыре вывода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737360"/>
            <a:ext cx="99971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Индия — прежде всего внутренний рынок.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03120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B5B3AC"/>
                </a:solidFill>
                <a:latin typeface="Segoe UI"/>
                <a:cs typeface="Segoe UI"/>
              </a:rPr>
              <a:t>$225 млрд внутреннего потребления против $36 млрд экспорта. Экспортная статистика описывает лишь шестую часть отрасли.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834640"/>
            <a:ext cx="99971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Итог года определили тарифы, а не заводы.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200400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B5B3AC"/>
                </a:solidFill>
                <a:latin typeface="Segoe UI"/>
                <a:cs typeface="Segoe UI"/>
              </a:rPr>
              <a:t>50-процентная пошлина США дала −2,2% по году. Её снижение до 18% в феврале 2026 — главный фактор роста в 2026–27.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020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931920"/>
            <a:ext cx="99971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Отставание Индия закрывает дипломатией.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297680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B5B3AC"/>
                </a:solidFill>
                <a:latin typeface="Segoe UI"/>
                <a:cs typeface="Segoe UI"/>
              </a:rPr>
              <a:t>Соглашение с Великобританией уже работает, соглашение с ЕС ждёт ратификации. У Турции этого рычага нет: она в таможенном союзе с ЕС с 1996 года и выжала из него всё.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4748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5029200"/>
            <a:ext cx="99971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Главный риск — собственное волокно.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5394960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B5B3AC"/>
                </a:solidFill>
                <a:latin typeface="Segoe UI"/>
                <a:cs typeface="Segoe UI"/>
              </a:rPr>
              <a:t>Пока соотношение 60 : 40 в пользу хлопка при мировом 25 : 75, цель в $350 млрд недостижима. Результат Миссии по волокнам будет виден к 2030 году.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372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8880"/>
                </a:solidFill>
                <a:latin typeface="Segoe UI"/>
                <a:cs typeface="Segoe UI"/>
              </a:rPr>
              <a:t>ПРОВЕРЯЕМОСТЬ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 i="0">
                <a:solidFill>
                  <a:srgbClr val="12151A"/>
                </a:solidFill>
                <a:latin typeface="Segoe UI"/>
                <a:cs typeface="Segoe UI"/>
              </a:rPr>
              <a:t>Источники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90472"/>
            <a:ext cx="132588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75564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Press Information Bureau, Министерство текстиля Индии. India's Textile Exports Register Growth of 2.1% in FY 2025–26. Апрель 2026. pib.gov.in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39572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Global Trade Research Initiative (GTRI) / Business Standard. Textiles and garment exports fall 2.2% to $35.8 bn in FY26. 25.04.2026.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03580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IBEF. Indian Textiles and Apparel Industry Analysis. Февраль 2026. ibef.org/industry/textiles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75887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675887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Министерство текстиля Индии. National Fibre Mission 2030–31, концепция. texmin.gov.in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31596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PIB. PM MITRA Parks; PLI Scheme for Textiles — статус на 31.03.2026.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95604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USDA Foreign Agricultural Service. Cotton and Products Update: India (IN2025-0047) и Türkiye (TU2025-0063). 2025–2026.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17556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8495" y="175564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Türkiye Today. Textile exports still vital to Türkiye's trade despite 4.4% drop to $26.18B in 2025. Январь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23957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495" y="239572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Fibre2Fashion. Türkiye's apparel exports drop 6% to $16.3 bn in 2025; Türkiye raises monthly minimum wage by 27% for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0358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8495" y="303580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Евростат / EmergingTextiles. EU clothing imports by origin, январь–ноябрь 2025.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675887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8495" y="3675887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FashionUnited, Just-Style. India-UK CETA comes into force. 15.07.2026.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43159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11.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8495" y="431596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Министерство торговли и промышленности Индии. India–EU Free Trade Agreement Concluded. 27.01.2026. commerce.gov.in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49560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B6834"/>
                </a:solidFill>
                <a:latin typeface="Segoe UI"/>
                <a:cs typeface="Segoe UI"/>
              </a:rPr>
              <a:t>12.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8495" y="4956048"/>
            <a:ext cx="46328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2514E"/>
                </a:solidFill>
                <a:latin typeface="Segoe UI"/>
                <a:cs typeface="Segoe UI"/>
              </a:rPr>
              <a:t>Textilegence; Hertzman Global Intelligence — обзоры турецкой текстильной отрасли, 2025–2026.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27648"/>
            <a:ext cx="100885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Все цифры в докладе приведены по состоянию на сентябрь 2026 года. Финансовый год Индии: с 1 апреля по 31 марта.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65815" y="632764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A8880"/>
                </a:solidFill>
                <a:latin typeface="Segoe UI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